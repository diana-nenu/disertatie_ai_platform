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Salut. Numele meu este Diana Nenu si va voi prezenta o componenta speciala a lucrarii mele de disertatie. Lucrarea propune o platforma integrata de AI bazata pe trei familii de tehnici - ML predictiv, optimizare neliniara si LLM - aplicate pe trei seturi reale de date energetice. Astazi imi voi concentra prezentarea pe o componenta deosebita: interpretabilitatea modelelor prin metoda SHAP, care are radacini in teoria jocurilor cooperative si in Premiul Nobel pentru economie din 2012. Voi arata cum o idee matematica din 1953 a devenit, peste 65 de ani, fundamentul interpretabilitatii AI moderne, si cum am aplicat aceasta tehnica pe propriul meu model XGBoost pentru predictia pretului energiei in Spania.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Lucrarea mea propune o platforma cu trei piloni AI care raspund la trei intrebari diferite. Pilonul predictiv - 'ce va fi?' - foloseste modele ML moderne ca XGBoost, Random Forest si LSTM pe time series energetice. Pilonul prescriptiv - 'ce ar trebui facut?' - foloseste optimizare neliniara cu SciPy pentru recomandari. Pilonul explicativ - 'de ce si cum?' - foloseste un Large Language Model pentru a genera insighturi in limbaj natural. Datele provin din trei tari: USA pentru consum, Spania pentru pret, India pentru productie solara. Componenta SHAP, despre care voi vorbi astazi, sta la baza intregului pilon explicativ - ofera 'materia prima' interpretativa pe care LLM-ul o transforma in insighturi in limbaj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 cat un model este mai precis, cu atat tinde sa fie mai complex - si deci mai opac. XGBoost-ul meu pe pretul Spania a obtinut R² de 0.968, cu o eroare absoluta de doar 1.54 EUR/MWh, dar ca utilizator sau ca cercetator nu pot privi modelul si sa inteleg de ce a luat o anumita decizie. Acesta este 'paradoxul interpretabilitatii': performanta vs transparenta. Si exista patru motive practice de ce avem nevoie de interpretabilitate: validare stiintifica - sa stim daca modelul invata cauzalitati sau zgomot; incredere operationala - operatorii energetici accepta recomandari pe care le inteleg, le refuza pe celelalte; conformitate legala - UE AI Act, care intra in vigoare in 2026, cere explicabilitate pentru sistemele AI cu impact ridicat; si debugging - daca stii ce features conteaza, stii unde sa investesti efort de feature engineering. Aici intervine SHAP.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1953, Lloyd Shapley a publicat un articol scurt cu titlul 'A Value for n-Person Games' in care propunea o solutie matematica pentru o intrebare foarte concreta: daca mai multi jucatori formeaza o coalitie si genereaza impreuna un castig, cum sa impartim cinstit acel castig astfel incat sa nu se simta nimeni nedreptatit? Solutia lui, numita ulterior 'valoare Shapley', a stat aproape uitata in randul cercetatorilor pana in 2012 cand Lloyd Shapley a primit Premiul Nobel pentru Economie - impartit cu Alvin Roth - pentru aplicatiile teoriei sale in mecanism design si in piete de potriviri stabile, ca repartizarea elevilor in scoli sau a rinichilor in transplant. Apoi, in 2017, doi cercetatori de la Universitatea din Washington - Scott Lundberg si Su-In Lee - au observat ca features-urile dintr-un model de Machine Learning se comporta IDENTIC cu jucatorii unei coalitii. Predictia este 'castigul' la care fiecare feature contribuie. Si daca ai nevoie sa imparti corect contributiile, formula lui Shapley este exact ce iti trebuie. Articolul lor 'A Unified Approach to Interpreting Model Predictions' este astazi unul dintre cele mai citate articole din ML interpretabil.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luam exemplul concret cu doar 3 features din modelul meu Spania. A este 'price_lag_1' - pretul de acum o ora. B este 'rolling_mean_3' - media ultimelor 3 ore. C este 'price_day_ahead' - pretul anuntat pe piata day-ahead. Fiecare poate forma coalitii cu ceilalti, si fiecare coalitie produce o anumita 'valoare' - precizia modelului antrenat doar cu acele features. Vedem ca A singur are valoare 9.1 - aproape la fel ca toate trei impreuna. B singur are doar 1.4, C singur 1.0. Dar daca combinam B cu C, primim 2.3 - mai mult decat suma componentelor, semn de sinergie. Intrebarea Shapley este: cum impartim cinstit castigul de 10 al coalitiei complete, tinand cont ca: A este puternic singur, B si C sinergizeaza, iar uneori contributia depinde de ordinea in care intra in coalitie? Aceasta intrebare nu are un raspuns 'evident'. Daca ai imparti 10 / 3 = 3.33 fiecare, ai ignora ca A face aproape tot singur. Daca ai folosi doar 'contributia individuala' (singur), nu sumeaza la 10. Shapley a propus o solutie matematica unica pentru aceasta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Shapley a formulat 4 axiome pe care orice impartire 'cinstita' ar trebui sa le satisfaca. Eficienta - suma contributiilor trebuie sa fie exact castigul total. Nimic 'inventat', nimic 'pierdut'. Simetrie - daca doi jucatori contribuie identic in orice coalitie, primesc contributii egale. Tratament corect. Dummy player - un jucator care nu adauga nimic in nicio coalitie primeste contributie zero. Aditivitate - daca jucatorii participa in mai multe jocuri simultane, contributiile se aduna liniar. Si aici e magia matematica: Shapley a demonstrat ca exista o UNICA formula care satisface toate 4 axiomele simultan. Nu este 'una dintre solutiile posibile' - este SINGURA solutie. Aceasta unicitate matematica este ceea ce a transformat valoarea Shapley dintr-o curiozitate teoretica intr-un instrument de baza in teoria jocurilor si economie.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Iata formula valorii Shapley pentru jucatorul i. Phi de i in jocul v este suma, peste toate coalitiile S care NU il contin pe i, a contributiei marginale a lui i la acea coalitie - adica v de S cu i adaugat minus v de S - ponderata cu un coeficient combinatorial. Coeficientul este probabilitatea ca i sa intre exact dupa cei din S si inaintea celorlalti, intr-o ordine aleatoare. Citim formula in 3 componente. Componenta 1 - paranteza din dreapta - este contributia marginala: cat 'aduce in plus' jucatorul i cand intra in coalitia S. Componenta 2 - fractia cu factoriale - este o pondere combinatoriala. Inseamna 'cat de probabil este ca jucatorul i sa intre exact dupa cei din S' daca toti jucatorii intra intr-o ordine aleatoare. Componenta 3 - suma - inseamna ca facem media peste toate coalitiile posibile, nu doar una. Probleme practica: numarul de subseturi creste exponential. Pentru 30 de features avem 2 la 30 - aproape un miliard de coalitii. Pentru 70 de features cum am eu - imposibil. De aici provine intreaga literatura algoritmica pe care SHAP-ul o foloseste pentru aproximare eficienta - o vom vedea in slide-ul urmator.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Aici se vede magia: nu se schimba absolut nimic in matematica - doar interpretam simbolurile diferit. In teoria jocurilor, jucatorul i este un participant cooperativ. In ML, devine un feature - o variabila de intrare cum ar fi price_lag_1. Coalitia S in teoria jocurilor inseamna un subset de jucatori care lucreaza impreuna. In ML, devine 'un model care foloseste doar features-urile din S si ignora restul'. Functia caracteristica v de S in teoria jocurilor este castigul coalitiei. In ML, devine predictia conditionata: E[f(x) | S] - cat de bine prezice modelul daca vede doar features-urile din S. Si valoarea Shapley a unui jucator devine valoarea SHAP a unui feature. Asta este cea mai eleganta translatie din literatura de ML interpretabil. Si aici vine o subtilitate pentru cei mai tehnici: in ML, calculul exact al lui E[f(x) | S] necesita re-antrenarea modelului fara features-urile din complementul S, ceea ce este imposibil computational. SHAP rezolva asta prin aproximari - cum este TreeSHAP, care exploateaza structura arborelui de decizie din XGBoost pentru a calcula valorile in timp polinomial.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implementare am folosit TreeSHAP - varianta specializata pentru modele bazate pe arbori, descrisa de Lundberg et al. in articolul NeurIPS din 2017. TreeSHAP exploateaza structura ierarhica a arborilor de decizie ca sa calculeze valori SHAP exacte - nu aproximative - in timp polinomial O(T·L·D^2), unde T este numarul de arbori, L numarul mediu de frunze, D adancimea maxima. Asta inseamna ca pentru modelul meu cu 200 de arbori si 78 de features, calculul dureaza secunde, nu ore. Am folosit pachetul shap 0.49 - implementarea de referinta in Python. Doua linii de cod: instantiezi un TreeExplainer si apoi obtii valorile SHAP pentru orice subset al datelor. Insa am avut o problema reala: XGBoost-ul a urcat la versiunea 3.x si pachetul shap inca nu e adaptat - apare un ValueError la conversia tipurilor. Solutia mea a fost sa folosesc direct API-ul native al XGBoost: booster.predict(pred_contribs=True) returneaza exact valorile TreeSHAP, fara dependinta de shap.TreeExplainer. Am validat ca rezultatele sunt identice cu cele din shap pentru modele compatibile - deci e o solutie corecta, nu o aproximare. Aceasta este genul de problema practica pe care nu o vezi in tutoriale dar pe care o intalnesti permanent in proiecte reale.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Aceasta este analiza SHAP globala a modelului meu XGBoost pe pretul energetic Spania. Graficul arata top 15 features ordonate dupa impactul mediu absolut asupra predictiei, exprimat in EUR/MWh. Albastrul inseamna impact pozitiv mediu - creste pretul; coralul inseamna impact negativ mediu - scade pretul. Cinci insighturi importante. Unu, price_lag_1 domina absolut - 9.09 EUR/MWh impact mediu. De 6 ori mai mult decat al doilea feature. Asta confirma natura autoregresiva extrem de puternica a pretului - pretul de acum o ora este de departe cel mai bun predictor pentru pretul peste o ora. Doi, urmatoarele features cele mai importante - roll_mean_3 si price_day_ahead - sunt tot indicatori de scurta perioada. Modelul invata o 'memorie' de cateva ore. Trei, foarte interesant - apare lag_168, adica pretul de acum o saptamana fix. Asta inseamna ca exista un pattern saptamanal pe piata Spania - probabil legat de ciclurile de consum business vs weekend. Patru, hour_cos si hour_sin - encoding-ul ciclic al orei despre care vorbeste si capitolul 4 al lucrarii mele - apar cu contributie negativa medie. Asta inseamna ca anumite ore din zi - noaptea - reduc pretul predicat. Si cinci, surpriza interesanta: wind_speed apare in top 15. Vantul puternic in Spania scade pretul - cand sunt parcurile eoliene productive, sunt mai multe MWh intrate in retea si pretul scade. Asta este o cauzalitate REALA pe care modelul a invatat-o singur din date - exact ce ne dorim de la un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Asta este partea geniala a SHAP - nu doar importanta globala a features-urilor, ci si decompunere LOCALA, pentru o singura predictie. Graficul waterfall arata cum modelul ajunge de la baseline-ul de 57.8 EUR/MWh la predictia finala de 64.9 EUR/MWh pentru o singura ora specifica. Pornim din stanga cu valoarea asteptata: E[f(X)] = 57.8 EUR. Este media predictiilor modelului pe intreg setul - cu alte cuvinte, 'ce ar prezice modelul daca nu ar sti nimic specific despre aceasta ora'. Apoi vedem cum fiecare feature impinge predictia in sus sau in jos. Price_lag_1 - pretul precedent a fost 62.4 EUR, adica peste medie - aduce +5.2 EUR. Rolling_mean_3 - media ultimelor 3 ore - mai adauga 2.1. Price_day_ahead, pretul pe piata aterizat la 65, mai aduce 1.4. Apoi unele features scad pretul. Hour_cos = -0.97 inseamna ca suntem la ora 23 - tarziu noaptea cand pretul scade in general - scoate 1.1 EUR. La final ajungem la 64.9 EUR, cu o explicatie COMPLET TRANSPARENTA: orice utilizator poate vedea cu exactitate de ce modelul a estimat acest pret pentru aceasta ora. Aceasta este puterea SHAP - putem deschide 'cutia neagra' a unei retele neuronale sau a unui ensemble de arbori si sa vedem exact cum se formeaza fiecare predictie. Si pentru un operator energetic care primeste de la modelul meu o estimare ca 'pretul va fi 64.9 EUR/MWh la ora 23', acum putem oferi si justificarea: pentru ca pretul anterior a fost ridicat, pentru ca media ultimelor 3 ore e ridicata, dar partial compensat de faptul ca este noaptea cand pretul scade.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fim onesti - SHAP nu este perfect si vreau sa prezint si limitarile lui, nu doar avantajele. Pe partea de avantaje: singurul algoritm cu garantii teoretice - satisface UNIC cele 4 axiome. Consistenta: daca un feature devine obiectiv mai important in model, SHAP-ul lui creste - garantat. Asta nu se intampla cu feature_importances clasice. Functioneaza atat global - ce features-uri conteaza in medie - cat si local - ce features conteaza pentru o singura predictie. Este model-agnostic - acelasi cadru pentru XGBoost, retele neuronale, modele liniare. Si suma valorilor SHAP egaleaza exact 'predictie minus baseline' - foarte util pentru audit. Pe partea de limitari: cost computational - exact e exponential, deci pentru modele cu sute de features fara structura speciala se foloseste mai mult SHAP-ul aproximativ - KernelSHAP - care e mai lent. Asumarea independentei features-urilor e o problema teoretica reala: lag_1 si lag_2 sunt foarte corelate, si SHAP poate distribui contributia in moduri 'ciudate' intre ele. Foarte important: SHAP arata corelatia cu predictia, NU cauzalitatea in lumea reala. Daca modelul vede 'wind_speed' si invata o corelatie spurioasa, SHAP va arata corelatia, nu va corecta cauzalitatea. Si o ultima limitare practica - utilizatorii non-tehnici pot interpreta gresit valorile SHAP ca recomandari actionabile ('daca pretul precedent ar fi mai mic, pretul curent ar scadea'), ceea ce e o eroare logica de tip 'corelatie egal cauzalitate'.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rezum in trei puncte. Unu - conexiunea matematica e mai profunda decat pare la prima vedere. SHAP nu este un truc inventat de cercetatori in 2017 - este aceeasi matematica pentru care Lloyd Shapley a primit Premiul Nobel pentru Economie, reinterpretata pe un domeniu nou. Faptul ca putem 'deschide cutia neagra' a modelelor ML moderne are radacini in 1953. Doi - aplicabilitate practica imediata in lucrarea mea. Pe XGBoost-ul propriu cu R² de 0.968 pe pretul energetic Spania, SHAP confirma ca modelul a invatat pattern-uri REALE - autoregresivitate puternica, sezonalitate intra-zi, ciclu saptamanal, impact eolian - nu artefacte din date. Trei - SHAP devine fundamentul componentei LLM din arhitectura mea. Valorile SHAP sunt 'materia prima' interpretabila - LLM-ul le transforma in propozitii in limbaj natural pentru operatorul energetic. Astfel platforma raspunde nu doar 'ce va fi pretul', ci si 'DE CE va fi acest pret', combinand matematica riguroasa cu accesibilitate naturala. Multumesc pentru atentie. Acum astept intrebarile dumneavoastra. Daca cineva intreaba despre Optuna sau MLflow, pot adresa rapid; daca intreaba despre alternative la SHAP - pot mentiona LIME, Integrated Gradients pentru NN, sau atribution maps; daca intreaba despre date cu deriva, pot vorbi despre cum monitorizez SHAP la inferenta pentru drift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96167"/>
          </a:solidFill>
          <a:ln w="12700">
            <a:solidFill>
              <a:srgbClr val="F96167"/>
            </a:solidFill>
            <a:prstDash val="solid"/>
          </a:ln>
        </p:spPr>
      </p:sp>
      <p:sp>
        <p:nvSpPr>
          <p:cNvPr id="3" name="Text 1"/>
          <p:cNvSpPr/>
          <p:nvPr/>
        </p:nvSpPr>
        <p:spPr>
          <a:xfrm>
            <a:off x="731520" y="914400"/>
            <a:ext cx="10515600" cy="457200"/>
          </a:xfrm>
          <a:prstGeom prst="rect">
            <a:avLst/>
          </a:prstGeom>
          <a:noFill/>
          <a:ln/>
        </p:spPr>
        <p:txBody>
          <a:bodyPr wrap="square" rtlCol="0" anchor="ctr"/>
          <a:lstStyle/>
          <a:p>
            <a:pPr indent="0" marL="0">
              <a:buNone/>
            </a:pPr>
            <a:r>
              <a:rPr lang="en-US" sz="1200" b="1" spc="800" kern="0" dirty="0">
                <a:solidFill>
                  <a:srgbClr val="F96167"/>
                </a:solidFill>
                <a:latin typeface="Calibri" pitchFamily="34" charset="0"/>
                <a:ea typeface="Calibri" pitchFamily="34" charset="-122"/>
                <a:cs typeface="Calibri" pitchFamily="34" charset="-120"/>
              </a:rPr>
              <a:t>SESIUNEA DE COMUNICARI STIINTIFICE STUDENTESTI</a:t>
            </a:r>
            <a:endParaRPr lang="en-US" sz="1200" dirty="0"/>
          </a:p>
        </p:txBody>
      </p:sp>
      <p:sp>
        <p:nvSpPr>
          <p:cNvPr id="4" name="Text 2"/>
          <p:cNvSpPr/>
          <p:nvPr/>
        </p:nvSpPr>
        <p:spPr>
          <a:xfrm>
            <a:off x="731520" y="1645920"/>
            <a:ext cx="10515600" cy="109728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SHAP si teoria jocurilor cooperative</a:t>
            </a:r>
            <a:endParaRPr lang="en-US" sz="4400" dirty="0"/>
          </a:p>
        </p:txBody>
      </p:sp>
      <p:sp>
        <p:nvSpPr>
          <p:cNvPr id="5" name="Text 3"/>
          <p:cNvSpPr/>
          <p:nvPr/>
        </p:nvSpPr>
        <p:spPr>
          <a:xfrm>
            <a:off x="731520" y="2926080"/>
            <a:ext cx="10515600" cy="914400"/>
          </a:xfrm>
          <a:prstGeom prst="rect">
            <a:avLst/>
          </a:prstGeom>
          <a:noFill/>
          <a:ln/>
        </p:spPr>
        <p:txBody>
          <a:bodyPr wrap="square"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De la Premiul Nobel pentru economie la interpretabilitatea modelelor moderne de Machine Learning</a:t>
            </a:r>
            <a:endParaRPr lang="en-US" sz="2000" dirty="0"/>
          </a:p>
        </p:txBody>
      </p:sp>
      <p:sp>
        <p:nvSpPr>
          <p:cNvPr id="6" name="Shape 4"/>
          <p:cNvSpPr/>
          <p:nvPr/>
        </p:nvSpPr>
        <p:spPr>
          <a:xfrm>
            <a:off x="731520" y="4206240"/>
            <a:ext cx="1828800" cy="36576"/>
          </a:xfrm>
          <a:prstGeom prst="rect">
            <a:avLst/>
          </a:prstGeom>
          <a:solidFill>
            <a:srgbClr val="F96167"/>
          </a:solidFill>
          <a:ln w="12700">
            <a:solidFill>
              <a:srgbClr val="F96167"/>
            </a:solidFill>
            <a:prstDash val="solid"/>
          </a:ln>
        </p:spPr>
      </p:sp>
      <p:sp>
        <p:nvSpPr>
          <p:cNvPr id="7" name="Text 5"/>
          <p:cNvSpPr/>
          <p:nvPr/>
        </p:nvSpPr>
        <p:spPr>
          <a:xfrm>
            <a:off x="731520" y="4480560"/>
            <a:ext cx="9144000" cy="1463040"/>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Diana Nenu</a:t>
            </a:r>
            <a:endParaRPr lang="en-US" sz="2200" dirty="0"/>
          </a:p>
          <a:p>
            <a:pPr indent="0" marL="0">
              <a:buNone/>
            </a:pPr>
            <a:r>
              <a:rPr lang="en-US" sz="1300" dirty="0">
                <a:solidFill>
                  <a:srgbClr val="CADCFC"/>
                </a:solidFill>
                <a:latin typeface="Calibri" pitchFamily="34" charset="0"/>
                <a:ea typeface="Calibri" pitchFamily="34" charset="-122"/>
                <a:cs typeface="Calibri" pitchFamily="34" charset="-120"/>
              </a:rPr>
              <a:t>Universitatea Titu Maiorescu - Data Science &amp; Artificial Intelligence</a:t>
            </a:r>
            <a:endParaRPr lang="en-US" sz="2200" dirty="0"/>
          </a:p>
          <a:p>
            <a:pPr indent="0" marL="0">
              <a:buNone/>
            </a:pPr>
            <a:r>
              <a:rPr lang="en-US" sz="1300" dirty="0">
                <a:solidFill>
                  <a:srgbClr val="CADCFC"/>
                </a:solidFill>
                <a:latin typeface="Calibri" pitchFamily="34" charset="0"/>
                <a:ea typeface="Calibri" pitchFamily="34" charset="-122"/>
                <a:cs typeface="Calibri" pitchFamily="34" charset="-120"/>
              </a:rPr>
              <a:t>Lucrare de disertatie - sesiune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CADRU GENERAL</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Contextul lucrarii: platforma integrata</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pic>
        <p:nvPicPr>
          <p:cNvPr id="6" name="Image 0" descr="/sessions/vibrant-elegant-pasteur/mnt/Disertatie_AI_Platform/reports/figures/fig_scss_architecture.png">    </p:cNvPr>
          <p:cNvPicPr>
            <a:picLocks noChangeAspect="1"/>
          </p:cNvPicPr>
          <p:nvPr/>
        </p:nvPicPr>
        <p:blipFill>
          <a:blip r:embed="rId1"/>
          <a:srcRect l="0" r="0" t="0" b="0"/>
          <a:stretch/>
        </p:blipFill>
        <p:spPr>
          <a:xfrm>
            <a:off x="548640" y="1463040"/>
            <a:ext cx="11064240" cy="4572000"/>
          </a:xfrm>
          <a:prstGeom prst="rect">
            <a:avLst/>
          </a:prstGeom>
        </p:spPr>
      </p:pic>
      <p:sp>
        <p:nvSpPr>
          <p:cNvPr id="7" name="Text 4"/>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8" name="Text 5"/>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MOTIVATIE</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Problema: AI-ul ca 'cutie neagra'</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sp>
        <p:nvSpPr>
          <p:cNvPr id="6" name="Shape 4"/>
          <p:cNvSpPr/>
          <p:nvPr/>
        </p:nvSpPr>
        <p:spPr>
          <a:xfrm>
            <a:off x="548640" y="1554480"/>
            <a:ext cx="5394960" cy="4572000"/>
          </a:xfrm>
          <a:prstGeom prst="rect">
            <a:avLst/>
          </a:prstGeom>
          <a:solidFill>
            <a:srgbClr val="F4F5F7"/>
          </a:solidFill>
          <a:ln w="12700">
            <a:solidFill>
              <a:srgbClr val="E5E7EB"/>
            </a:solidFill>
            <a:prstDash val="solid"/>
          </a:ln>
        </p:spPr>
      </p:sp>
      <p:sp>
        <p:nvSpPr>
          <p:cNvPr id="7" name="Shape 5"/>
          <p:cNvSpPr/>
          <p:nvPr/>
        </p:nvSpPr>
        <p:spPr>
          <a:xfrm>
            <a:off x="548640" y="1554480"/>
            <a:ext cx="109728" cy="4572000"/>
          </a:xfrm>
          <a:prstGeom prst="rect">
            <a:avLst/>
          </a:prstGeom>
          <a:solidFill>
            <a:srgbClr val="F96167"/>
          </a:solidFill>
          <a:ln w="12700">
            <a:solidFill>
              <a:srgbClr val="F96167"/>
            </a:solidFill>
            <a:prstDash val="solid"/>
          </a:ln>
        </p:spPr>
      </p:sp>
      <p:sp>
        <p:nvSpPr>
          <p:cNvPr id="8" name="Text 6"/>
          <p:cNvSpPr/>
          <p:nvPr/>
        </p:nvSpPr>
        <p:spPr>
          <a:xfrm>
            <a:off x="822960" y="1691640"/>
            <a:ext cx="5029200" cy="457200"/>
          </a:xfrm>
          <a:prstGeom prst="rect">
            <a:avLst/>
          </a:prstGeom>
          <a:noFill/>
          <a:ln/>
        </p:spPr>
        <p:txBody>
          <a:bodyPr wrap="square" rtlCol="0" anchor="ctr"/>
          <a:lstStyle/>
          <a:p>
            <a:pPr indent="0" marL="0">
              <a:buNone/>
            </a:pPr>
            <a:r>
              <a:rPr lang="en-US" sz="1800" b="1" dirty="0">
                <a:solidFill>
                  <a:srgbClr val="F96167"/>
                </a:solidFill>
                <a:latin typeface="Calibri" pitchFamily="34" charset="0"/>
                <a:ea typeface="Calibri" pitchFamily="34" charset="-122"/>
                <a:cs typeface="Calibri" pitchFamily="34" charset="-120"/>
              </a:rPr>
              <a:t>Provocarea</a:t>
            </a:r>
            <a:endParaRPr lang="en-US" sz="1800" dirty="0"/>
          </a:p>
        </p:txBody>
      </p:sp>
      <p:sp>
        <p:nvSpPr>
          <p:cNvPr id="9" name="Text 7"/>
          <p:cNvSpPr/>
          <p:nvPr/>
        </p:nvSpPr>
        <p:spPr>
          <a:xfrm>
            <a:off x="822960" y="2194560"/>
            <a:ext cx="5029200" cy="3840480"/>
          </a:xfrm>
          <a:prstGeom prst="rect">
            <a:avLst/>
          </a:prstGeom>
          <a:noFill/>
          <a:ln/>
        </p:spPr>
        <p:txBody>
          <a:bodyPr wrap="square"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XGBoost a obtinut R² = 0.968 pe pretul Spania.</a:t>
            </a:r>
            <a:endParaRPr lang="en-US" sz="1400" dirty="0"/>
          </a:p>
          <a:p>
            <a:pPr indent="0" marL="0">
              <a:buNone/>
            </a:pPr>
            <a:r>
              <a:rPr lang="en-US" sz="1400" i="1" dirty="0">
                <a:solidFill>
                  <a:srgbClr val="1F2937"/>
                </a:solidFill>
                <a:latin typeface="Calibri" pitchFamily="34" charset="0"/>
                <a:ea typeface="Calibri" pitchFamily="34" charset="-122"/>
                <a:cs typeface="Calibri" pitchFamily="34" charset="-120"/>
              </a:rPr>
              <a:t>Dar de ce a luat aceasta decizie?</a:t>
            </a: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300" dirty="0">
                <a:solidFill>
                  <a:srgbClr val="1F2937"/>
                </a:solidFill>
                <a:latin typeface="Calibri" pitchFamily="34" charset="0"/>
                <a:ea typeface="Calibri" pitchFamily="34" charset="-122"/>
                <a:cs typeface="Calibri" pitchFamily="34" charset="-120"/>
              </a:rPr>
              <a:t>Modelele moderne sunt extrem de performante, dar opace:</a:t>
            </a:r>
            <a:endParaRPr lang="en-US" sz="1400" dirty="0"/>
          </a:p>
          <a:p>
            <a:pPr marL="342900" indent="-342900">
              <a:buSzPct val="100000"/>
              <a:buChar char="•"/>
            </a:pPr>
            <a:r>
              <a:rPr lang="en-US" sz="1200" dirty="0">
                <a:solidFill>
                  <a:srgbClr val="6B7280"/>
                </a:solidFill>
                <a:latin typeface="Calibri" pitchFamily="34" charset="0"/>
                <a:ea typeface="Calibri" pitchFamily="34" charset="-122"/>
                <a:cs typeface="Calibri" pitchFamily="34" charset="-120"/>
              </a:rPr>
              <a:t>Sute de arbori, milioane de parametri</a:t>
            </a:r>
            <a:endParaRPr lang="en-US" sz="1400" dirty="0"/>
          </a:p>
          <a:p>
            <a:pPr marL="342900" indent="-342900">
              <a:buSzPct val="100000"/>
              <a:buChar char="•"/>
            </a:pPr>
            <a:r>
              <a:rPr lang="en-US" sz="1200" dirty="0">
                <a:solidFill>
                  <a:srgbClr val="6B7280"/>
                </a:solidFill>
                <a:latin typeface="Calibri" pitchFamily="34" charset="0"/>
                <a:ea typeface="Calibri" pitchFamily="34" charset="-122"/>
                <a:cs typeface="Calibri" pitchFamily="34" charset="-120"/>
              </a:rPr>
              <a:t>Decizii influentate de zeci de features interconectate</a:t>
            </a:r>
            <a:endParaRPr lang="en-US" sz="1400" dirty="0"/>
          </a:p>
          <a:p>
            <a:pPr marL="342900" indent="-342900">
              <a:buSzPct val="100000"/>
              <a:buChar char="•"/>
            </a:pPr>
            <a:r>
              <a:rPr lang="en-US" sz="1200" dirty="0">
                <a:solidFill>
                  <a:srgbClr val="6B7280"/>
                </a:solidFill>
                <a:latin typeface="Calibri" pitchFamily="34" charset="0"/>
                <a:ea typeface="Calibri" pitchFamily="34" charset="-122"/>
                <a:cs typeface="Calibri" pitchFamily="34" charset="-120"/>
              </a:rPr>
              <a:t>Imposibil de explicat intuitiv 'din priviri'</a:t>
            </a:r>
            <a:endParaRPr lang="en-US" sz="14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300" b="1" dirty="0">
                <a:solidFill>
                  <a:srgbClr val="F96167"/>
                </a:solidFill>
                <a:latin typeface="Calibri" pitchFamily="34" charset="0"/>
                <a:ea typeface="Calibri" pitchFamily="34" charset="-122"/>
                <a:cs typeface="Calibri" pitchFamily="34" charset="-120"/>
              </a:rPr>
              <a:t>Intrebarea cheie:</a:t>
            </a:r>
            <a:endParaRPr lang="en-US" sz="1400" dirty="0"/>
          </a:p>
          <a:p>
            <a:pPr indent="0" marL="0">
              <a:buNone/>
            </a:pPr>
            <a:r>
              <a:rPr lang="en-US" sz="1200" i="1" dirty="0">
                <a:solidFill>
                  <a:srgbClr val="1F2937"/>
                </a:solidFill>
                <a:latin typeface="Calibri" pitchFamily="34" charset="0"/>
                <a:ea typeface="Calibri" pitchFamily="34" charset="-122"/>
                <a:cs typeface="Calibri" pitchFamily="34" charset="-120"/>
              </a:rPr>
              <a:t>Putem deschide 'cutia neagra' cu garantii matematice, nu doar cu euristici?</a:t>
            </a:r>
            <a:endParaRPr lang="en-US" sz="1400" dirty="0"/>
          </a:p>
        </p:txBody>
      </p:sp>
      <p:sp>
        <p:nvSpPr>
          <p:cNvPr id="10" name="Shape 8"/>
          <p:cNvSpPr/>
          <p:nvPr/>
        </p:nvSpPr>
        <p:spPr>
          <a:xfrm>
            <a:off x="6309360" y="1554480"/>
            <a:ext cx="5394960" cy="4572000"/>
          </a:xfrm>
          <a:prstGeom prst="rect">
            <a:avLst/>
          </a:prstGeom>
          <a:solidFill>
            <a:srgbClr val="F4F5F7"/>
          </a:solidFill>
          <a:ln w="12700">
            <a:solidFill>
              <a:srgbClr val="E5E7EB"/>
            </a:solidFill>
            <a:prstDash val="solid"/>
          </a:ln>
        </p:spPr>
      </p:sp>
      <p:sp>
        <p:nvSpPr>
          <p:cNvPr id="11" name="Shape 9"/>
          <p:cNvSpPr/>
          <p:nvPr/>
        </p:nvSpPr>
        <p:spPr>
          <a:xfrm>
            <a:off x="6309360" y="1554480"/>
            <a:ext cx="109728" cy="4572000"/>
          </a:xfrm>
          <a:prstGeom prst="rect">
            <a:avLst/>
          </a:prstGeom>
          <a:solidFill>
            <a:srgbClr val="065A82"/>
          </a:solidFill>
          <a:ln w="12700">
            <a:solidFill>
              <a:srgbClr val="065A82"/>
            </a:solidFill>
            <a:prstDash val="solid"/>
          </a:ln>
        </p:spPr>
      </p:sp>
      <p:sp>
        <p:nvSpPr>
          <p:cNvPr id="12" name="Text 10"/>
          <p:cNvSpPr/>
          <p:nvPr/>
        </p:nvSpPr>
        <p:spPr>
          <a:xfrm>
            <a:off x="6583680" y="1691640"/>
            <a:ext cx="5029200" cy="457200"/>
          </a:xfrm>
          <a:prstGeom prst="rect">
            <a:avLst/>
          </a:prstGeom>
          <a:noFill/>
          <a:ln/>
        </p:spPr>
        <p:txBody>
          <a:bodyPr wrap="square" rtlCol="0" anchor="ctr"/>
          <a:lstStyle/>
          <a:p>
            <a:pPr indent="0" marL="0">
              <a:buNone/>
            </a:pPr>
            <a:r>
              <a:rPr lang="en-US" sz="1800" b="1" dirty="0">
                <a:solidFill>
                  <a:srgbClr val="065A82"/>
                </a:solidFill>
                <a:latin typeface="Calibri" pitchFamily="34" charset="0"/>
                <a:ea typeface="Calibri" pitchFamily="34" charset="-122"/>
                <a:cs typeface="Calibri" pitchFamily="34" charset="-120"/>
              </a:rPr>
              <a:t>De ce conteaza?</a:t>
            </a:r>
            <a:endParaRPr lang="en-US" sz="1800" dirty="0"/>
          </a:p>
        </p:txBody>
      </p:sp>
      <p:sp>
        <p:nvSpPr>
          <p:cNvPr id="13" name="Text 11"/>
          <p:cNvSpPr/>
          <p:nvPr/>
        </p:nvSpPr>
        <p:spPr>
          <a:xfrm>
            <a:off x="6583680" y="2194560"/>
            <a:ext cx="5029200" cy="3840480"/>
          </a:xfrm>
          <a:prstGeom prst="rect">
            <a:avLst/>
          </a:prstGeom>
          <a:noFill/>
          <a:ln/>
        </p:spPr>
        <p:txBody>
          <a:bodyPr wrap="square" rtlCol="0" anchor="t"/>
          <a:lstStyle/>
          <a:p>
            <a:pPr indent="0" marL="0">
              <a:buNone/>
            </a:pPr>
            <a:r>
              <a:rPr lang="en-US" sz="1300" b="1" dirty="0">
                <a:solidFill>
                  <a:srgbClr val="065A82"/>
                </a:solidFill>
                <a:latin typeface="Calibri" pitchFamily="34" charset="0"/>
                <a:ea typeface="Calibri" pitchFamily="34" charset="-122"/>
                <a:cs typeface="Calibri" pitchFamily="34" charset="-120"/>
              </a:rPr>
              <a:t>Validare stiintifica</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Modelul foloseste cauzalitati reale sau artefacte din date?</a:t>
            </a:r>
            <a:endParaRPr lang="en-US" sz="13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065A82"/>
                </a:solidFill>
                <a:latin typeface="Calibri" pitchFamily="34" charset="0"/>
                <a:ea typeface="Calibri" pitchFamily="34" charset="-122"/>
                <a:cs typeface="Calibri" pitchFamily="34" charset="-120"/>
              </a:rPr>
              <a:t>Incredere si adoptie</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Operatorii nu accepta recomandari pe care nu le inteleg.</a:t>
            </a:r>
            <a:endParaRPr lang="en-US" sz="13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065A82"/>
                </a:solidFill>
                <a:latin typeface="Calibri" pitchFamily="34" charset="0"/>
                <a:ea typeface="Calibri" pitchFamily="34" charset="-122"/>
                <a:cs typeface="Calibri" pitchFamily="34" charset="-120"/>
              </a:rPr>
              <a:t>Conformitate legala (UE AI Act, GDPR)</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Dreptul utilizatorului la o decizie automatizata explicabila.</a:t>
            </a:r>
            <a:endParaRPr lang="en-US" sz="13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065A82"/>
                </a:solidFill>
                <a:latin typeface="Calibri" pitchFamily="34" charset="0"/>
                <a:ea typeface="Calibri" pitchFamily="34" charset="-122"/>
                <a:cs typeface="Calibri" pitchFamily="34" charset="-120"/>
              </a:rPr>
              <a:t>Debugging si imbunatatire</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Daca stii ce features conteaza, stii unde sa investesti efort.</a:t>
            </a:r>
            <a:endParaRPr lang="en-US" sz="1300" dirty="0"/>
          </a:p>
        </p:txBody>
      </p:sp>
      <p:sp>
        <p:nvSpPr>
          <p:cNvPr id="14" name="Text 12"/>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15" name="Text 13"/>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ISTORIE</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Originea matematica: 65 de ani de calatorie</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pic>
        <p:nvPicPr>
          <p:cNvPr id="6" name="Image 0" descr="/sessions/vibrant-elegant-pasteur/mnt/Disertatie_AI_Platform/reports/figures/fig_scss_timeline.png">    </p:cNvPr>
          <p:cNvPicPr>
            <a:picLocks noChangeAspect="1"/>
          </p:cNvPicPr>
          <p:nvPr/>
        </p:nvPicPr>
        <p:blipFill>
          <a:blip r:embed="rId1"/>
          <a:srcRect l="0" r="0" t="0" b="0"/>
          <a:stretch/>
        </p:blipFill>
        <p:spPr>
          <a:xfrm>
            <a:off x="274320" y="1463040"/>
            <a:ext cx="11612880" cy="3200400"/>
          </a:xfrm>
          <a:prstGeom prst="rect">
            <a:avLst/>
          </a:prstGeom>
        </p:spPr>
      </p:pic>
      <p:sp>
        <p:nvSpPr>
          <p:cNvPr id="7" name="Shape 4"/>
          <p:cNvSpPr/>
          <p:nvPr/>
        </p:nvSpPr>
        <p:spPr>
          <a:xfrm>
            <a:off x="548640" y="4937760"/>
            <a:ext cx="11064240" cy="1371600"/>
          </a:xfrm>
          <a:prstGeom prst="rect">
            <a:avLst/>
          </a:prstGeom>
          <a:solidFill>
            <a:srgbClr val="F4F5F7"/>
          </a:solidFill>
          <a:ln w="12700">
            <a:solidFill>
              <a:srgbClr val="E5E7EB"/>
            </a:solidFill>
            <a:prstDash val="solid"/>
          </a:ln>
        </p:spPr>
      </p:sp>
      <p:sp>
        <p:nvSpPr>
          <p:cNvPr id="8" name="Text 5"/>
          <p:cNvSpPr/>
          <p:nvPr/>
        </p:nvSpPr>
        <p:spPr>
          <a:xfrm>
            <a:off x="822960" y="5029200"/>
            <a:ext cx="10515600" cy="1188720"/>
          </a:xfrm>
          <a:prstGeom prst="rect">
            <a:avLst/>
          </a:prstGeom>
          <a:noFill/>
          <a:ln/>
        </p:spPr>
        <p:txBody>
          <a:bodyPr wrap="square" rtlCol="0" anchor="t"/>
          <a:lstStyle/>
          <a:p>
            <a:pPr indent="0" marL="0">
              <a:buNone/>
            </a:pPr>
            <a:r>
              <a:rPr lang="en-US" sz="1300" b="1" dirty="0">
                <a:solidFill>
                  <a:srgbClr val="065A82"/>
                </a:solidFill>
                <a:latin typeface="Calibri" pitchFamily="34" charset="0"/>
                <a:ea typeface="Calibri" pitchFamily="34" charset="-122"/>
                <a:cs typeface="Calibri" pitchFamily="34" charset="-120"/>
              </a:rPr>
              <a:t>Esenta: </a:t>
            </a:r>
            <a:pPr indent="0" marL="0">
              <a:buNone/>
            </a:pPr>
            <a:r>
              <a:rPr lang="en-US" sz="1300" dirty="0">
                <a:solidFill>
                  <a:srgbClr val="1F2937"/>
                </a:solidFill>
                <a:latin typeface="Calibri" pitchFamily="34" charset="0"/>
                <a:ea typeface="Calibri" pitchFamily="34" charset="-122"/>
                <a:cs typeface="Calibri" pitchFamily="34" charset="-120"/>
              </a:rPr>
              <a:t>Lloyd Shapley a rezolvat problema 'cum impartim cinstit castigul intr-o coalitie de jucatori cooperativi'. </a:t>
            </a:r>
            <a:pPr indent="0" marL="0">
              <a:buNone/>
            </a:pPr>
            <a:r>
              <a:rPr lang="en-US" sz="1300" dirty="0">
                <a:solidFill>
                  <a:srgbClr val="1F2937"/>
                </a:solidFill>
                <a:latin typeface="Calibri" pitchFamily="34" charset="0"/>
                <a:ea typeface="Calibri" pitchFamily="34" charset="-122"/>
                <a:cs typeface="Calibri" pitchFamily="34" charset="-120"/>
              </a:rPr>
              <a:t>Lundberg &amp; Lee au observat ca features-urile dintr-un model ML se comporta exact ca jucatorii intr-un joc cooperativ - decizia finala (predictia) este un 'castig' la care fiecare feature contribuie. </a:t>
            </a:r>
            <a:endParaRPr lang="en-US" sz="1300" dirty="0"/>
          </a:p>
          <a:p>
            <a:pPr indent="0" marL="0">
              <a:buNone/>
            </a:pPr>
            <a:r>
              <a:rPr lang="en-US" sz="1300" b="1" i="1" dirty="0">
                <a:solidFill>
                  <a:srgbClr val="F96167"/>
                </a:solidFill>
                <a:latin typeface="Calibri" pitchFamily="34" charset="0"/>
                <a:ea typeface="Calibri" pitchFamily="34" charset="-122"/>
                <a:cs typeface="Calibri" pitchFamily="34" charset="-120"/>
              </a:rPr>
              <a:t>Aceeasi matematica, doua domenii complet diferite, 65 de ani distanta.</a:t>
            </a:r>
            <a:endParaRPr lang="en-US" sz="1300" dirty="0"/>
          </a:p>
        </p:txBody>
      </p:sp>
      <p:sp>
        <p:nvSpPr>
          <p:cNvPr id="9" name="Text 6"/>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10" name="Text 7"/>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CONCEPT FUNDAMENTAL</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Intuitia: 3 features = 3 jucatori cooperativi</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pic>
        <p:nvPicPr>
          <p:cNvPr id="6" name="Image 0" descr="/sessions/vibrant-elegant-pasteur/mnt/Disertatie_AI_Platform/reports/figures/fig_scss_coalition.png">    </p:cNvPr>
          <p:cNvPicPr>
            <a:picLocks noChangeAspect="1"/>
          </p:cNvPicPr>
          <p:nvPr/>
        </p:nvPicPr>
        <p:blipFill>
          <a:blip r:embed="rId1"/>
          <a:srcRect l="0" r="0" t="0" b="0"/>
          <a:stretch/>
        </p:blipFill>
        <p:spPr>
          <a:xfrm>
            <a:off x="365760" y="1463040"/>
            <a:ext cx="11430000" cy="4297680"/>
          </a:xfrm>
          <a:prstGeom prst="rect">
            <a:avLst/>
          </a:prstGeom>
        </p:spPr>
      </p:pic>
      <p:sp>
        <p:nvSpPr>
          <p:cNvPr id="7" name="Shape 4"/>
          <p:cNvSpPr/>
          <p:nvPr/>
        </p:nvSpPr>
        <p:spPr>
          <a:xfrm>
            <a:off x="2286000" y="5852160"/>
            <a:ext cx="7589520" cy="502920"/>
          </a:xfrm>
          <a:prstGeom prst="rect">
            <a:avLst/>
          </a:prstGeom>
          <a:solidFill>
            <a:srgbClr val="F96167"/>
          </a:solidFill>
          <a:ln w="12700">
            <a:solidFill>
              <a:srgbClr val="F96167"/>
            </a:solidFill>
            <a:prstDash val="solid"/>
          </a:ln>
        </p:spPr>
      </p:sp>
      <p:sp>
        <p:nvSpPr>
          <p:cNvPr id="8" name="Text 5"/>
          <p:cNvSpPr/>
          <p:nvPr/>
        </p:nvSpPr>
        <p:spPr>
          <a:xfrm>
            <a:off x="2286000" y="5852160"/>
            <a:ext cx="7589520" cy="502920"/>
          </a:xfrm>
          <a:prstGeom prst="rect">
            <a:avLst/>
          </a:prstGeom>
          <a:noFill/>
          <a:ln/>
        </p:spPr>
        <p:txBody>
          <a:bodyPr wrap="square" rtlCol="0" anchor="ctr"/>
          <a:lstStyle/>
          <a:p>
            <a:pPr algn="ctr" indent="0" marL="0">
              <a:buNone/>
            </a:pPr>
            <a:r>
              <a:rPr lang="en-US" sz="1400" b="1" i="1" dirty="0">
                <a:solidFill>
                  <a:srgbClr val="FFFFFF"/>
                </a:solidFill>
                <a:latin typeface="Calibri" pitchFamily="34" charset="0"/>
                <a:ea typeface="Calibri" pitchFamily="34" charset="-122"/>
                <a:cs typeface="Calibri" pitchFamily="34" charset="-120"/>
              </a:rPr>
              <a:t>Cat contribuie A, cat B, cat C la castigul final de 10?</a:t>
            </a:r>
            <a:endParaRPr lang="en-US" sz="1400" dirty="0"/>
          </a:p>
        </p:txBody>
      </p:sp>
      <p:sp>
        <p:nvSpPr>
          <p:cNvPr id="9" name="Text 6"/>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10" name="Text 7"/>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FUNDAMENTUL MATEMATIC</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Solutia: 4 axiome de corectitudine</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pic>
        <p:nvPicPr>
          <p:cNvPr id="6" name="Image 0" descr="/sessions/vibrant-elegant-pasteur/mnt/Disertatie_AI_Platform/reports/figures/fig_scss_axioms.png">    </p:cNvPr>
          <p:cNvPicPr>
            <a:picLocks noChangeAspect="1"/>
          </p:cNvPicPr>
          <p:nvPr/>
        </p:nvPicPr>
        <p:blipFill>
          <a:blip r:embed="rId1"/>
          <a:srcRect l="0" r="0" t="0" b="0"/>
          <a:stretch/>
        </p:blipFill>
        <p:spPr>
          <a:xfrm>
            <a:off x="274320" y="1463040"/>
            <a:ext cx="11612880" cy="4572000"/>
          </a:xfrm>
          <a:prstGeom prst="rect">
            <a:avLst/>
          </a:prstGeom>
        </p:spPr>
      </p:pic>
      <p:sp>
        <p:nvSpPr>
          <p:cNvPr id="7" name="Text 4"/>
          <p:cNvSpPr/>
          <p:nvPr/>
        </p:nvSpPr>
        <p:spPr>
          <a:xfrm>
            <a:off x="548640" y="6126480"/>
            <a:ext cx="11064240" cy="365760"/>
          </a:xfrm>
          <a:prstGeom prst="rect">
            <a:avLst/>
          </a:prstGeom>
          <a:noFill/>
          <a:ln/>
        </p:spPr>
        <p:txBody>
          <a:bodyPr wrap="square" rtlCol="0" anchor="ctr"/>
          <a:lstStyle/>
          <a:p>
            <a:pPr algn="ctr" indent="0" marL="0">
              <a:buNone/>
            </a:pPr>
            <a:r>
              <a:rPr lang="en-US" sz="1200" b="1" i="1" dirty="0">
                <a:solidFill>
                  <a:srgbClr val="065A82"/>
                </a:solidFill>
                <a:latin typeface="Calibri" pitchFamily="34" charset="0"/>
                <a:ea typeface="Calibri" pitchFamily="34" charset="-122"/>
                <a:cs typeface="Calibri" pitchFamily="34" charset="-120"/>
              </a:rPr>
              <a:t>Shapley a demonstrat ca exista o SINGURA formula matematica care satisface toate 4 axiomele simultan</a:t>
            </a:r>
            <a:endParaRPr lang="en-US" sz="1200" dirty="0"/>
          </a:p>
        </p:txBody>
      </p:sp>
      <p:sp>
        <p:nvSpPr>
          <p:cNvPr id="8" name="Text 5"/>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9" name="Text 6"/>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MATEMATICA</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Formula valorii Shapley</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sp>
        <p:nvSpPr>
          <p:cNvPr id="6" name="Shape 4"/>
          <p:cNvSpPr/>
          <p:nvPr/>
        </p:nvSpPr>
        <p:spPr>
          <a:xfrm>
            <a:off x="914400" y="1828800"/>
            <a:ext cx="10332720" cy="1554480"/>
          </a:xfrm>
          <a:prstGeom prst="rect">
            <a:avLst/>
          </a:prstGeom>
          <a:solidFill>
            <a:srgbClr val="21295C"/>
          </a:solidFill>
          <a:ln w="12700">
            <a:solidFill>
              <a:srgbClr val="21295C"/>
            </a:solidFill>
            <a:prstDash val="solid"/>
          </a:ln>
        </p:spPr>
      </p:sp>
      <p:sp>
        <p:nvSpPr>
          <p:cNvPr id="7" name="Text 5"/>
          <p:cNvSpPr/>
          <p:nvPr/>
        </p:nvSpPr>
        <p:spPr>
          <a:xfrm>
            <a:off x="914400" y="1828800"/>
            <a:ext cx="10332720" cy="155448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φᵢ(v) = Σ  (|S|! · (n - |S| - 1)! / n!) · [v(S ∪ {i}) − v(S)]</a:t>
            </a:r>
            <a:endParaRPr lang="en-US" sz="2600" dirty="0"/>
          </a:p>
        </p:txBody>
      </p:sp>
      <p:sp>
        <p:nvSpPr>
          <p:cNvPr id="8" name="Text 6"/>
          <p:cNvSpPr/>
          <p:nvPr/>
        </p:nvSpPr>
        <p:spPr>
          <a:xfrm>
            <a:off x="914400" y="1828800"/>
            <a:ext cx="10332720" cy="1554480"/>
          </a:xfrm>
          <a:prstGeom prst="rect">
            <a:avLst/>
          </a:prstGeom>
          <a:noFill/>
          <a:ln/>
        </p:spPr>
        <p:txBody>
          <a:bodyPr wrap="square" rtlCol="0" anchor="b"/>
          <a:lstStyle/>
          <a:p>
            <a:pPr algn="ctr" indent="0" marL="0">
              <a:buNone/>
            </a:pPr>
            <a:r>
              <a:rPr lang="en-US" sz="1300" i="1" dirty="0">
                <a:solidFill>
                  <a:srgbClr val="CADCFC"/>
                </a:solidFill>
                <a:latin typeface="Cambria" pitchFamily="34" charset="0"/>
                <a:ea typeface="Cambria" pitchFamily="34" charset="-122"/>
                <a:cs typeface="Cambria" pitchFamily="34" charset="-120"/>
              </a:rPr>
              <a:t>S ⊆ N \ {i}</a:t>
            </a:r>
            <a:endParaRPr lang="en-US" sz="1300" dirty="0"/>
          </a:p>
        </p:txBody>
      </p:sp>
      <p:sp>
        <p:nvSpPr>
          <p:cNvPr id="9" name="Shape 7"/>
          <p:cNvSpPr/>
          <p:nvPr/>
        </p:nvSpPr>
        <p:spPr>
          <a:xfrm>
            <a:off x="548640" y="3749040"/>
            <a:ext cx="3611880" cy="2286000"/>
          </a:xfrm>
          <a:prstGeom prst="rect">
            <a:avLst/>
          </a:prstGeom>
          <a:solidFill>
            <a:srgbClr val="FFFFFF"/>
          </a:solidFill>
          <a:ln w="25400">
            <a:solidFill>
              <a:srgbClr val="065A82"/>
            </a:solidFill>
            <a:prstDash val="solid"/>
          </a:ln>
        </p:spPr>
      </p:sp>
      <p:sp>
        <p:nvSpPr>
          <p:cNvPr id="10" name="Shape 8"/>
          <p:cNvSpPr/>
          <p:nvPr/>
        </p:nvSpPr>
        <p:spPr>
          <a:xfrm>
            <a:off x="548640" y="3749040"/>
            <a:ext cx="3611880" cy="457200"/>
          </a:xfrm>
          <a:prstGeom prst="rect">
            <a:avLst/>
          </a:prstGeom>
          <a:solidFill>
            <a:srgbClr val="065A82"/>
          </a:solidFill>
          <a:ln w="12700">
            <a:solidFill>
              <a:srgbClr val="065A82"/>
            </a:solidFill>
            <a:prstDash val="solid"/>
          </a:ln>
        </p:spPr>
      </p:sp>
      <p:sp>
        <p:nvSpPr>
          <p:cNvPr id="11" name="Text 9"/>
          <p:cNvSpPr/>
          <p:nvPr/>
        </p:nvSpPr>
        <p:spPr>
          <a:xfrm>
            <a:off x="548640" y="3749040"/>
            <a:ext cx="3611880" cy="4572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 v(S ∪ {i}) − v(S) ]</a:t>
            </a:r>
            <a:endParaRPr lang="en-US" sz="1400" dirty="0"/>
          </a:p>
        </p:txBody>
      </p:sp>
      <p:sp>
        <p:nvSpPr>
          <p:cNvPr id="12" name="Text 10"/>
          <p:cNvSpPr/>
          <p:nvPr/>
        </p:nvSpPr>
        <p:spPr>
          <a:xfrm>
            <a:off x="731520" y="4297680"/>
            <a:ext cx="3246120" cy="1554480"/>
          </a:xfrm>
          <a:prstGeom prst="rect">
            <a:avLst/>
          </a:prstGeom>
          <a:noFill/>
          <a:ln/>
        </p:spPr>
        <p:txBody>
          <a:bodyPr wrap="square"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Contributia marginala</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a lui i la coalitia S</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(cat 'aduce in plus')</a:t>
            </a:r>
            <a:endParaRPr lang="en-US" sz="1300" dirty="0"/>
          </a:p>
        </p:txBody>
      </p:sp>
      <p:sp>
        <p:nvSpPr>
          <p:cNvPr id="13" name="Shape 11"/>
          <p:cNvSpPr/>
          <p:nvPr/>
        </p:nvSpPr>
        <p:spPr>
          <a:xfrm>
            <a:off x="4251960" y="3749040"/>
            <a:ext cx="3611880" cy="2286000"/>
          </a:xfrm>
          <a:prstGeom prst="rect">
            <a:avLst/>
          </a:prstGeom>
          <a:solidFill>
            <a:srgbClr val="FFFFFF"/>
          </a:solidFill>
          <a:ln w="25400">
            <a:solidFill>
              <a:srgbClr val="1C7293"/>
            </a:solidFill>
            <a:prstDash val="solid"/>
          </a:ln>
        </p:spPr>
      </p:sp>
      <p:sp>
        <p:nvSpPr>
          <p:cNvPr id="14" name="Shape 12"/>
          <p:cNvSpPr/>
          <p:nvPr/>
        </p:nvSpPr>
        <p:spPr>
          <a:xfrm>
            <a:off x="4251960" y="3749040"/>
            <a:ext cx="3611880" cy="457200"/>
          </a:xfrm>
          <a:prstGeom prst="rect">
            <a:avLst/>
          </a:prstGeom>
          <a:solidFill>
            <a:srgbClr val="1C7293"/>
          </a:solidFill>
          <a:ln w="12700">
            <a:solidFill>
              <a:srgbClr val="1C7293"/>
            </a:solidFill>
            <a:prstDash val="solid"/>
          </a:ln>
        </p:spPr>
      </p:sp>
      <p:sp>
        <p:nvSpPr>
          <p:cNvPr id="15" name="Text 13"/>
          <p:cNvSpPr/>
          <p:nvPr/>
        </p:nvSpPr>
        <p:spPr>
          <a:xfrm>
            <a:off x="4251960" y="3749040"/>
            <a:ext cx="3611880" cy="4572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 · (n−|S|−1)! / n!</a:t>
            </a:r>
            <a:endParaRPr lang="en-US" sz="1400" dirty="0"/>
          </a:p>
        </p:txBody>
      </p:sp>
      <p:sp>
        <p:nvSpPr>
          <p:cNvPr id="16" name="Text 14"/>
          <p:cNvSpPr/>
          <p:nvPr/>
        </p:nvSpPr>
        <p:spPr>
          <a:xfrm>
            <a:off x="4434840" y="4297680"/>
            <a:ext cx="3246120" cy="1554480"/>
          </a:xfrm>
          <a:prstGeom prst="rect">
            <a:avLst/>
          </a:prstGeom>
          <a:noFill/>
          <a:ln/>
        </p:spPr>
        <p:txBody>
          <a:bodyPr wrap="square"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Ponderea = probabilitatea</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ordinii de intrare aleator</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(toate ordinile sunt egal de probabile)</a:t>
            </a:r>
            <a:endParaRPr lang="en-US" sz="1300" dirty="0"/>
          </a:p>
        </p:txBody>
      </p:sp>
      <p:sp>
        <p:nvSpPr>
          <p:cNvPr id="17" name="Shape 15"/>
          <p:cNvSpPr/>
          <p:nvPr/>
        </p:nvSpPr>
        <p:spPr>
          <a:xfrm>
            <a:off x="7955280" y="3749040"/>
            <a:ext cx="3611880" cy="2286000"/>
          </a:xfrm>
          <a:prstGeom prst="rect">
            <a:avLst/>
          </a:prstGeom>
          <a:solidFill>
            <a:srgbClr val="FFFFFF"/>
          </a:solidFill>
          <a:ln w="25400">
            <a:solidFill>
              <a:srgbClr val="F96167"/>
            </a:solidFill>
            <a:prstDash val="solid"/>
          </a:ln>
        </p:spPr>
      </p:sp>
      <p:sp>
        <p:nvSpPr>
          <p:cNvPr id="18" name="Shape 16"/>
          <p:cNvSpPr/>
          <p:nvPr/>
        </p:nvSpPr>
        <p:spPr>
          <a:xfrm>
            <a:off x="7955280" y="3749040"/>
            <a:ext cx="3611880" cy="457200"/>
          </a:xfrm>
          <a:prstGeom prst="rect">
            <a:avLst/>
          </a:prstGeom>
          <a:solidFill>
            <a:srgbClr val="F96167"/>
          </a:solidFill>
          <a:ln w="12700">
            <a:solidFill>
              <a:srgbClr val="F96167"/>
            </a:solidFill>
            <a:prstDash val="solid"/>
          </a:ln>
        </p:spPr>
      </p:sp>
      <p:sp>
        <p:nvSpPr>
          <p:cNvPr id="19" name="Text 17"/>
          <p:cNvSpPr/>
          <p:nvPr/>
        </p:nvSpPr>
        <p:spPr>
          <a:xfrm>
            <a:off x="7955280" y="3749040"/>
            <a:ext cx="3611880" cy="4572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Σ peste toate S</a:t>
            </a:r>
            <a:endParaRPr lang="en-US" sz="1400" dirty="0"/>
          </a:p>
        </p:txBody>
      </p:sp>
      <p:sp>
        <p:nvSpPr>
          <p:cNvPr id="20" name="Text 18"/>
          <p:cNvSpPr/>
          <p:nvPr/>
        </p:nvSpPr>
        <p:spPr>
          <a:xfrm>
            <a:off x="8138160" y="4297680"/>
            <a:ext cx="3246120" cy="1554480"/>
          </a:xfrm>
          <a:prstGeom prst="rect">
            <a:avLst/>
          </a:prstGeom>
          <a:noFill/>
          <a:ln/>
        </p:spPr>
        <p:txBody>
          <a:bodyPr wrap="square"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Mediem contributia</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peste TOATE coalitiile posibile</a:t>
            </a:r>
            <a:endParaRPr lang="en-US" sz="1300" dirty="0"/>
          </a:p>
          <a:p>
            <a:pPr algn="ctr" indent="0" marL="0">
              <a:buNone/>
            </a:pPr>
            <a:r>
              <a:rPr lang="en-US" sz="1300" dirty="0">
                <a:solidFill>
                  <a:srgbClr val="1F2937"/>
                </a:solidFill>
                <a:latin typeface="Calibri" pitchFamily="34" charset="0"/>
                <a:ea typeface="Calibri" pitchFamily="34" charset="-122"/>
                <a:cs typeface="Calibri" pitchFamily="34" charset="-120"/>
              </a:rPr>
              <a:t>(2^(n-1) subseturi)</a:t>
            </a:r>
            <a:endParaRPr lang="en-US" sz="1300" dirty="0"/>
          </a:p>
        </p:txBody>
      </p:sp>
      <p:sp>
        <p:nvSpPr>
          <p:cNvPr id="21" name="Text 19"/>
          <p:cNvSpPr/>
          <p:nvPr/>
        </p:nvSpPr>
        <p:spPr>
          <a:xfrm>
            <a:off x="548640" y="6217920"/>
            <a:ext cx="11064240" cy="320040"/>
          </a:xfrm>
          <a:prstGeom prst="rect">
            <a:avLst/>
          </a:prstGeom>
          <a:noFill/>
          <a:ln/>
        </p:spPr>
        <p:txBody>
          <a:bodyPr wrap="square" rtlCol="0" anchor="ctr"/>
          <a:lstStyle/>
          <a:p>
            <a:pPr algn="ctr" indent="0" marL="0">
              <a:buNone/>
            </a:pPr>
            <a:r>
              <a:rPr lang="en-US" sz="1200" b="1" i="1" dirty="0">
                <a:solidFill>
                  <a:srgbClr val="F96167"/>
                </a:solidFill>
                <a:latin typeface="Calibri" pitchFamily="34" charset="0"/>
                <a:ea typeface="Calibri" pitchFamily="34" charset="-122"/>
                <a:cs typeface="Calibri" pitchFamily="34" charset="-120"/>
              </a:rPr>
              <a:t>Complexitate: O(2ⁿ) − exponentiala in numarul de features.</a:t>
            </a:r>
            <a:endParaRPr lang="en-US" sz="1200" dirty="0"/>
          </a:p>
        </p:txBody>
      </p:sp>
      <p:sp>
        <p:nvSpPr>
          <p:cNvPr id="22" name="Text 20"/>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23" name="Text 21"/>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MAPPING</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De la jocuri cooperative la Machine Learning</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sp>
        <p:nvSpPr>
          <p:cNvPr id="6" name="Shape 4"/>
          <p:cNvSpPr/>
          <p:nvPr/>
        </p:nvSpPr>
        <p:spPr>
          <a:xfrm>
            <a:off x="548640" y="1463040"/>
            <a:ext cx="5394960" cy="4297680"/>
          </a:xfrm>
          <a:prstGeom prst="rect">
            <a:avLst/>
          </a:prstGeom>
          <a:solidFill>
            <a:srgbClr val="FFFFFF"/>
          </a:solidFill>
          <a:ln w="25400">
            <a:solidFill>
              <a:srgbClr val="065A82"/>
            </a:solidFill>
            <a:prstDash val="solid"/>
          </a:ln>
        </p:spPr>
      </p:sp>
      <p:sp>
        <p:nvSpPr>
          <p:cNvPr id="7" name="Shape 5"/>
          <p:cNvSpPr/>
          <p:nvPr/>
        </p:nvSpPr>
        <p:spPr>
          <a:xfrm>
            <a:off x="548640" y="1463040"/>
            <a:ext cx="5394960" cy="502920"/>
          </a:xfrm>
          <a:prstGeom prst="rect">
            <a:avLst/>
          </a:prstGeom>
          <a:solidFill>
            <a:srgbClr val="065A82"/>
          </a:solidFill>
          <a:ln w="12700">
            <a:solidFill>
              <a:srgbClr val="065A82"/>
            </a:solidFill>
            <a:prstDash val="solid"/>
          </a:ln>
        </p:spPr>
      </p:sp>
      <p:sp>
        <p:nvSpPr>
          <p:cNvPr id="8" name="Text 6"/>
          <p:cNvSpPr/>
          <p:nvPr/>
        </p:nvSpPr>
        <p:spPr>
          <a:xfrm>
            <a:off x="548640" y="1463040"/>
            <a:ext cx="539496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Teoria jocurilor (1953)</a:t>
            </a:r>
            <a:endParaRPr lang="en-US" sz="1600" dirty="0"/>
          </a:p>
        </p:txBody>
      </p:sp>
      <p:sp>
        <p:nvSpPr>
          <p:cNvPr id="9" name="Text 7"/>
          <p:cNvSpPr/>
          <p:nvPr/>
        </p:nvSpPr>
        <p:spPr>
          <a:xfrm>
            <a:off x="777240" y="2103120"/>
            <a:ext cx="4937760" cy="3657600"/>
          </a:xfrm>
          <a:prstGeom prst="rect">
            <a:avLst/>
          </a:prstGeom>
          <a:noFill/>
          <a:ln/>
        </p:spPr>
        <p:txBody>
          <a:bodyPr wrap="square" rtlCol="0" anchor="t"/>
          <a:lstStyle/>
          <a:p>
            <a:pPr indent="0" marL="0">
              <a:buNone/>
            </a:pPr>
            <a:r>
              <a:rPr lang="en-US" sz="1400" b="1" dirty="0">
                <a:solidFill>
                  <a:srgbClr val="065A82"/>
                </a:solidFill>
                <a:latin typeface="Calibri" pitchFamily="34" charset="0"/>
                <a:ea typeface="Calibri" pitchFamily="34" charset="-122"/>
                <a:cs typeface="Calibri" pitchFamily="34" charset="-120"/>
              </a:rPr>
              <a:t>Jucator i</a:t>
            </a:r>
            <a:endParaRPr lang="en-US" sz="1400" dirty="0"/>
          </a:p>
          <a:p>
            <a:pPr indent="0" marL="0">
              <a:buNone/>
            </a:pPr>
            <a:r>
              <a:rPr lang="en-US" sz="1300" dirty="0">
                <a:solidFill>
                  <a:srgbClr val="6B7280"/>
                </a:solidFill>
                <a:latin typeface="Calibri" pitchFamily="34" charset="0"/>
                <a:ea typeface="Calibri" pitchFamily="34" charset="-122"/>
                <a:cs typeface="Calibri" pitchFamily="34" charset="-120"/>
              </a:rPr>
              <a:t>Un participant cooperativ in joc.</a:t>
            </a:r>
            <a:endParaRPr lang="en-US" sz="14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65A82"/>
                </a:solidFill>
                <a:latin typeface="Calibri" pitchFamily="34" charset="0"/>
                <a:ea typeface="Calibri" pitchFamily="34" charset="-122"/>
                <a:cs typeface="Calibri" pitchFamily="34" charset="-120"/>
              </a:rPr>
              <a:t>Coalitia S</a:t>
            </a:r>
            <a:endParaRPr lang="en-US" sz="1400" dirty="0"/>
          </a:p>
          <a:p>
            <a:pPr indent="0" marL="0">
              <a:buNone/>
            </a:pPr>
            <a:r>
              <a:rPr lang="en-US" sz="1300" dirty="0">
                <a:solidFill>
                  <a:srgbClr val="6B7280"/>
                </a:solidFill>
                <a:latin typeface="Calibri" pitchFamily="34" charset="0"/>
                <a:ea typeface="Calibri" pitchFamily="34" charset="-122"/>
                <a:cs typeface="Calibri" pitchFamily="34" charset="-120"/>
              </a:rPr>
              <a:t>Un subset de jucatori care lucreaza impreuna.</a:t>
            </a:r>
            <a:endParaRPr lang="en-US" sz="14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65A82"/>
                </a:solidFill>
                <a:latin typeface="Calibri" pitchFamily="34" charset="0"/>
                <a:ea typeface="Calibri" pitchFamily="34" charset="-122"/>
                <a:cs typeface="Calibri" pitchFamily="34" charset="-120"/>
              </a:rPr>
              <a:t>Functia caracteristica v(S)</a:t>
            </a:r>
            <a:endParaRPr lang="en-US" sz="1400" dirty="0"/>
          </a:p>
          <a:p>
            <a:pPr indent="0" marL="0">
              <a:buNone/>
            </a:pPr>
            <a:r>
              <a:rPr lang="en-US" sz="1300" dirty="0">
                <a:solidFill>
                  <a:srgbClr val="6B7280"/>
                </a:solidFill>
                <a:latin typeface="Calibri" pitchFamily="34" charset="0"/>
                <a:ea typeface="Calibri" pitchFamily="34" charset="-122"/>
                <a:cs typeface="Calibri" pitchFamily="34" charset="-120"/>
              </a:rPr>
              <a:t>Castigul total produs de coalitia S.</a:t>
            </a:r>
            <a:endParaRPr lang="en-US" sz="14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65A82"/>
                </a:solidFill>
                <a:latin typeface="Calibri" pitchFamily="34" charset="0"/>
                <a:ea typeface="Calibri" pitchFamily="34" charset="-122"/>
                <a:cs typeface="Calibri" pitchFamily="34" charset="-120"/>
              </a:rPr>
              <a:t>Valoarea phi_i</a:t>
            </a:r>
            <a:endParaRPr lang="en-US" sz="1400" dirty="0"/>
          </a:p>
          <a:p>
            <a:pPr indent="0" marL="0">
              <a:buNone/>
            </a:pPr>
            <a:r>
              <a:rPr lang="en-US" sz="1300" dirty="0">
                <a:solidFill>
                  <a:srgbClr val="6B7280"/>
                </a:solidFill>
                <a:latin typeface="Calibri" pitchFamily="34" charset="0"/>
                <a:ea typeface="Calibri" pitchFamily="34" charset="-122"/>
                <a:cs typeface="Calibri" pitchFamily="34" charset="-120"/>
              </a:rPr>
              <a:t>Contributia cinstita a jucatorului i.</a:t>
            </a:r>
            <a:endParaRPr lang="en-US" sz="1400" dirty="0"/>
          </a:p>
        </p:txBody>
      </p:sp>
      <p:sp>
        <p:nvSpPr>
          <p:cNvPr id="10" name="Shape 8"/>
          <p:cNvSpPr/>
          <p:nvPr/>
        </p:nvSpPr>
        <p:spPr>
          <a:xfrm>
            <a:off x="5989320" y="3611880"/>
            <a:ext cx="548640" cy="0"/>
          </a:xfrm>
          <a:prstGeom prst="line">
            <a:avLst/>
          </a:prstGeom>
          <a:noFill/>
          <a:ln w="31750">
            <a:solidFill>
              <a:srgbClr val="1F2937"/>
            </a:solidFill>
            <a:prstDash val="solid"/>
            <a:tailEnd type="triangle"/>
          </a:ln>
        </p:spPr>
      </p:sp>
      <p:sp>
        <p:nvSpPr>
          <p:cNvPr id="11" name="Shape 9"/>
          <p:cNvSpPr/>
          <p:nvPr/>
        </p:nvSpPr>
        <p:spPr>
          <a:xfrm>
            <a:off x="6583680" y="1463040"/>
            <a:ext cx="5394960" cy="4297680"/>
          </a:xfrm>
          <a:prstGeom prst="rect">
            <a:avLst/>
          </a:prstGeom>
          <a:solidFill>
            <a:srgbClr val="FFFFFF"/>
          </a:solidFill>
          <a:ln w="25400">
            <a:solidFill>
              <a:srgbClr val="F96167"/>
            </a:solidFill>
            <a:prstDash val="solid"/>
          </a:ln>
        </p:spPr>
      </p:sp>
      <p:sp>
        <p:nvSpPr>
          <p:cNvPr id="12" name="Shape 10"/>
          <p:cNvSpPr/>
          <p:nvPr/>
        </p:nvSpPr>
        <p:spPr>
          <a:xfrm>
            <a:off x="6583680" y="1463040"/>
            <a:ext cx="5394960" cy="502920"/>
          </a:xfrm>
          <a:prstGeom prst="rect">
            <a:avLst/>
          </a:prstGeom>
          <a:solidFill>
            <a:srgbClr val="F96167"/>
          </a:solidFill>
          <a:ln w="12700">
            <a:solidFill>
              <a:srgbClr val="F96167"/>
            </a:solidFill>
            <a:prstDash val="solid"/>
          </a:ln>
        </p:spPr>
      </p:sp>
      <p:sp>
        <p:nvSpPr>
          <p:cNvPr id="13" name="Text 11"/>
          <p:cNvSpPr/>
          <p:nvPr/>
        </p:nvSpPr>
        <p:spPr>
          <a:xfrm>
            <a:off x="6583680" y="1463040"/>
            <a:ext cx="539496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Machine Learning (2017)</a:t>
            </a:r>
            <a:endParaRPr lang="en-US" sz="1600" dirty="0"/>
          </a:p>
        </p:txBody>
      </p:sp>
      <p:sp>
        <p:nvSpPr>
          <p:cNvPr id="14" name="Text 12"/>
          <p:cNvSpPr/>
          <p:nvPr/>
        </p:nvSpPr>
        <p:spPr>
          <a:xfrm>
            <a:off x="6812280" y="2103120"/>
            <a:ext cx="4937760" cy="3657600"/>
          </a:xfrm>
          <a:prstGeom prst="rect">
            <a:avLst/>
          </a:prstGeom>
          <a:noFill/>
          <a:ln/>
        </p:spPr>
        <p:txBody>
          <a:bodyPr wrap="square" rtlCol="0" anchor="t"/>
          <a:lstStyle/>
          <a:p>
            <a:pPr indent="0" marL="0">
              <a:buNone/>
            </a:pPr>
            <a:r>
              <a:rPr lang="en-US" sz="1400" b="1" dirty="0">
                <a:solidFill>
                  <a:srgbClr val="F96167"/>
                </a:solidFill>
                <a:latin typeface="Calibri" pitchFamily="34" charset="0"/>
                <a:ea typeface="Calibri" pitchFamily="34" charset="-122"/>
                <a:cs typeface="Calibri" pitchFamily="34" charset="-120"/>
              </a:rPr>
              <a:t>Feature i (ex: price_lag_1)</a:t>
            </a:r>
            <a:endParaRPr lang="en-US" sz="1400" dirty="0"/>
          </a:p>
          <a:p>
            <a:pPr indent="0" marL="0">
              <a:buNone/>
            </a:pPr>
            <a:r>
              <a:rPr lang="en-US" sz="1300" dirty="0">
                <a:solidFill>
                  <a:srgbClr val="6B7280"/>
                </a:solidFill>
                <a:latin typeface="Calibri" pitchFamily="34" charset="0"/>
                <a:ea typeface="Calibri" pitchFamily="34" charset="-122"/>
                <a:cs typeface="Calibri" pitchFamily="34" charset="-120"/>
              </a:rPr>
              <a:t>O variabila de intrare a modelului.</a:t>
            </a:r>
            <a:endParaRPr lang="en-US" sz="14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96167"/>
                </a:solidFill>
                <a:latin typeface="Calibri" pitchFamily="34" charset="0"/>
                <a:ea typeface="Calibri" pitchFamily="34" charset="-122"/>
                <a:cs typeface="Calibri" pitchFamily="34" charset="-120"/>
              </a:rPr>
              <a:t>Subset de features S</a:t>
            </a:r>
            <a:endParaRPr lang="en-US" sz="1400" dirty="0"/>
          </a:p>
          <a:p>
            <a:pPr indent="0" marL="0">
              <a:buNone/>
            </a:pPr>
            <a:r>
              <a:rPr lang="en-US" sz="1300" dirty="0">
                <a:solidFill>
                  <a:srgbClr val="6B7280"/>
                </a:solidFill>
                <a:latin typeface="Calibri" pitchFamily="34" charset="0"/>
                <a:ea typeface="Calibri" pitchFamily="34" charset="-122"/>
                <a:cs typeface="Calibri" pitchFamily="34" charset="-120"/>
              </a:rPr>
              <a:t>Un model care vede doar acel subset.</a:t>
            </a:r>
            <a:endParaRPr lang="en-US" sz="14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96167"/>
                </a:solidFill>
                <a:latin typeface="Calibri" pitchFamily="34" charset="0"/>
                <a:ea typeface="Calibri" pitchFamily="34" charset="-122"/>
                <a:cs typeface="Calibri" pitchFamily="34" charset="-120"/>
              </a:rPr>
              <a:t>Predictia E[f(x) | S]</a:t>
            </a:r>
            <a:endParaRPr lang="en-US" sz="1400" dirty="0"/>
          </a:p>
          <a:p>
            <a:pPr indent="0" marL="0">
              <a:buNone/>
            </a:pPr>
            <a:r>
              <a:rPr lang="en-US" sz="1300" dirty="0">
                <a:solidFill>
                  <a:srgbClr val="6B7280"/>
                </a:solidFill>
                <a:latin typeface="Calibri" pitchFamily="34" charset="0"/>
                <a:ea typeface="Calibri" pitchFamily="34" charset="-122"/>
                <a:cs typeface="Calibri" pitchFamily="34" charset="-120"/>
              </a:rPr>
              <a:t>Predictia conditionata pe features-urile din S.</a:t>
            </a:r>
            <a:endParaRPr lang="en-US" sz="14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96167"/>
                </a:solidFill>
                <a:latin typeface="Calibri" pitchFamily="34" charset="0"/>
                <a:ea typeface="Calibri" pitchFamily="34" charset="-122"/>
                <a:cs typeface="Calibri" pitchFamily="34" charset="-120"/>
              </a:rPr>
              <a:t>Valoarea SHAP</a:t>
            </a:r>
            <a:endParaRPr lang="en-US" sz="1400" dirty="0"/>
          </a:p>
          <a:p>
            <a:pPr indent="0" marL="0">
              <a:buNone/>
            </a:pPr>
            <a:r>
              <a:rPr lang="en-US" sz="1300" dirty="0">
                <a:solidFill>
                  <a:srgbClr val="6B7280"/>
                </a:solidFill>
                <a:latin typeface="Calibri" pitchFamily="34" charset="0"/>
                <a:ea typeface="Calibri" pitchFamily="34" charset="-122"/>
                <a:cs typeface="Calibri" pitchFamily="34" charset="-120"/>
              </a:rPr>
              <a:t>Contributia feature-ului i la predictie.</a:t>
            </a:r>
            <a:endParaRPr lang="en-US" sz="1400" dirty="0"/>
          </a:p>
        </p:txBody>
      </p:sp>
      <p:sp>
        <p:nvSpPr>
          <p:cNvPr id="15" name="Shape 13"/>
          <p:cNvSpPr/>
          <p:nvPr/>
        </p:nvSpPr>
        <p:spPr>
          <a:xfrm>
            <a:off x="548640" y="5852160"/>
            <a:ext cx="11430000" cy="594360"/>
          </a:xfrm>
          <a:prstGeom prst="rect">
            <a:avLst/>
          </a:prstGeom>
          <a:solidFill>
            <a:srgbClr val="F4F5F7"/>
          </a:solidFill>
          <a:ln w="12700">
            <a:solidFill>
              <a:srgbClr val="1C7293"/>
            </a:solidFill>
            <a:prstDash val="solid"/>
          </a:ln>
        </p:spPr>
      </p:sp>
      <p:sp>
        <p:nvSpPr>
          <p:cNvPr id="16" name="Text 14"/>
          <p:cNvSpPr/>
          <p:nvPr/>
        </p:nvSpPr>
        <p:spPr>
          <a:xfrm>
            <a:off x="548640" y="5852160"/>
            <a:ext cx="11430000" cy="594360"/>
          </a:xfrm>
          <a:prstGeom prst="rect">
            <a:avLst/>
          </a:prstGeom>
          <a:noFill/>
          <a:ln/>
        </p:spPr>
        <p:txBody>
          <a:bodyPr wrap="square" rtlCol="0" anchor="ctr"/>
          <a:lstStyle/>
          <a:p>
            <a:pPr algn="ctr" indent="0" marL="0">
              <a:buNone/>
            </a:pPr>
            <a:r>
              <a:rPr lang="en-US" sz="1400" b="1" i="1" dirty="0">
                <a:solidFill>
                  <a:srgbClr val="1C7293"/>
                </a:solidFill>
                <a:latin typeface="Calibri" pitchFamily="34" charset="0"/>
                <a:ea typeface="Calibri" pitchFamily="34" charset="-122"/>
                <a:cs typeface="Calibri" pitchFamily="34" charset="-120"/>
              </a:rPr>
              <a:t>Aceeasi formula matematica - doar interpretarea simbolurilor se schimba.</a:t>
            </a:r>
            <a:endParaRPr lang="en-US" sz="1400" dirty="0"/>
          </a:p>
        </p:txBody>
      </p:sp>
      <p:sp>
        <p:nvSpPr>
          <p:cNvPr id="17" name="Text 15"/>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18" name="Text 16"/>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TEHNOLOGIE</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Implementare: TreeSHAP pe XGBoost</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sp>
        <p:nvSpPr>
          <p:cNvPr id="6" name="Shape 4"/>
          <p:cNvSpPr/>
          <p:nvPr/>
        </p:nvSpPr>
        <p:spPr>
          <a:xfrm>
            <a:off x="548640" y="1554480"/>
            <a:ext cx="3611880" cy="4297680"/>
          </a:xfrm>
          <a:prstGeom prst="rect">
            <a:avLst/>
          </a:prstGeom>
          <a:solidFill>
            <a:srgbClr val="FFFFFF"/>
          </a:solidFill>
          <a:ln w="31750">
            <a:solidFill>
              <a:srgbClr val="065A82"/>
            </a:solidFill>
            <a:prstDash val="solid"/>
          </a:ln>
        </p:spPr>
      </p:sp>
      <p:sp>
        <p:nvSpPr>
          <p:cNvPr id="7" name="Shape 5"/>
          <p:cNvSpPr/>
          <p:nvPr/>
        </p:nvSpPr>
        <p:spPr>
          <a:xfrm>
            <a:off x="548640" y="1554480"/>
            <a:ext cx="3611880" cy="777240"/>
          </a:xfrm>
          <a:prstGeom prst="rect">
            <a:avLst/>
          </a:prstGeom>
          <a:solidFill>
            <a:srgbClr val="065A82"/>
          </a:solidFill>
          <a:ln w="12700">
            <a:solidFill>
              <a:srgbClr val="065A82"/>
            </a:solidFill>
            <a:prstDash val="solid"/>
          </a:ln>
        </p:spPr>
      </p:sp>
      <p:sp>
        <p:nvSpPr>
          <p:cNvPr id="8" name="Shape 6"/>
          <p:cNvSpPr/>
          <p:nvPr/>
        </p:nvSpPr>
        <p:spPr>
          <a:xfrm>
            <a:off x="777240" y="1691640"/>
            <a:ext cx="502920" cy="502920"/>
          </a:xfrm>
          <a:prstGeom prst="ellipse">
            <a:avLst/>
          </a:prstGeom>
          <a:solidFill>
            <a:srgbClr val="FFFFFF"/>
          </a:solidFill>
          <a:ln w="12700">
            <a:solidFill>
              <a:srgbClr val="FFFFFF"/>
            </a:solidFill>
            <a:prstDash val="solid"/>
          </a:ln>
        </p:spPr>
      </p:sp>
      <p:sp>
        <p:nvSpPr>
          <p:cNvPr id="9" name="Text 7"/>
          <p:cNvSpPr/>
          <p:nvPr/>
        </p:nvSpPr>
        <p:spPr>
          <a:xfrm>
            <a:off x="777240" y="1691640"/>
            <a:ext cx="502920" cy="502920"/>
          </a:xfrm>
          <a:prstGeom prst="rect">
            <a:avLst/>
          </a:prstGeom>
          <a:noFill/>
          <a:ln/>
        </p:spPr>
        <p:txBody>
          <a:bodyPr wrap="square" rtlCol="0" anchor="ctr"/>
          <a:lstStyle/>
          <a:p>
            <a:pPr algn="ctr" indent="0" marL="0">
              <a:buNone/>
            </a:pPr>
            <a:r>
              <a:rPr lang="en-US" sz="2200" b="1" dirty="0">
                <a:solidFill>
                  <a:srgbClr val="065A82"/>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1463040" y="1691640"/>
            <a:ext cx="2514600" cy="5029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TreeSHAP</a:t>
            </a:r>
            <a:endParaRPr lang="en-US" sz="1800" dirty="0"/>
          </a:p>
        </p:txBody>
      </p:sp>
      <p:sp>
        <p:nvSpPr>
          <p:cNvPr id="11" name="Text 9"/>
          <p:cNvSpPr/>
          <p:nvPr/>
        </p:nvSpPr>
        <p:spPr>
          <a:xfrm>
            <a:off x="777240" y="2560320"/>
            <a:ext cx="3154680" cy="1188720"/>
          </a:xfrm>
          <a:prstGeom prst="rect">
            <a:avLst/>
          </a:prstGeom>
          <a:noFill/>
          <a:ln/>
        </p:spPr>
        <p:txBody>
          <a:bodyPr wrap="square" rtlCol="0" anchor="t"/>
          <a:lstStyle/>
          <a:p>
            <a:pPr indent="0" marL="0">
              <a:buNone/>
            </a:pPr>
            <a:r>
              <a:rPr lang="en-US" sz="1300" dirty="0">
                <a:solidFill>
                  <a:srgbClr val="1F2937"/>
                </a:solidFill>
                <a:latin typeface="Calibri" pitchFamily="34" charset="0"/>
                <a:ea typeface="Calibri" pitchFamily="34" charset="-122"/>
                <a:cs typeface="Calibri" pitchFamily="34" charset="-120"/>
              </a:rPr>
              <a:t>Algoritm specializat pentru modele bazate pe arbori: XGBoost, LightGBM, Random Forest.</a:t>
            </a:r>
            <a:endParaRPr lang="en-US" sz="1300" dirty="0"/>
          </a:p>
        </p:txBody>
      </p:sp>
      <p:sp>
        <p:nvSpPr>
          <p:cNvPr id="12" name="Shape 10"/>
          <p:cNvSpPr/>
          <p:nvPr/>
        </p:nvSpPr>
        <p:spPr>
          <a:xfrm>
            <a:off x="731520" y="3840480"/>
            <a:ext cx="3246120" cy="1828800"/>
          </a:xfrm>
          <a:prstGeom prst="rect">
            <a:avLst/>
          </a:prstGeom>
          <a:solidFill>
            <a:srgbClr val="F4F5F7"/>
          </a:solidFill>
          <a:ln w="12700">
            <a:solidFill>
              <a:srgbClr val="E5E7EB"/>
            </a:solidFill>
            <a:prstDash val="solid"/>
          </a:ln>
        </p:spPr>
      </p:sp>
      <p:sp>
        <p:nvSpPr>
          <p:cNvPr id="13" name="Text 11"/>
          <p:cNvSpPr/>
          <p:nvPr/>
        </p:nvSpPr>
        <p:spPr>
          <a:xfrm>
            <a:off x="868680" y="3977640"/>
            <a:ext cx="3017520" cy="1645920"/>
          </a:xfrm>
          <a:prstGeom prst="rect">
            <a:avLst/>
          </a:prstGeom>
          <a:noFill/>
          <a:ln/>
        </p:spPr>
        <p:txBody>
          <a:bodyPr wrap="square" rtlCol="0" anchor="t"/>
          <a:lstStyle/>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Complexitate polinomiala: O(T · L · D²)</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Exact, nu aproximativ</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Lundberg et al., NeurIPS 2017</a:t>
            </a:r>
            <a:endParaRPr lang="en-US" sz="1200" dirty="0"/>
          </a:p>
        </p:txBody>
      </p:sp>
      <p:sp>
        <p:nvSpPr>
          <p:cNvPr id="14" name="Shape 12"/>
          <p:cNvSpPr/>
          <p:nvPr/>
        </p:nvSpPr>
        <p:spPr>
          <a:xfrm>
            <a:off x="4251960" y="1554480"/>
            <a:ext cx="3611880" cy="4297680"/>
          </a:xfrm>
          <a:prstGeom prst="rect">
            <a:avLst/>
          </a:prstGeom>
          <a:solidFill>
            <a:srgbClr val="FFFFFF"/>
          </a:solidFill>
          <a:ln w="31750">
            <a:solidFill>
              <a:srgbClr val="1C7293"/>
            </a:solidFill>
            <a:prstDash val="solid"/>
          </a:ln>
        </p:spPr>
      </p:sp>
      <p:sp>
        <p:nvSpPr>
          <p:cNvPr id="15" name="Shape 13"/>
          <p:cNvSpPr/>
          <p:nvPr/>
        </p:nvSpPr>
        <p:spPr>
          <a:xfrm>
            <a:off x="4251960" y="1554480"/>
            <a:ext cx="3611880" cy="777240"/>
          </a:xfrm>
          <a:prstGeom prst="rect">
            <a:avLst/>
          </a:prstGeom>
          <a:solidFill>
            <a:srgbClr val="1C7293"/>
          </a:solidFill>
          <a:ln w="12700">
            <a:solidFill>
              <a:srgbClr val="1C7293"/>
            </a:solidFill>
            <a:prstDash val="solid"/>
          </a:ln>
        </p:spPr>
      </p:sp>
      <p:sp>
        <p:nvSpPr>
          <p:cNvPr id="16" name="Shape 14"/>
          <p:cNvSpPr/>
          <p:nvPr/>
        </p:nvSpPr>
        <p:spPr>
          <a:xfrm>
            <a:off x="4480560" y="1691640"/>
            <a:ext cx="502920" cy="502920"/>
          </a:xfrm>
          <a:prstGeom prst="ellipse">
            <a:avLst/>
          </a:prstGeom>
          <a:solidFill>
            <a:srgbClr val="FFFFFF"/>
          </a:solidFill>
          <a:ln w="12700">
            <a:solidFill>
              <a:srgbClr val="FFFFFF"/>
            </a:solidFill>
            <a:prstDash val="solid"/>
          </a:ln>
        </p:spPr>
      </p:sp>
      <p:sp>
        <p:nvSpPr>
          <p:cNvPr id="17" name="Text 15"/>
          <p:cNvSpPr/>
          <p:nvPr/>
        </p:nvSpPr>
        <p:spPr>
          <a:xfrm>
            <a:off x="4480560" y="1691640"/>
            <a:ext cx="502920" cy="502920"/>
          </a:xfrm>
          <a:prstGeom prst="rect">
            <a:avLst/>
          </a:prstGeom>
          <a:noFill/>
          <a:ln/>
        </p:spPr>
        <p:txBody>
          <a:bodyPr wrap="square"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2</a:t>
            </a:r>
            <a:endParaRPr lang="en-US" sz="2200" dirty="0"/>
          </a:p>
        </p:txBody>
      </p:sp>
      <p:sp>
        <p:nvSpPr>
          <p:cNvPr id="18" name="Text 16"/>
          <p:cNvSpPr/>
          <p:nvPr/>
        </p:nvSpPr>
        <p:spPr>
          <a:xfrm>
            <a:off x="5166360" y="1691640"/>
            <a:ext cx="2514600" cy="5029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Pachet shap 0.49</a:t>
            </a:r>
            <a:endParaRPr lang="en-US" sz="1800" dirty="0"/>
          </a:p>
        </p:txBody>
      </p:sp>
      <p:sp>
        <p:nvSpPr>
          <p:cNvPr id="19" name="Text 17"/>
          <p:cNvSpPr/>
          <p:nvPr/>
        </p:nvSpPr>
        <p:spPr>
          <a:xfrm>
            <a:off x="4480560" y="2560320"/>
            <a:ext cx="3154680" cy="1188720"/>
          </a:xfrm>
          <a:prstGeom prst="rect">
            <a:avLst/>
          </a:prstGeom>
          <a:noFill/>
          <a:ln/>
        </p:spPr>
        <p:txBody>
          <a:bodyPr wrap="square" rtlCol="0" anchor="t"/>
          <a:lstStyle/>
          <a:p>
            <a:pPr indent="0" marL="0">
              <a:buNone/>
            </a:pPr>
            <a:r>
              <a:rPr lang="en-US" sz="1300" dirty="0">
                <a:solidFill>
                  <a:srgbClr val="1F2937"/>
                </a:solidFill>
                <a:latin typeface="Calibri" pitchFamily="34" charset="0"/>
                <a:ea typeface="Calibri" pitchFamily="34" charset="-122"/>
                <a:cs typeface="Calibri" pitchFamily="34" charset="-120"/>
              </a:rPr>
              <a:t>Implementarea de referinta in Python, instalabila prin pip.</a:t>
            </a:r>
            <a:endParaRPr lang="en-US" sz="1300" dirty="0"/>
          </a:p>
        </p:txBody>
      </p:sp>
      <p:sp>
        <p:nvSpPr>
          <p:cNvPr id="20" name="Shape 18"/>
          <p:cNvSpPr/>
          <p:nvPr/>
        </p:nvSpPr>
        <p:spPr>
          <a:xfrm>
            <a:off x="4434840" y="3840480"/>
            <a:ext cx="3246120" cy="1828800"/>
          </a:xfrm>
          <a:prstGeom prst="rect">
            <a:avLst/>
          </a:prstGeom>
          <a:solidFill>
            <a:srgbClr val="F4F5F7"/>
          </a:solidFill>
          <a:ln w="12700">
            <a:solidFill>
              <a:srgbClr val="E5E7EB"/>
            </a:solidFill>
            <a:prstDash val="solid"/>
          </a:ln>
        </p:spPr>
      </p:sp>
      <p:sp>
        <p:nvSpPr>
          <p:cNvPr id="21" name="Text 19"/>
          <p:cNvSpPr/>
          <p:nvPr/>
        </p:nvSpPr>
        <p:spPr>
          <a:xfrm>
            <a:off x="4572000" y="3977640"/>
            <a:ext cx="3017520" cy="1645920"/>
          </a:xfrm>
          <a:prstGeom prst="rect">
            <a:avLst/>
          </a:prstGeom>
          <a:noFill/>
          <a:ln/>
        </p:spPr>
        <p:txBody>
          <a:bodyPr wrap="square" rtlCol="0" anchor="t"/>
          <a:lstStyle/>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TreeExplainer pentru arbori</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KernelExplainer model-agnostic</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Grafice integrate: summary, waterfall, beeswarm</a:t>
            </a:r>
            <a:endParaRPr lang="en-US" sz="1200" dirty="0"/>
          </a:p>
        </p:txBody>
      </p:sp>
      <p:sp>
        <p:nvSpPr>
          <p:cNvPr id="22" name="Shape 20"/>
          <p:cNvSpPr/>
          <p:nvPr/>
        </p:nvSpPr>
        <p:spPr>
          <a:xfrm>
            <a:off x="7955280" y="1554480"/>
            <a:ext cx="3611880" cy="4297680"/>
          </a:xfrm>
          <a:prstGeom prst="rect">
            <a:avLst/>
          </a:prstGeom>
          <a:solidFill>
            <a:srgbClr val="FFFFFF"/>
          </a:solidFill>
          <a:ln w="31750">
            <a:solidFill>
              <a:srgbClr val="F96167"/>
            </a:solidFill>
            <a:prstDash val="solid"/>
          </a:ln>
        </p:spPr>
      </p:sp>
      <p:sp>
        <p:nvSpPr>
          <p:cNvPr id="23" name="Shape 21"/>
          <p:cNvSpPr/>
          <p:nvPr/>
        </p:nvSpPr>
        <p:spPr>
          <a:xfrm>
            <a:off x="7955280" y="1554480"/>
            <a:ext cx="3611880" cy="777240"/>
          </a:xfrm>
          <a:prstGeom prst="rect">
            <a:avLst/>
          </a:prstGeom>
          <a:solidFill>
            <a:srgbClr val="F96167"/>
          </a:solidFill>
          <a:ln w="12700">
            <a:solidFill>
              <a:srgbClr val="F96167"/>
            </a:solidFill>
            <a:prstDash val="solid"/>
          </a:ln>
        </p:spPr>
      </p:sp>
      <p:sp>
        <p:nvSpPr>
          <p:cNvPr id="24" name="Shape 22"/>
          <p:cNvSpPr/>
          <p:nvPr/>
        </p:nvSpPr>
        <p:spPr>
          <a:xfrm>
            <a:off x="8183880" y="1691640"/>
            <a:ext cx="502920" cy="502920"/>
          </a:xfrm>
          <a:prstGeom prst="ellipse">
            <a:avLst/>
          </a:prstGeom>
          <a:solidFill>
            <a:srgbClr val="FFFFFF"/>
          </a:solidFill>
          <a:ln w="12700">
            <a:solidFill>
              <a:srgbClr val="FFFFFF"/>
            </a:solidFill>
            <a:prstDash val="solid"/>
          </a:ln>
        </p:spPr>
      </p:sp>
      <p:sp>
        <p:nvSpPr>
          <p:cNvPr id="25" name="Text 23"/>
          <p:cNvSpPr/>
          <p:nvPr/>
        </p:nvSpPr>
        <p:spPr>
          <a:xfrm>
            <a:off x="8183880" y="1691640"/>
            <a:ext cx="502920" cy="502920"/>
          </a:xfrm>
          <a:prstGeom prst="rect">
            <a:avLst/>
          </a:prstGeom>
          <a:noFill/>
          <a:ln/>
        </p:spPr>
        <p:txBody>
          <a:bodyPr wrap="square" rtlCol="0" anchor="ctr"/>
          <a:lstStyle/>
          <a:p>
            <a:pPr algn="ctr" indent="0" marL="0">
              <a:buNone/>
            </a:pPr>
            <a:r>
              <a:rPr lang="en-US" sz="2200" b="1" dirty="0">
                <a:solidFill>
                  <a:srgbClr val="F96167"/>
                </a:solidFill>
                <a:latin typeface="Calibri" pitchFamily="34" charset="0"/>
                <a:ea typeface="Calibri" pitchFamily="34" charset="-122"/>
                <a:cs typeface="Calibri" pitchFamily="34" charset="-120"/>
              </a:rPr>
              <a:t>3</a:t>
            </a:r>
            <a:endParaRPr lang="en-US" sz="2200" dirty="0"/>
          </a:p>
        </p:txBody>
      </p:sp>
      <p:sp>
        <p:nvSpPr>
          <p:cNvPr id="26" name="Text 24"/>
          <p:cNvSpPr/>
          <p:nvPr/>
        </p:nvSpPr>
        <p:spPr>
          <a:xfrm>
            <a:off x="8869680" y="1691640"/>
            <a:ext cx="2514600" cy="5029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Provocare: XGBoost 3.x</a:t>
            </a:r>
            <a:endParaRPr lang="en-US" sz="1800" dirty="0"/>
          </a:p>
        </p:txBody>
      </p:sp>
      <p:sp>
        <p:nvSpPr>
          <p:cNvPr id="27" name="Text 25"/>
          <p:cNvSpPr/>
          <p:nvPr/>
        </p:nvSpPr>
        <p:spPr>
          <a:xfrm>
            <a:off x="8183880" y="2560320"/>
            <a:ext cx="3154680" cy="1188720"/>
          </a:xfrm>
          <a:prstGeom prst="rect">
            <a:avLst/>
          </a:prstGeom>
          <a:noFill/>
          <a:ln/>
        </p:spPr>
        <p:txBody>
          <a:bodyPr wrap="square" rtlCol="0" anchor="t"/>
          <a:lstStyle/>
          <a:p>
            <a:pPr indent="0" marL="0">
              <a:buNone/>
            </a:pPr>
            <a:r>
              <a:rPr lang="en-US" sz="1300" dirty="0">
                <a:solidFill>
                  <a:srgbClr val="1F2937"/>
                </a:solidFill>
                <a:latin typeface="Calibri" pitchFamily="34" charset="0"/>
                <a:ea typeface="Calibri" pitchFamily="34" charset="-122"/>
                <a:cs typeface="Calibri" pitchFamily="34" charset="-120"/>
              </a:rPr>
              <a:t>shap.TreeExplainer este incompatibil cu XGBoost 3.x (ValueError la conversie).</a:t>
            </a:r>
            <a:endParaRPr lang="en-US" sz="1300" dirty="0"/>
          </a:p>
        </p:txBody>
      </p:sp>
      <p:sp>
        <p:nvSpPr>
          <p:cNvPr id="28" name="Shape 26"/>
          <p:cNvSpPr/>
          <p:nvPr/>
        </p:nvSpPr>
        <p:spPr>
          <a:xfrm>
            <a:off x="8138160" y="3840480"/>
            <a:ext cx="3246120" cy="1828800"/>
          </a:xfrm>
          <a:prstGeom prst="rect">
            <a:avLst/>
          </a:prstGeom>
          <a:solidFill>
            <a:srgbClr val="F4F5F7"/>
          </a:solidFill>
          <a:ln w="12700">
            <a:solidFill>
              <a:srgbClr val="E5E7EB"/>
            </a:solidFill>
            <a:prstDash val="solid"/>
          </a:ln>
        </p:spPr>
      </p:sp>
      <p:sp>
        <p:nvSpPr>
          <p:cNvPr id="29" name="Text 27"/>
          <p:cNvSpPr/>
          <p:nvPr/>
        </p:nvSpPr>
        <p:spPr>
          <a:xfrm>
            <a:off x="8275320" y="3977640"/>
            <a:ext cx="3017520" cy="1645920"/>
          </a:xfrm>
          <a:prstGeom prst="rect">
            <a:avLst/>
          </a:prstGeom>
          <a:noFill/>
          <a:ln/>
        </p:spPr>
        <p:txBody>
          <a:bodyPr wrap="square" rtlCol="0" anchor="t"/>
          <a:lstStyle/>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Solutie: API-ul native XGBoost</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booster.predict(pred_contribs=True)</a:t>
            </a:r>
            <a:endParaRPr lang="en-US" sz="1200" dirty="0"/>
          </a:p>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Returneaza valori SHAP identice</a:t>
            </a:r>
            <a:endParaRPr lang="en-US" sz="1200" dirty="0"/>
          </a:p>
        </p:txBody>
      </p:sp>
      <p:sp>
        <p:nvSpPr>
          <p:cNvPr id="30" name="Text 28"/>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31" name="Text 29"/>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APLICATIE PRACTICA</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Rezultate proprii: importanta globala features Spania</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pic>
        <p:nvPicPr>
          <p:cNvPr id="6" name="Image 0" descr="/sessions/vibrant-elegant-pasteur/mnt/Disertatie_AI_Platform/reports/figures/fig_scss_shap_spania.png">    </p:cNvPr>
          <p:cNvPicPr>
            <a:picLocks noChangeAspect="1"/>
          </p:cNvPicPr>
          <p:nvPr/>
        </p:nvPicPr>
        <p:blipFill>
          <a:blip r:embed="rId1"/>
          <a:srcRect l="0" r="0" t="0" b="0"/>
          <a:stretch/>
        </p:blipFill>
        <p:spPr>
          <a:xfrm>
            <a:off x="365760" y="1417320"/>
            <a:ext cx="7315200" cy="5029200"/>
          </a:xfrm>
          <a:prstGeom prst="rect">
            <a:avLst/>
          </a:prstGeom>
        </p:spPr>
      </p:pic>
      <p:sp>
        <p:nvSpPr>
          <p:cNvPr id="7" name="Shape 4"/>
          <p:cNvSpPr/>
          <p:nvPr/>
        </p:nvSpPr>
        <p:spPr>
          <a:xfrm>
            <a:off x="7955280" y="1554480"/>
            <a:ext cx="4023360" cy="4846320"/>
          </a:xfrm>
          <a:prstGeom prst="rect">
            <a:avLst/>
          </a:prstGeom>
          <a:solidFill>
            <a:srgbClr val="F4F5F7"/>
          </a:solidFill>
          <a:ln w="12700">
            <a:solidFill>
              <a:srgbClr val="E5E7EB"/>
            </a:solidFill>
            <a:prstDash val="solid"/>
          </a:ln>
        </p:spPr>
      </p:sp>
      <p:sp>
        <p:nvSpPr>
          <p:cNvPr id="8" name="Shape 5"/>
          <p:cNvSpPr/>
          <p:nvPr/>
        </p:nvSpPr>
        <p:spPr>
          <a:xfrm>
            <a:off x="7955280" y="1554480"/>
            <a:ext cx="109728" cy="4846320"/>
          </a:xfrm>
          <a:prstGeom prst="rect">
            <a:avLst/>
          </a:prstGeom>
          <a:solidFill>
            <a:srgbClr val="F96167"/>
          </a:solidFill>
          <a:ln w="12700">
            <a:solidFill>
              <a:srgbClr val="F96167"/>
            </a:solidFill>
            <a:prstDash val="solid"/>
          </a:ln>
        </p:spPr>
      </p:sp>
      <p:sp>
        <p:nvSpPr>
          <p:cNvPr id="9" name="Text 6"/>
          <p:cNvSpPr/>
          <p:nvPr/>
        </p:nvSpPr>
        <p:spPr>
          <a:xfrm>
            <a:off x="8183880" y="1691640"/>
            <a:ext cx="3657600" cy="365760"/>
          </a:xfrm>
          <a:prstGeom prst="rect">
            <a:avLst/>
          </a:prstGeom>
          <a:noFill/>
          <a:ln/>
        </p:spPr>
        <p:txBody>
          <a:bodyPr wrap="square" rtlCol="0" anchor="ctr"/>
          <a:lstStyle/>
          <a:p>
            <a:pPr indent="0" marL="0">
              <a:buNone/>
            </a:pPr>
            <a:r>
              <a:rPr lang="en-US" sz="1600" b="1" dirty="0">
                <a:solidFill>
                  <a:srgbClr val="F96167"/>
                </a:solidFill>
                <a:latin typeface="Calibri" pitchFamily="34" charset="0"/>
                <a:ea typeface="Calibri" pitchFamily="34" charset="-122"/>
                <a:cs typeface="Calibri" pitchFamily="34" charset="-120"/>
              </a:rPr>
              <a:t>Insighturi</a:t>
            </a:r>
            <a:endParaRPr lang="en-US" sz="1600" dirty="0"/>
          </a:p>
        </p:txBody>
      </p:sp>
      <p:sp>
        <p:nvSpPr>
          <p:cNvPr id="10" name="Text 7"/>
          <p:cNvSpPr/>
          <p:nvPr/>
        </p:nvSpPr>
        <p:spPr>
          <a:xfrm>
            <a:off x="8183880" y="2103120"/>
            <a:ext cx="3657600" cy="4206240"/>
          </a:xfrm>
          <a:prstGeom prst="rect">
            <a:avLst/>
          </a:prstGeom>
          <a:noFill/>
          <a:ln/>
        </p:spPr>
        <p:txBody>
          <a:bodyPr wrap="square"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price_lag_1 domina:</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9.09 EUR/MWh impact mediu - de 6x mai mult decat urmatorul feature.</a:t>
            </a:r>
            <a:endParaRPr lang="en-US" sz="13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Memorie scurta:</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roll_mean_3 + price_day_ahead = signal de scurta perioada (urmatoarele 24h).</a:t>
            </a:r>
            <a:endParaRPr lang="en-US" sz="13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Memorie saptamanala:</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lag_168 (= 7 zile) prezent in top - exista un pattern saptamanal pe piata Spania.</a:t>
            </a:r>
            <a:endParaRPr lang="en-US" sz="13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Sezonalitate intra-zi:</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hour_cos / hour_sin contribuie negativ (scad pretul in unele ore - noaptea).</a:t>
            </a:r>
            <a:endParaRPr lang="en-US" sz="13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F96167"/>
                </a:solidFill>
                <a:latin typeface="Calibri" pitchFamily="34" charset="0"/>
                <a:ea typeface="Calibri" pitchFamily="34" charset="-122"/>
                <a:cs typeface="Calibri" pitchFamily="34" charset="-120"/>
              </a:rPr>
              <a:t>Suprize:</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wind_speed apare in top 15 - vantul ieftineste pretul (energia eoliana intra in retea).</a:t>
            </a:r>
            <a:endParaRPr lang="en-US" sz="1300" dirty="0"/>
          </a:p>
        </p:txBody>
      </p:sp>
      <p:sp>
        <p:nvSpPr>
          <p:cNvPr id="11" name="Text 8"/>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12" name="Text 9"/>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LOCAL EXPLAINABILITY</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Decompunerea unei predictii individuale</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pic>
        <p:nvPicPr>
          <p:cNvPr id="6" name="Image 0" descr="/sessions/vibrant-elegant-pasteur/mnt/Disertatie_AI_Platform/reports/figures/fig_scss_waterfall.png">    </p:cNvPr>
          <p:cNvPicPr>
            <a:picLocks noChangeAspect="1"/>
          </p:cNvPicPr>
          <p:nvPr/>
        </p:nvPicPr>
        <p:blipFill>
          <a:blip r:embed="rId1"/>
          <a:srcRect l="0" r="0" t="0" b="0"/>
          <a:stretch/>
        </p:blipFill>
        <p:spPr>
          <a:xfrm>
            <a:off x="365760" y="1417320"/>
            <a:ext cx="7772400" cy="4572000"/>
          </a:xfrm>
          <a:prstGeom prst="rect">
            <a:avLst/>
          </a:prstGeom>
        </p:spPr>
      </p:pic>
      <p:sp>
        <p:nvSpPr>
          <p:cNvPr id="7" name="Shape 4"/>
          <p:cNvSpPr/>
          <p:nvPr/>
        </p:nvSpPr>
        <p:spPr>
          <a:xfrm>
            <a:off x="8412480" y="1554480"/>
            <a:ext cx="3566160" cy="4846320"/>
          </a:xfrm>
          <a:prstGeom prst="rect">
            <a:avLst/>
          </a:prstGeom>
          <a:solidFill>
            <a:srgbClr val="F4F5F7"/>
          </a:solidFill>
          <a:ln w="12700">
            <a:solidFill>
              <a:srgbClr val="E5E7EB"/>
            </a:solidFill>
            <a:prstDash val="solid"/>
          </a:ln>
        </p:spPr>
      </p:sp>
      <p:sp>
        <p:nvSpPr>
          <p:cNvPr id="8" name="Shape 5"/>
          <p:cNvSpPr/>
          <p:nvPr/>
        </p:nvSpPr>
        <p:spPr>
          <a:xfrm>
            <a:off x="8412480" y="1554480"/>
            <a:ext cx="109728" cy="4846320"/>
          </a:xfrm>
          <a:prstGeom prst="rect">
            <a:avLst/>
          </a:prstGeom>
          <a:solidFill>
            <a:srgbClr val="065A82"/>
          </a:solidFill>
          <a:ln w="12700">
            <a:solidFill>
              <a:srgbClr val="065A82"/>
            </a:solidFill>
            <a:prstDash val="solid"/>
          </a:ln>
        </p:spPr>
      </p:sp>
      <p:sp>
        <p:nvSpPr>
          <p:cNvPr id="9" name="Text 6"/>
          <p:cNvSpPr/>
          <p:nvPr/>
        </p:nvSpPr>
        <p:spPr>
          <a:xfrm>
            <a:off x="8641080" y="1691640"/>
            <a:ext cx="3291840" cy="36576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Citirea graficului</a:t>
            </a:r>
            <a:endParaRPr lang="en-US" sz="1500" dirty="0"/>
          </a:p>
        </p:txBody>
      </p:sp>
      <p:sp>
        <p:nvSpPr>
          <p:cNvPr id="10" name="Text 7"/>
          <p:cNvSpPr/>
          <p:nvPr/>
        </p:nvSpPr>
        <p:spPr>
          <a:xfrm>
            <a:off x="8641080" y="2103120"/>
            <a:ext cx="3291840" cy="4206240"/>
          </a:xfrm>
          <a:prstGeom prst="rect">
            <a:avLst/>
          </a:prstGeom>
          <a:noFill/>
          <a:ln/>
        </p:spPr>
        <p:txBody>
          <a:bodyPr wrap="square" rtlCol="0" anchor="t"/>
          <a:lstStyle/>
          <a:p>
            <a:pPr indent="0" marL="0">
              <a:buNone/>
            </a:pPr>
            <a:r>
              <a:rPr lang="en-US" sz="1300" b="1" dirty="0">
                <a:solidFill>
                  <a:srgbClr val="065A82"/>
                </a:solidFill>
                <a:latin typeface="Calibri" pitchFamily="34" charset="0"/>
                <a:ea typeface="Calibri" pitchFamily="34" charset="-122"/>
                <a:cs typeface="Calibri" pitchFamily="34" charset="-120"/>
              </a:rPr>
              <a:t>1. </a:t>
            </a:r>
            <a:pPr indent="0" marL="0">
              <a:buNone/>
            </a:pPr>
            <a:r>
              <a:rPr lang="en-US" sz="1300" b="1" dirty="0">
                <a:solidFill>
                  <a:srgbClr val="1F2937"/>
                </a:solidFill>
                <a:latin typeface="Calibri" pitchFamily="34" charset="0"/>
                <a:ea typeface="Calibri" pitchFamily="34" charset="-122"/>
                <a:cs typeface="Calibri" pitchFamily="34" charset="-120"/>
              </a:rPr>
              <a:t>Pornim de la baseline:</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media predictiilor = 57.8 EUR/MWh</a:t>
            </a:r>
            <a:endParaRPr lang="en-US" sz="13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065A82"/>
                </a:solidFill>
                <a:latin typeface="Calibri" pitchFamily="34" charset="0"/>
                <a:ea typeface="Calibri" pitchFamily="34" charset="-122"/>
                <a:cs typeface="Calibri" pitchFamily="34" charset="-120"/>
              </a:rPr>
              <a:t>2. </a:t>
            </a:r>
            <a:pPr indent="0" marL="0">
              <a:buNone/>
            </a:pPr>
            <a:r>
              <a:rPr lang="en-US" sz="1300" b="1" dirty="0">
                <a:solidFill>
                  <a:srgbClr val="1F2937"/>
                </a:solidFill>
                <a:latin typeface="Calibri" pitchFamily="34" charset="0"/>
                <a:ea typeface="Calibri" pitchFamily="34" charset="-122"/>
                <a:cs typeface="Calibri" pitchFamily="34" charset="-120"/>
              </a:rPr>
              <a:t>Fiecare feature contribuie:</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albastru = creste pretul,</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coral = scade pretul.</a:t>
            </a:r>
            <a:endParaRPr lang="en-US" sz="13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065A82"/>
                </a:solidFill>
                <a:latin typeface="Calibri" pitchFamily="34" charset="0"/>
                <a:ea typeface="Calibri" pitchFamily="34" charset="-122"/>
                <a:cs typeface="Calibri" pitchFamily="34" charset="-120"/>
              </a:rPr>
              <a:t>3. </a:t>
            </a:r>
            <a:pPr indent="0" marL="0">
              <a:buNone/>
            </a:pPr>
            <a:r>
              <a:rPr lang="en-US" sz="1300" b="1" dirty="0">
                <a:solidFill>
                  <a:srgbClr val="1F2937"/>
                </a:solidFill>
                <a:latin typeface="Calibri" pitchFamily="34" charset="0"/>
                <a:ea typeface="Calibri" pitchFamily="34" charset="-122"/>
                <a:cs typeface="Calibri" pitchFamily="34" charset="-120"/>
              </a:rPr>
              <a:t>Predictia finala = 64.9 EUR</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Total: +7.1 fata de medie.</a:t>
            </a:r>
            <a:endParaRPr lang="en-US" sz="13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F96167"/>
                </a:solidFill>
                <a:latin typeface="Calibri" pitchFamily="34" charset="0"/>
                <a:ea typeface="Calibri" pitchFamily="34" charset="-122"/>
                <a:cs typeface="Calibri" pitchFamily="34" charset="-120"/>
              </a:rPr>
              <a:t>Avantajul:</a:t>
            </a:r>
            <a:endParaRPr lang="en-US" sz="1300" dirty="0"/>
          </a:p>
          <a:p>
            <a:pPr indent="0" marL="0">
              <a:buNone/>
            </a:pPr>
            <a:r>
              <a:rPr lang="en-US" sz="1200" dirty="0">
                <a:solidFill>
                  <a:srgbClr val="6B7280"/>
                </a:solidFill>
                <a:latin typeface="Calibri" pitchFamily="34" charset="0"/>
                <a:ea typeface="Calibri" pitchFamily="34" charset="-122"/>
                <a:cs typeface="Calibri" pitchFamily="34" charset="-120"/>
              </a:rPr>
              <a:t>Spunem unui operator energetic EXACT de ce modelul a estimat 64.9 EUR pentru acea ora.</a:t>
            </a:r>
            <a:endParaRPr lang="en-US" sz="1300" dirty="0"/>
          </a:p>
        </p:txBody>
      </p:sp>
      <p:sp>
        <p:nvSpPr>
          <p:cNvPr id="11" name="Text 8"/>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12" name="Text 9"/>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065A82"/>
          </a:solidFill>
          <a:ln w="12700">
            <a:solidFill>
              <a:srgbClr val="065A82"/>
            </a:solidFill>
            <a:prstDash val="solid"/>
          </a:ln>
        </p:spPr>
      </p:sp>
      <p:sp>
        <p:nvSpPr>
          <p:cNvPr id="3" name="Text 1"/>
          <p:cNvSpPr/>
          <p:nvPr/>
        </p:nvSpPr>
        <p:spPr>
          <a:xfrm>
            <a:off x="457200" y="274320"/>
            <a:ext cx="11247120" cy="320040"/>
          </a:xfrm>
          <a:prstGeom prst="rect">
            <a:avLst/>
          </a:prstGeom>
          <a:noFill/>
          <a:ln/>
        </p:spPr>
        <p:txBody>
          <a:bodyPr wrap="square" lIns="0" tIns="0" rIns="0" bIns="0" rtlCol="0" anchor="ctr"/>
          <a:lstStyle/>
          <a:p>
            <a:pPr indent="0" marL="0">
              <a:buNone/>
            </a:pPr>
            <a:r>
              <a:rPr lang="en-US" sz="1100" b="1" spc="600" kern="0" dirty="0">
                <a:solidFill>
                  <a:srgbClr val="F96167"/>
                </a:solidFill>
                <a:latin typeface="Calibri" pitchFamily="34" charset="0"/>
                <a:ea typeface="Calibri" pitchFamily="34" charset="-122"/>
                <a:cs typeface="Calibri" pitchFamily="34" charset="-120"/>
              </a:rPr>
              <a:t>ANALIZA CRITICA</a:t>
            </a:r>
            <a:endParaRPr lang="en-US" sz="1100" dirty="0"/>
          </a:p>
        </p:txBody>
      </p:sp>
      <p:sp>
        <p:nvSpPr>
          <p:cNvPr id="4" name="Text 2"/>
          <p:cNvSpPr/>
          <p:nvPr/>
        </p:nvSpPr>
        <p:spPr>
          <a:xfrm>
            <a:off x="457200" y="594360"/>
            <a:ext cx="11247120" cy="640080"/>
          </a:xfrm>
          <a:prstGeom prst="rect">
            <a:avLst/>
          </a:prstGeom>
          <a:noFill/>
          <a:ln/>
        </p:spPr>
        <p:txBody>
          <a:bodyPr wrap="square" lIns="0" tIns="0" rIns="0" bIns="0" rtlCol="0" anchor="t"/>
          <a:lstStyle/>
          <a:p>
            <a:pPr indent="0" marL="0">
              <a:buNone/>
            </a:pPr>
            <a:r>
              <a:rPr lang="en-US" sz="2800" b="1" dirty="0">
                <a:solidFill>
                  <a:srgbClr val="1F2937"/>
                </a:solidFill>
                <a:latin typeface="Calibri" pitchFamily="34" charset="0"/>
                <a:ea typeface="Calibri" pitchFamily="34" charset="-122"/>
                <a:cs typeface="Calibri" pitchFamily="34" charset="-120"/>
              </a:rPr>
              <a:t>Avantaje si limitari ale SHAP</a:t>
            </a:r>
            <a:endParaRPr lang="en-US" sz="2800" dirty="0"/>
          </a:p>
        </p:txBody>
      </p:sp>
      <p:sp>
        <p:nvSpPr>
          <p:cNvPr id="5" name="Shape 3"/>
          <p:cNvSpPr/>
          <p:nvPr/>
        </p:nvSpPr>
        <p:spPr>
          <a:xfrm>
            <a:off x="457200" y="1280160"/>
            <a:ext cx="1097280" cy="36576"/>
          </a:xfrm>
          <a:prstGeom prst="rect">
            <a:avLst/>
          </a:prstGeom>
          <a:solidFill>
            <a:srgbClr val="F96167"/>
          </a:solidFill>
          <a:ln w="12700">
            <a:solidFill>
              <a:srgbClr val="F96167"/>
            </a:solidFill>
            <a:prstDash val="solid"/>
          </a:ln>
        </p:spPr>
      </p:sp>
      <p:sp>
        <p:nvSpPr>
          <p:cNvPr id="6" name="Shape 4"/>
          <p:cNvSpPr/>
          <p:nvPr/>
        </p:nvSpPr>
        <p:spPr>
          <a:xfrm>
            <a:off x="548640" y="1463040"/>
            <a:ext cx="5394960" cy="4846320"/>
          </a:xfrm>
          <a:prstGeom prst="rect">
            <a:avLst/>
          </a:prstGeom>
          <a:solidFill>
            <a:srgbClr val="FFFFFF"/>
          </a:solidFill>
          <a:ln w="25400">
            <a:solidFill>
              <a:srgbClr val="065A82"/>
            </a:solidFill>
            <a:prstDash val="solid"/>
          </a:ln>
        </p:spPr>
      </p:sp>
      <p:sp>
        <p:nvSpPr>
          <p:cNvPr id="7" name="Shape 5"/>
          <p:cNvSpPr/>
          <p:nvPr/>
        </p:nvSpPr>
        <p:spPr>
          <a:xfrm>
            <a:off x="548640" y="1463040"/>
            <a:ext cx="5394960" cy="502920"/>
          </a:xfrm>
          <a:prstGeom prst="rect">
            <a:avLst/>
          </a:prstGeom>
          <a:solidFill>
            <a:srgbClr val="065A82"/>
          </a:solidFill>
          <a:ln w="12700">
            <a:solidFill>
              <a:srgbClr val="065A82"/>
            </a:solidFill>
            <a:prstDash val="solid"/>
          </a:ln>
        </p:spPr>
      </p:sp>
      <p:sp>
        <p:nvSpPr>
          <p:cNvPr id="8" name="Text 6"/>
          <p:cNvSpPr/>
          <p:nvPr/>
        </p:nvSpPr>
        <p:spPr>
          <a:xfrm>
            <a:off x="548640" y="1463040"/>
            <a:ext cx="539496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Avantaje</a:t>
            </a:r>
            <a:endParaRPr lang="en-US" sz="1800" dirty="0"/>
          </a:p>
        </p:txBody>
      </p:sp>
      <p:sp>
        <p:nvSpPr>
          <p:cNvPr id="9" name="Text 7"/>
          <p:cNvSpPr/>
          <p:nvPr/>
        </p:nvSpPr>
        <p:spPr>
          <a:xfrm>
            <a:off x="777240" y="2103120"/>
            <a:ext cx="4937760" cy="4114800"/>
          </a:xfrm>
          <a:prstGeom prst="rect">
            <a:avLst/>
          </a:prstGeom>
          <a:noFill/>
          <a:ln/>
        </p:spPr>
        <p:txBody>
          <a:bodyPr wrap="square" rtlCol="0" anchor="t"/>
          <a:lstStyle/>
          <a:p>
            <a:pPr indent="0" marL="0">
              <a:buNone/>
            </a:pPr>
            <a:r>
              <a:rPr lang="en-US" sz="1400" b="1" dirty="0">
                <a:solidFill>
                  <a:srgbClr val="065A82"/>
                </a:solidFill>
                <a:latin typeface="Calibri" pitchFamily="34" charset="0"/>
                <a:ea typeface="Calibri" pitchFamily="34" charset="-122"/>
                <a:cs typeface="Calibri" pitchFamily="34" charset="-120"/>
              </a:rPr>
              <a:t>Garantii teoretice</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Singurul algoritm care satisface toate 4 axiomele. Nu e euristica.</a:t>
            </a:r>
            <a:endParaRPr lang="en-US" sz="14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65A82"/>
                </a:solidFill>
                <a:latin typeface="Calibri" pitchFamily="34" charset="0"/>
                <a:ea typeface="Calibri" pitchFamily="34" charset="-122"/>
                <a:cs typeface="Calibri" pitchFamily="34" charset="-120"/>
              </a:rPr>
              <a:t>Consistenta</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Daca features X devine mai important, valoarea SHAP creste - garantat.</a:t>
            </a:r>
            <a:endParaRPr lang="en-US" sz="14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65A82"/>
                </a:solidFill>
                <a:latin typeface="Calibri" pitchFamily="34" charset="0"/>
                <a:ea typeface="Calibri" pitchFamily="34" charset="-122"/>
                <a:cs typeface="Calibri" pitchFamily="34" charset="-120"/>
              </a:rPr>
              <a:t>Global + local</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Aceeasi tehnica - importanta globala SI explicatii individuale.</a:t>
            </a:r>
            <a:endParaRPr lang="en-US" sz="14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65A82"/>
                </a:solidFill>
                <a:latin typeface="Calibri" pitchFamily="34" charset="0"/>
                <a:ea typeface="Calibri" pitchFamily="34" charset="-122"/>
                <a:cs typeface="Calibri" pitchFamily="34" charset="-120"/>
              </a:rPr>
              <a:t>Model-agnostic</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Functioneaza pe XGBoost, NN, modele liniare, etc.</a:t>
            </a:r>
            <a:endParaRPr lang="en-US" sz="14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65A82"/>
                </a:solidFill>
                <a:latin typeface="Calibri" pitchFamily="34" charset="0"/>
                <a:ea typeface="Calibri" pitchFamily="34" charset="-122"/>
                <a:cs typeface="Calibri" pitchFamily="34" charset="-120"/>
              </a:rPr>
              <a:t>Aditivitate</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Suma SHAP = predictie - baseline. Util pentru audit si verificare.</a:t>
            </a:r>
            <a:endParaRPr lang="en-US" sz="1400" dirty="0"/>
          </a:p>
        </p:txBody>
      </p:sp>
      <p:sp>
        <p:nvSpPr>
          <p:cNvPr id="10" name="Shape 8"/>
          <p:cNvSpPr/>
          <p:nvPr/>
        </p:nvSpPr>
        <p:spPr>
          <a:xfrm>
            <a:off x="6309360" y="1463040"/>
            <a:ext cx="5394960" cy="4846320"/>
          </a:xfrm>
          <a:prstGeom prst="rect">
            <a:avLst/>
          </a:prstGeom>
          <a:solidFill>
            <a:srgbClr val="FFFFFF"/>
          </a:solidFill>
          <a:ln w="25400">
            <a:solidFill>
              <a:srgbClr val="F96167"/>
            </a:solidFill>
            <a:prstDash val="solid"/>
          </a:ln>
        </p:spPr>
      </p:sp>
      <p:sp>
        <p:nvSpPr>
          <p:cNvPr id="11" name="Shape 9"/>
          <p:cNvSpPr/>
          <p:nvPr/>
        </p:nvSpPr>
        <p:spPr>
          <a:xfrm>
            <a:off x="6309360" y="1463040"/>
            <a:ext cx="5394960" cy="502920"/>
          </a:xfrm>
          <a:prstGeom prst="rect">
            <a:avLst/>
          </a:prstGeom>
          <a:solidFill>
            <a:srgbClr val="F96167"/>
          </a:solidFill>
          <a:ln w="12700">
            <a:solidFill>
              <a:srgbClr val="F96167"/>
            </a:solidFill>
            <a:prstDash val="solid"/>
          </a:ln>
        </p:spPr>
      </p:sp>
      <p:sp>
        <p:nvSpPr>
          <p:cNvPr id="12" name="Text 10"/>
          <p:cNvSpPr/>
          <p:nvPr/>
        </p:nvSpPr>
        <p:spPr>
          <a:xfrm>
            <a:off x="6309360" y="1463040"/>
            <a:ext cx="539496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Limitari</a:t>
            </a:r>
            <a:endParaRPr lang="en-US" sz="1800" dirty="0"/>
          </a:p>
        </p:txBody>
      </p:sp>
      <p:sp>
        <p:nvSpPr>
          <p:cNvPr id="13" name="Text 11"/>
          <p:cNvSpPr/>
          <p:nvPr/>
        </p:nvSpPr>
        <p:spPr>
          <a:xfrm>
            <a:off x="6537960" y="2103120"/>
            <a:ext cx="4937760" cy="4114800"/>
          </a:xfrm>
          <a:prstGeom prst="rect">
            <a:avLst/>
          </a:prstGeom>
          <a:noFill/>
          <a:ln/>
        </p:spPr>
        <p:txBody>
          <a:bodyPr wrap="square" rtlCol="0" anchor="t"/>
          <a:lstStyle/>
          <a:p>
            <a:pPr indent="0" marL="0">
              <a:buNone/>
            </a:pPr>
            <a:r>
              <a:rPr lang="en-US" sz="1400" b="1" dirty="0">
                <a:solidFill>
                  <a:srgbClr val="F96167"/>
                </a:solidFill>
                <a:latin typeface="Calibri" pitchFamily="34" charset="0"/>
                <a:ea typeface="Calibri" pitchFamily="34" charset="-122"/>
                <a:cs typeface="Calibri" pitchFamily="34" charset="-120"/>
              </a:rPr>
              <a:t>Cost computational</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O(2^n) exact - TreeSHAP polinomial doar pentru arbori.</a:t>
            </a:r>
            <a:endParaRPr lang="en-US" sz="14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96167"/>
                </a:solidFill>
                <a:latin typeface="Calibri" pitchFamily="34" charset="0"/>
                <a:ea typeface="Calibri" pitchFamily="34" charset="-122"/>
                <a:cs typeface="Calibri" pitchFamily="34" charset="-120"/>
              </a:rPr>
              <a:t>Independenta features</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Asumarea ca features sunt independente este adesea falsa - lag_1 si lag_2 sunt corelate.</a:t>
            </a:r>
            <a:endParaRPr lang="en-US" sz="14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96167"/>
                </a:solidFill>
                <a:latin typeface="Calibri" pitchFamily="34" charset="0"/>
                <a:ea typeface="Calibri" pitchFamily="34" charset="-122"/>
                <a:cs typeface="Calibri" pitchFamily="34" charset="-120"/>
              </a:rPr>
              <a:t>Nu este cauzalitate</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SHAP arata corelatia cu predictia, nu cauzalitatea reala in lumea fizica.</a:t>
            </a:r>
            <a:endParaRPr lang="en-US" sz="14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96167"/>
                </a:solidFill>
                <a:latin typeface="Calibri" pitchFamily="34" charset="0"/>
                <a:ea typeface="Calibri" pitchFamily="34" charset="-122"/>
                <a:cs typeface="Calibri" pitchFamily="34" charset="-120"/>
              </a:rPr>
              <a:t>Risc de interpretare gresita</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Utilizatorii non-tehnici pot citi valorile SHAP ca recomandari actionabile (corelatie != cauzalitate).</a:t>
            </a:r>
            <a:endParaRPr lang="en-US" sz="14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96167"/>
                </a:solidFill>
                <a:latin typeface="Calibri" pitchFamily="34" charset="0"/>
                <a:ea typeface="Calibri" pitchFamily="34" charset="-122"/>
                <a:cs typeface="Calibri" pitchFamily="34" charset="-120"/>
              </a:rPr>
              <a:t>Pentru LLM e nevoie de mai mult</a:t>
            </a:r>
            <a:endParaRPr lang="en-US" sz="1400" dirty="0"/>
          </a:p>
          <a:p>
            <a:pPr indent="0" marL="0">
              <a:buNone/>
            </a:pPr>
            <a:r>
              <a:rPr lang="en-US" sz="1200" dirty="0">
                <a:solidFill>
                  <a:srgbClr val="6B7280"/>
                </a:solidFill>
                <a:latin typeface="Calibri" pitchFamily="34" charset="0"/>
                <a:ea typeface="Calibri" pitchFamily="34" charset="-122"/>
                <a:cs typeface="Calibri" pitchFamily="34" charset="-120"/>
              </a:rPr>
              <a:t>Pe text/tokens, SHAP necesita adaptari speciale (LIME, BERT-SHAP).</a:t>
            </a:r>
            <a:endParaRPr lang="en-US" sz="1400" dirty="0"/>
          </a:p>
        </p:txBody>
      </p:sp>
      <p:sp>
        <p:nvSpPr>
          <p:cNvPr id="14" name="Text 12"/>
          <p:cNvSpPr/>
          <p:nvPr/>
        </p:nvSpPr>
        <p:spPr>
          <a:xfrm>
            <a:off x="45720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Diana Nenu  -  SCSS 2026  -  SHAP &amp; teoria jocurilor Shapley</a:t>
            </a:r>
            <a:endParaRPr lang="en-US" sz="900" dirty="0"/>
          </a:p>
        </p:txBody>
      </p:sp>
      <p:sp>
        <p:nvSpPr>
          <p:cNvPr id="15" name="Text 13"/>
          <p:cNvSpPr/>
          <p:nvPr/>
        </p:nvSpPr>
        <p:spPr>
          <a:xfrm>
            <a:off x="10789920"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1932920" y="0"/>
            <a:ext cx="228600" cy="6858000"/>
          </a:xfrm>
          <a:prstGeom prst="rect">
            <a:avLst/>
          </a:prstGeom>
          <a:solidFill>
            <a:srgbClr val="F96167"/>
          </a:solidFill>
          <a:ln w="12700">
            <a:solidFill>
              <a:srgbClr val="F96167"/>
            </a:solidFill>
            <a:prstDash val="solid"/>
          </a:ln>
        </p:spPr>
      </p:sp>
      <p:sp>
        <p:nvSpPr>
          <p:cNvPr id="3" name="Text 1"/>
          <p:cNvSpPr/>
          <p:nvPr/>
        </p:nvSpPr>
        <p:spPr>
          <a:xfrm>
            <a:off x="731520" y="640080"/>
            <a:ext cx="10515600" cy="457200"/>
          </a:xfrm>
          <a:prstGeom prst="rect">
            <a:avLst/>
          </a:prstGeom>
          <a:noFill/>
          <a:ln/>
        </p:spPr>
        <p:txBody>
          <a:bodyPr wrap="square" rtlCol="0" anchor="ctr"/>
          <a:lstStyle/>
          <a:p>
            <a:pPr indent="0" marL="0">
              <a:buNone/>
            </a:pPr>
            <a:r>
              <a:rPr lang="en-US" sz="1300" b="1" spc="800" kern="0" dirty="0">
                <a:solidFill>
                  <a:srgbClr val="F96167"/>
                </a:solidFill>
                <a:latin typeface="Calibri" pitchFamily="34" charset="0"/>
                <a:ea typeface="Calibri" pitchFamily="34" charset="-122"/>
                <a:cs typeface="Calibri" pitchFamily="34" charset="-120"/>
              </a:rPr>
              <a:t>CONCLUZII</a:t>
            </a:r>
            <a:endParaRPr lang="en-US" sz="1300" dirty="0"/>
          </a:p>
        </p:txBody>
      </p:sp>
      <p:sp>
        <p:nvSpPr>
          <p:cNvPr id="4" name="Text 2"/>
          <p:cNvSpPr/>
          <p:nvPr/>
        </p:nvSpPr>
        <p:spPr>
          <a:xfrm>
            <a:off x="731520" y="1188720"/>
            <a:ext cx="10515600" cy="73152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De la teoria jocurilor la AI explicabil</a:t>
            </a:r>
            <a:endParaRPr lang="en-US" sz="3400" dirty="0"/>
          </a:p>
        </p:txBody>
      </p:sp>
      <p:sp>
        <p:nvSpPr>
          <p:cNvPr id="5" name="Shape 3"/>
          <p:cNvSpPr/>
          <p:nvPr/>
        </p:nvSpPr>
        <p:spPr>
          <a:xfrm>
            <a:off x="822960" y="2286000"/>
            <a:ext cx="640080" cy="640080"/>
          </a:xfrm>
          <a:prstGeom prst="ellipse">
            <a:avLst/>
          </a:prstGeom>
          <a:solidFill>
            <a:srgbClr val="F96167"/>
          </a:solidFill>
          <a:ln w="12700">
            <a:solidFill>
              <a:srgbClr val="F96167"/>
            </a:solidFill>
            <a:prstDash val="solid"/>
          </a:ln>
        </p:spPr>
      </p:sp>
      <p:sp>
        <p:nvSpPr>
          <p:cNvPr id="6" name="Text 4"/>
          <p:cNvSpPr/>
          <p:nvPr/>
        </p:nvSpPr>
        <p:spPr>
          <a:xfrm>
            <a:off x="822960" y="228600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645920" y="2240280"/>
            <a:ext cx="100584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Conexiunea matematica e mai profunda decat pare</a:t>
            </a:r>
            <a:endParaRPr lang="en-US" sz="1600" dirty="0"/>
          </a:p>
        </p:txBody>
      </p:sp>
      <p:sp>
        <p:nvSpPr>
          <p:cNvPr id="8" name="Text 6"/>
          <p:cNvSpPr/>
          <p:nvPr/>
        </p:nvSpPr>
        <p:spPr>
          <a:xfrm>
            <a:off x="1645920" y="2606040"/>
            <a:ext cx="10058400" cy="86868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SHAP nu este un 'trick' - este aceeasi matematica pentru care Shapley a primit Nobelul, doar reinterpretata. Garantia ca putem deschide 'cutia neagra' a modelelor moderne are radacini in 1953.</a:t>
            </a:r>
            <a:endParaRPr lang="en-US" sz="1200" dirty="0"/>
          </a:p>
        </p:txBody>
      </p:sp>
      <p:sp>
        <p:nvSpPr>
          <p:cNvPr id="9" name="Shape 7"/>
          <p:cNvSpPr/>
          <p:nvPr/>
        </p:nvSpPr>
        <p:spPr>
          <a:xfrm>
            <a:off x="822960" y="3474720"/>
            <a:ext cx="640080" cy="640080"/>
          </a:xfrm>
          <a:prstGeom prst="ellipse">
            <a:avLst/>
          </a:prstGeom>
          <a:solidFill>
            <a:srgbClr val="F96167"/>
          </a:solidFill>
          <a:ln w="12700">
            <a:solidFill>
              <a:srgbClr val="F96167"/>
            </a:solidFill>
            <a:prstDash val="solid"/>
          </a:ln>
        </p:spPr>
      </p:sp>
      <p:sp>
        <p:nvSpPr>
          <p:cNvPr id="10" name="Text 8"/>
          <p:cNvSpPr/>
          <p:nvPr/>
        </p:nvSpPr>
        <p:spPr>
          <a:xfrm>
            <a:off x="822960" y="347472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1645920" y="3429000"/>
            <a:ext cx="100584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Aplicabilitate practica imediata pe lucrarea mea</a:t>
            </a:r>
            <a:endParaRPr lang="en-US" sz="1600" dirty="0"/>
          </a:p>
        </p:txBody>
      </p:sp>
      <p:sp>
        <p:nvSpPr>
          <p:cNvPr id="12" name="Text 10"/>
          <p:cNvSpPr/>
          <p:nvPr/>
        </p:nvSpPr>
        <p:spPr>
          <a:xfrm>
            <a:off x="1645920" y="3794760"/>
            <a:ext cx="10058400" cy="86868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Pe XGBoost-ul propriu pentru pretul Spania (R² = 0.968), SHAP confirma ca modelul foloseste pattern-uri reale: autoregresivitate puternica, sezonalitate orara, ciclu saptamanal, impact eolian.</a:t>
            </a:r>
            <a:endParaRPr lang="en-US" sz="1200" dirty="0"/>
          </a:p>
        </p:txBody>
      </p:sp>
      <p:sp>
        <p:nvSpPr>
          <p:cNvPr id="13" name="Shape 11"/>
          <p:cNvSpPr/>
          <p:nvPr/>
        </p:nvSpPr>
        <p:spPr>
          <a:xfrm>
            <a:off x="822960" y="4663440"/>
            <a:ext cx="640080" cy="640080"/>
          </a:xfrm>
          <a:prstGeom prst="ellipse">
            <a:avLst/>
          </a:prstGeom>
          <a:solidFill>
            <a:srgbClr val="F96167"/>
          </a:solidFill>
          <a:ln w="12700">
            <a:solidFill>
              <a:srgbClr val="F96167"/>
            </a:solidFill>
            <a:prstDash val="solid"/>
          </a:ln>
        </p:spPr>
      </p:sp>
      <p:sp>
        <p:nvSpPr>
          <p:cNvPr id="14" name="Text 12"/>
          <p:cNvSpPr/>
          <p:nvPr/>
        </p:nvSpPr>
        <p:spPr>
          <a:xfrm>
            <a:off x="822960" y="466344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5" name="Text 13"/>
          <p:cNvSpPr/>
          <p:nvPr/>
        </p:nvSpPr>
        <p:spPr>
          <a:xfrm>
            <a:off x="1645920" y="4617720"/>
            <a:ext cx="100584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Fundament pentru componenta LLM a lucrarii</a:t>
            </a:r>
            <a:endParaRPr lang="en-US" sz="1600" dirty="0"/>
          </a:p>
        </p:txBody>
      </p:sp>
      <p:sp>
        <p:nvSpPr>
          <p:cNvPr id="16" name="Text 14"/>
          <p:cNvSpPr/>
          <p:nvPr/>
        </p:nvSpPr>
        <p:spPr>
          <a:xfrm>
            <a:off x="1645920" y="4983480"/>
            <a:ext cx="10058400" cy="86868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Valorile SHAP devin 'materia prima' pe care un LLM o transforma in insighturi in limbaj natural. Astfel platforma raspunde nu doar 'ce va fi', ci si 'de ce', folosind matematica si limbaj natural.</a:t>
            </a:r>
            <a:endParaRPr lang="en-US" sz="1200" dirty="0"/>
          </a:p>
        </p:txBody>
      </p:sp>
      <p:sp>
        <p:nvSpPr>
          <p:cNvPr id="17" name="Shape 15"/>
          <p:cNvSpPr/>
          <p:nvPr/>
        </p:nvSpPr>
        <p:spPr>
          <a:xfrm>
            <a:off x="731520" y="5943600"/>
            <a:ext cx="10698480" cy="640080"/>
          </a:xfrm>
          <a:prstGeom prst="rect">
            <a:avLst/>
          </a:prstGeom>
          <a:solidFill>
            <a:srgbClr val="F96167"/>
          </a:solidFill>
          <a:ln w="12700">
            <a:solidFill>
              <a:srgbClr val="F96167"/>
            </a:solidFill>
            <a:prstDash val="solid"/>
          </a:ln>
        </p:spPr>
      </p:sp>
      <p:sp>
        <p:nvSpPr>
          <p:cNvPr id="18" name="Text 16"/>
          <p:cNvSpPr/>
          <p:nvPr/>
        </p:nvSpPr>
        <p:spPr>
          <a:xfrm>
            <a:off x="731520" y="5943600"/>
            <a:ext cx="10698480" cy="640080"/>
          </a:xfrm>
          <a:prstGeom prst="rect">
            <a:avLst/>
          </a:prstGeom>
          <a:noFill/>
          <a:ln/>
        </p:spPr>
        <p:txBody>
          <a:bodyPr wrap="square" rtlCol="0" anchor="ctr"/>
          <a:lstStyle/>
          <a:p>
            <a:pPr algn="ctr" indent="0" marL="0">
              <a:buNone/>
            </a:pPr>
            <a:r>
              <a:rPr lang="en-US" sz="1600" b="1" i="1" dirty="0">
                <a:solidFill>
                  <a:srgbClr val="FFFFFF"/>
                </a:solidFill>
                <a:latin typeface="Calibri" pitchFamily="34" charset="0"/>
                <a:ea typeface="Calibri" pitchFamily="34" charset="-122"/>
                <a:cs typeface="Calibri" pitchFamily="34" charset="-120"/>
              </a:rPr>
              <a:t>Multumesc pentru atentie! Astept intrebarile dumneavoastra.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 si teoria jocurilor cooperative - Diana Nenu - SCSS</dc:title>
  <dc:subject>Sesiunea de Comunicari Stiintifice Studentesti</dc:subject>
  <dc:creator>Diana Nenu</dc:creator>
  <cp:lastModifiedBy>Diana Nenu</cp:lastModifiedBy>
  <cp:revision>1</cp:revision>
  <dcterms:created xsi:type="dcterms:W3CDTF">2026-05-15T13:48:07Z</dcterms:created>
  <dcterms:modified xsi:type="dcterms:W3CDTF">2026-05-15T13:48:07Z</dcterms:modified>
</cp:coreProperties>
</file>