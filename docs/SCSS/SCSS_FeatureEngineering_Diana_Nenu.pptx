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 pornim cu o analogie din viata de zi cu zi - ceasul de perete. In realitate, cand acul ajunge la 12 noaptea, se misca lin spre 1 dimineata. Nu sare. Ora 23 si ora 0 sunt vecine pe ceas - la o ora distanta. Daca insa scriem ora ca numere - 0, 1, 2 pana la 23 - apoi din nou de la 0, modelul de ML vede o sariutra brusca de la 23 la 0. Ca si cum acul ar sari peste 23 de ore intr-o singura clipa. Aceasta este problema fundamentala a reprezentarii liniare a timpului. In urmatoarele 2 slide-uri o sa vedem aceasta problema concretizata in date energetice reale.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Acum sa vedem problema concret in date energetice reale. Graficul arata profilul tipic de consum pe o zi. Vedeti maximul seara, in jurul orei 19-20 cand toata lumea ajunge acasa, mananca cina, aprinde luminile. Minimul noaptea, pe la 3-4 dimineata. Cele 2 cercuri portocalii pe care le-am evidentiat sunt ora 23 si ora 0. Pe axa X, ele par departe - distanta de 23 unitati. Sageata rosie de sus arata aceasta diferenta. Dar daca privim consumul lor - linia verde de jos il evidentiaza - este aproape IDENTIC. Ambele sunt noaptea tarziu, oameni dorm, fabricile inchise. Reprezentarea liniara minte modelul - ii spune ca ora 23 si ora 0 sunt foarte diferite, cand de fapt sunt aproape la fel.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Acelasi profil de consum, dar asezat pe cerc. Aceleasi 24 de ore - dar acum sunt pe o panza circulara. Fiecare punct este o ora, culoarea lui indica nivelul consumului - verde pentru consum mic, rosu pentru consum mare. Vedeti pattern-ul - jumatatea de jos a cercului (orele noaptea si dimineata devreme) este verde (consum mic), jumatatea de sus (zi si seara) trece spre rosu. Cele 2 cercuri verzi pe care le-am evidentiat sunt ora 23 si ora 0. Acum sunt vecine - exact cum sunt fizic. Distanta euclidiana intre ele pe cerc este doar 0.27 unitati, in loc de 23. Aceasta este reprezentarea corecta a timpului ciclic. Acum trebuie sa o exprimam matematic - prin sin si 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 intelegem autoregresivitatea printr-o analogie simpla. Imaginati-va doua scenarii. Primul: asculti zgomot radio static. Sunetul de la o secunda la alta este complet diferit, haotic. Trecutul nu spune nimic despre viitor. Fiecare moment este independent. Corelatia intre valorile consecutive este aproape zero. Al doilea: asculti o conversatie. Fiecare propozitie continua logic de la propozitia precedenta. Daca ai auzit ultimul cuvant, ai un indiciu puternic ce urmeaza. Corelatia intre cuvinte consecutive este aproape perfecta. Datele energetice sunt MULT mai aproape de conversatie decat de zgomot radio. Pretul peste o ora va fi aproape de pretul actual - exista o legatura puternica intre valori consecutive. Acesta este autoregresivitatea.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Aceasta animatie arata cum se schimba seria temporala in functie de coeficientul phi. Cand phi este mic (aproape 0), seria sare haotic - exact ca zgomotul radio din analogie. Trecutul nu prezice viitorul. Cand phi creste catre 1, valoarea curenta urmareste lin valoarea anterioara - ca o conversatie. Datele energetice reale sunt aici, in dreapta - cu phi aproape 0.99. Exact pe acest fapt se bazeaza puterea lag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Aceeasi animatie, dar privita din alt unghi - scatter plot t-1 vs t. Pe axa X avem valoarea anterioara, pe axa Y avem valoarea curenta. Daca trecutul ar prezice perfect viitorul, toate punctele ar fi pe diagonala y = x. Cand phi este mic, punctele sunt un nor difuz - relatia este slaba. Pe masura ce phi creste, punctele se aliniaza tot mai bine pe diagonala. Corelatia Pearson masoara exact cat de aproape sunt punctele de diagonala. La phi = 0.99 (cazul datelor energetice), punctele sunt practic pe diagonala. Aceasta este dovada vizuala a autoregresivitatii.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Analogie din viata medicala. Cand un doctor vrea sa stie temperatura ta reala, are doua optiuni. Optiunea 1: o singura citire a termometrului. Aceasta poate fi afectata de o anomalie - ai facut efort fizic, ai baut ceai cald, eroare a aparatului. Te poate face sa crezi ca ai febra cand de fapt esti bine. Optiunea 2: termometrele moderne fac MEDIA a multor masuratori succesive in cateva secunde. Anomaliile (varfuri scurte) sunt diluate in medie. Doctorul vede temperatura reala - imaginea stabila a corpului tau. Asa functioneaza si rolling features pe time series energetice. Lag-ul ne da o singura masuratoare. Rolling mean ne da imaginea stabila a trecutului recent.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Cea mai subtila greseala in feature engineering se numeste data leakage. Sa o intelegem printr-o analogie didactica - examenul. Examenul cinstit: elevul scrie raspunsul singur, cu cunostintele invatate. Profesorul verifica lucrarea dupa, fara sa o vada in timpul examenului. Nota reflecta cunostintele reale. Aceasta este abordarea corecta - modelul ML cu shift(1). Examenul cu trisa: elevul priveste raspunsul corect in timp ce raspunde la intrebare. Profesorul vede o nota perfecta, dar nu observa ca elevul a vazut raspunsul. Nota este 10 fals - elevul nu stie nimic real. Aceasta este greseala - modelul ML fara shift(1) cu data leakage. Pe testset, modelul cu data leakage pare sa obtina rezultate excelente. Dar in productie, unde nu mai exista raspunsul de vazut, esueaza catastrofal.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gif"/><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gif"/><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1025"/>
        </a:solidFill>
      </p:bgPr>
    </p:bg>
    <p:spTree>
      <p:nvGrpSpPr>
        <p:cNvPr id="1" name=""/>
        <p:cNvGrpSpPr/>
        <p:nvPr/>
      </p:nvGrpSpPr>
      <p:grpSpPr>
        <a:xfrm>
          <a:off x="0" y="0"/>
          <a:ext cx="0" cy="0"/>
          <a:chOff x="0" y="0"/>
          <a:chExt cx="0" cy="0"/>
        </a:xfrm>
      </p:grpSpPr>
      <p:sp>
        <p:nvSpPr>
          <p:cNvPr id="2" name="Shape 0"/>
          <p:cNvSpPr/>
          <p:nvPr/>
        </p:nvSpPr>
        <p:spPr>
          <a:xfrm>
            <a:off x="-1828800" y="-1828800"/>
            <a:ext cx="5029200" cy="5029200"/>
          </a:xfrm>
          <a:prstGeom prst="ellipse">
            <a:avLst/>
          </a:prstGeom>
          <a:solidFill>
            <a:srgbClr val="818CF8">
              <a:alpha val="25000"/>
            </a:srgbClr>
          </a:solidFill>
          <a:ln w="12700">
            <a:solidFill>
              <a:srgbClr val="818CF8">
                <a:alpha val="25000"/>
              </a:srgbClr>
            </a:solidFill>
            <a:prstDash val="solid"/>
          </a:ln>
        </p:spPr>
      </p:sp>
      <p:sp>
        <p:nvSpPr>
          <p:cNvPr id="3" name="Shape 1"/>
          <p:cNvSpPr/>
          <p:nvPr/>
        </p:nvSpPr>
        <p:spPr>
          <a:xfrm>
            <a:off x="9875520" y="4572000"/>
            <a:ext cx="5029200" cy="5029200"/>
          </a:xfrm>
          <a:prstGeom prst="ellipse">
            <a:avLst/>
          </a:prstGeom>
          <a:solidFill>
            <a:srgbClr val="F472B6">
              <a:alpha val="20000"/>
            </a:srgbClr>
          </a:solidFill>
          <a:ln w="12700">
            <a:solidFill>
              <a:srgbClr val="F472B6">
                <a:alpha val="20000"/>
              </a:srgbClr>
            </a:solidFill>
            <a:prstDash val="solid"/>
          </a:ln>
        </p:spPr>
      </p:sp>
      <p:sp>
        <p:nvSpPr>
          <p:cNvPr id="4" name="Shape 2"/>
          <p:cNvSpPr/>
          <p:nvPr/>
        </p:nvSpPr>
        <p:spPr>
          <a:xfrm>
            <a:off x="0" y="0"/>
            <a:ext cx="274320" cy="6858000"/>
          </a:xfrm>
          <a:prstGeom prst="rect">
            <a:avLst/>
          </a:prstGeom>
          <a:solidFill>
            <a:srgbClr val="FBBF24"/>
          </a:solidFill>
          <a:ln w="12700">
            <a:solidFill>
              <a:srgbClr val="FBBF24"/>
            </a:solidFill>
            <a:prstDash val="solid"/>
          </a:ln>
        </p:spPr>
      </p:sp>
      <p:sp>
        <p:nvSpPr>
          <p:cNvPr id="5" name="Text 3"/>
          <p:cNvSpPr/>
          <p:nvPr/>
        </p:nvSpPr>
        <p:spPr>
          <a:xfrm>
            <a:off x="822960" y="1005840"/>
            <a:ext cx="10515600" cy="457200"/>
          </a:xfrm>
          <a:prstGeom prst="rect">
            <a:avLst/>
          </a:prstGeom>
          <a:noFill/>
          <a:ln/>
        </p:spPr>
        <p:txBody>
          <a:bodyPr wrap="square" rtlCol="0" anchor="ctr"/>
          <a:lstStyle/>
          <a:p>
            <a:pPr indent="0" marL="0">
              <a:buNone/>
            </a:pPr>
            <a:r>
              <a:rPr lang="en-US" sz="1600" b="1" spc="1200" kern="0" dirty="0">
                <a:solidFill>
                  <a:srgbClr val="FBBF24"/>
                </a:solidFill>
                <a:latin typeface="Calibri" pitchFamily="34" charset="0"/>
                <a:ea typeface="Calibri" pitchFamily="34" charset="-122"/>
                <a:cs typeface="Calibri" pitchFamily="34" charset="-120"/>
              </a:rPr>
              <a:t>SESIUNE COMUNICARI STIINTIFICE  •  MAI 2026</a:t>
            </a:r>
            <a:endParaRPr lang="en-US" sz="1600" dirty="0"/>
          </a:p>
        </p:txBody>
      </p:sp>
      <p:sp>
        <p:nvSpPr>
          <p:cNvPr id="6" name="Text 4"/>
          <p:cNvSpPr/>
          <p:nvPr/>
        </p:nvSpPr>
        <p:spPr>
          <a:xfrm>
            <a:off x="822960" y="1828800"/>
            <a:ext cx="10515600" cy="2286000"/>
          </a:xfrm>
          <a:prstGeom prst="rect">
            <a:avLst/>
          </a:prstGeom>
          <a:noFill/>
          <a:ln/>
        </p:spPr>
        <p:txBody>
          <a:bodyPr wrap="square" rtlCol="0" anchor="ctr"/>
          <a:lstStyle/>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Tehnici de feature engineering</a:t>
            </a:r>
            <a:endParaRPr lang="en-US" sz="5200" dirty="0"/>
          </a:p>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pentru serii temporale</a:t>
            </a:r>
            <a:endParaRPr lang="en-US" sz="5200" dirty="0"/>
          </a:p>
        </p:txBody>
      </p:sp>
      <p:sp>
        <p:nvSpPr>
          <p:cNvPr id="7" name="Text 5"/>
          <p:cNvSpPr/>
          <p:nvPr/>
        </p:nvSpPr>
        <p:spPr>
          <a:xfrm>
            <a:off x="822960" y="4114800"/>
            <a:ext cx="10515600" cy="640080"/>
          </a:xfrm>
          <a:prstGeom prst="rect">
            <a:avLst/>
          </a:prstGeom>
          <a:noFill/>
          <a:ln/>
        </p:spPr>
        <p:txBody>
          <a:bodyPr wrap="square" rtlCol="0" anchor="ctr"/>
          <a:lstStyle/>
          <a:p>
            <a:pPr indent="0" marL="0">
              <a:buNone/>
            </a:pPr>
            <a:r>
              <a:rPr lang="en-US" sz="2600" i="1" dirty="0">
                <a:solidFill>
                  <a:srgbClr val="E2E8F0"/>
                </a:solidFill>
                <a:latin typeface="Cambria" pitchFamily="34" charset="0"/>
                <a:ea typeface="Cambria" pitchFamily="34" charset="-122"/>
                <a:cs typeface="Cambria" pitchFamily="34" charset="-120"/>
              </a:rPr>
              <a:t>Cu aplicatii in domeniul energetic</a:t>
            </a:r>
            <a:endParaRPr lang="en-US" sz="2600" dirty="0"/>
          </a:p>
        </p:txBody>
      </p:sp>
      <p:sp>
        <p:nvSpPr>
          <p:cNvPr id="8" name="Shape 6"/>
          <p:cNvSpPr/>
          <p:nvPr/>
        </p:nvSpPr>
        <p:spPr>
          <a:xfrm>
            <a:off x="822960" y="5029200"/>
            <a:ext cx="2286000" cy="54864"/>
          </a:xfrm>
          <a:prstGeom prst="rect">
            <a:avLst/>
          </a:prstGeom>
          <a:solidFill>
            <a:srgbClr val="FBBF24"/>
          </a:solidFill>
          <a:ln w="12700">
            <a:solidFill>
              <a:srgbClr val="FBBF24"/>
            </a:solidFill>
            <a:prstDash val="solid"/>
          </a:ln>
        </p:spPr>
      </p:sp>
      <p:sp>
        <p:nvSpPr>
          <p:cNvPr id="9" name="Text 7"/>
          <p:cNvSpPr/>
          <p:nvPr/>
        </p:nvSpPr>
        <p:spPr>
          <a:xfrm>
            <a:off x="822960" y="5212080"/>
            <a:ext cx="10515600" cy="1371600"/>
          </a:xfrm>
          <a:prstGeom prst="rect">
            <a:avLst/>
          </a:prstGeom>
          <a:noFill/>
          <a:ln/>
        </p:spPr>
        <p:txBody>
          <a:bodyPr wrap="square" rtlCol="0" anchor="t"/>
          <a:lstStyle/>
          <a:p>
            <a:pPr indent="0" marL="0">
              <a:buNone/>
            </a:pPr>
            <a:r>
              <a:rPr lang="en-US" sz="2600" b="1" dirty="0">
                <a:solidFill>
                  <a:srgbClr val="FFFFFF"/>
                </a:solidFill>
                <a:latin typeface="Calibri" pitchFamily="34" charset="0"/>
                <a:ea typeface="Calibri" pitchFamily="34" charset="-122"/>
                <a:cs typeface="Calibri" pitchFamily="34" charset="-120"/>
              </a:rPr>
              <a:t>Diana Nenu</a:t>
            </a:r>
            <a:endParaRPr lang="en-US" sz="2600" dirty="0"/>
          </a:p>
          <a:p>
            <a:pPr indent="0" marL="0">
              <a:buNone/>
            </a:pPr>
            <a:r>
              <a:rPr lang="en-US" sz="1600" dirty="0">
                <a:solidFill>
                  <a:srgbClr val="CBD5E1"/>
                </a:solidFill>
                <a:latin typeface="Calibri" pitchFamily="34" charset="0"/>
                <a:ea typeface="Calibri" pitchFamily="34" charset="-122"/>
                <a:cs typeface="Calibri" pitchFamily="34" charset="-120"/>
              </a:rPr>
              <a:t>Universitatea Titu Maiorescu  •  Master Data Science &amp; Artificial Intelligence</a:t>
            </a:r>
            <a:endParaRPr lang="en-US" sz="2600" dirty="0"/>
          </a:p>
          <a:p>
            <a:pPr indent="0" marL="0">
              <a:buNone/>
            </a:pPr>
            <a:r>
              <a:rPr lang="en-US" sz="1600" dirty="0">
                <a:solidFill>
                  <a:srgbClr val="CBD5E1"/>
                </a:solidFill>
                <a:latin typeface="Calibri" pitchFamily="34" charset="0"/>
                <a:ea typeface="Calibri" pitchFamily="34" charset="-122"/>
                <a:cs typeface="Calibri" pitchFamily="34" charset="-120"/>
              </a:rPr>
              <a:t>Lucrare de disertatie • sesiune 2026</a:t>
            </a:r>
            <a:endParaRPr lang="en-US" sz="2600" dirty="0"/>
          </a:p>
        </p:txBody>
      </p:sp>
    </p:spTree>
  </p:cSld>
  <p:transition xmlns:p="http://schemas.openxmlformats.org/presentationml/2006/main" spd="med">
    <p:fade/>
  </p:transition>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51025"/>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818CF8">
              <a:alpha val="15000"/>
            </a:srgbClr>
          </a:solidFill>
          <a:ln w="12700">
            <a:solidFill>
              <a:srgbClr val="818CF8">
                <a:alpha val="15000"/>
              </a:srgbClr>
            </a:solidFill>
            <a:prstDash val="solid"/>
          </a:ln>
        </p:spPr>
      </p:sp>
      <p:sp>
        <p:nvSpPr>
          <p:cNvPr id="3" name="Shape 1"/>
          <p:cNvSpPr/>
          <p:nvPr/>
        </p:nvSpPr>
        <p:spPr>
          <a:xfrm>
            <a:off x="10515600" y="5212080"/>
            <a:ext cx="3200400" cy="3200400"/>
          </a:xfrm>
          <a:prstGeom prst="ellipse">
            <a:avLst/>
          </a:prstGeom>
          <a:solidFill>
            <a:srgbClr val="F472B6">
              <a:alpha val="12000"/>
            </a:srgbClr>
          </a:solidFill>
          <a:ln w="12700">
            <a:solidFill>
              <a:srgbClr val="F472B6">
                <a:alpha val="12000"/>
              </a:srgbClr>
            </a:solidFill>
            <a:prstDash val="solid"/>
          </a:ln>
        </p:spPr>
      </p:sp>
      <p:sp>
        <p:nvSpPr>
          <p:cNvPr id="4" name="Shape 2"/>
          <p:cNvSpPr/>
          <p:nvPr/>
        </p:nvSpPr>
        <p:spPr>
          <a:xfrm>
            <a:off x="0" y="0"/>
            <a:ext cx="12161520" cy="164592"/>
          </a:xfrm>
          <a:prstGeom prst="rect">
            <a:avLst/>
          </a:prstGeom>
          <a:solidFill>
            <a:srgbClr val="FBBF24"/>
          </a:solidFill>
          <a:ln w="12700">
            <a:solidFill>
              <a:srgbClr val="FBBF24"/>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FBBF24"/>
                </a:solidFill>
                <a:latin typeface="Calibri" pitchFamily="34" charset="0"/>
                <a:ea typeface="Calibri" pitchFamily="34" charset="-122"/>
                <a:cs typeface="Calibri" pitchFamily="34" charset="-120"/>
              </a:rPr>
              <a:t>CADRU GENERAL</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Contextul lucrarii de disertatie</a:t>
            </a:r>
            <a:endParaRPr lang="en-US" sz="3600" dirty="0"/>
          </a:p>
        </p:txBody>
      </p:sp>
      <p:sp>
        <p:nvSpPr>
          <p:cNvPr id="7" name="Shape 5"/>
          <p:cNvSpPr/>
          <p:nvPr/>
        </p:nvSpPr>
        <p:spPr>
          <a:xfrm>
            <a:off x="548640" y="1691640"/>
            <a:ext cx="1645920" cy="54864"/>
          </a:xfrm>
          <a:prstGeom prst="rect">
            <a:avLst/>
          </a:prstGeom>
          <a:solidFill>
            <a:srgbClr val="F472B6"/>
          </a:solidFill>
          <a:ln w="12700">
            <a:solidFill>
              <a:srgbClr val="F472B6"/>
            </a:solidFill>
            <a:prstDash val="solid"/>
          </a:ln>
        </p:spPr>
      </p:sp>
      <p:sp>
        <p:nvSpPr>
          <p:cNvPr id="8" name="Text 6"/>
          <p:cNvSpPr/>
          <p:nvPr/>
        </p:nvSpPr>
        <p:spPr>
          <a:xfrm>
            <a:off x="548640" y="1920240"/>
            <a:ext cx="11064240" cy="914400"/>
          </a:xfrm>
          <a:prstGeom prst="rect">
            <a:avLst/>
          </a:prstGeom>
          <a:noFill/>
          <a:ln/>
        </p:spPr>
        <p:txBody>
          <a:bodyPr wrap="square" rtlCol="0" anchor="ctr"/>
          <a:lstStyle/>
          <a:p>
            <a:pPr indent="0" marL="0">
              <a:buNone/>
            </a:pPr>
            <a:r>
              <a:rPr lang="en-US" sz="2000" dirty="0">
                <a:solidFill>
                  <a:srgbClr val="E2E8F0"/>
                </a:solidFill>
                <a:latin typeface="Calibri" pitchFamily="34" charset="0"/>
                <a:ea typeface="Calibri" pitchFamily="34" charset="-122"/>
                <a:cs typeface="Calibri" pitchFamily="34" charset="-120"/>
              </a:rPr>
              <a:t>Lucrarea propune o platforma de inteligenta artificiala pentru predictie si optimizare in domeniul energetic. Pentru a valida ca abordarea este robusta si transferabila, am folosit</a:t>
            </a:r>
            <a:endParaRPr lang="en-US" sz="2000" dirty="0"/>
          </a:p>
        </p:txBody>
      </p:sp>
      <p:sp>
        <p:nvSpPr>
          <p:cNvPr id="9" name="Shape 7"/>
          <p:cNvSpPr/>
          <p:nvPr/>
        </p:nvSpPr>
        <p:spPr>
          <a:xfrm>
            <a:off x="548640" y="3291840"/>
            <a:ext cx="3611880" cy="2194560"/>
          </a:xfrm>
          <a:prstGeom prst="rect">
            <a:avLst/>
          </a:prstGeom>
          <a:solidFill>
            <a:srgbClr val="1E1A3A"/>
          </a:solidFill>
          <a:ln w="38100">
            <a:solidFill>
              <a:srgbClr val="818CF8"/>
            </a:solidFill>
            <a:prstDash val="solid"/>
          </a:ln>
        </p:spPr>
      </p:sp>
      <p:sp>
        <p:nvSpPr>
          <p:cNvPr id="10" name="Text 8"/>
          <p:cNvSpPr/>
          <p:nvPr/>
        </p:nvSpPr>
        <p:spPr>
          <a:xfrm>
            <a:off x="548640" y="3429000"/>
            <a:ext cx="3611880" cy="1188720"/>
          </a:xfrm>
          <a:prstGeom prst="rect">
            <a:avLst/>
          </a:prstGeom>
          <a:noFill/>
          <a:ln/>
        </p:spPr>
        <p:txBody>
          <a:bodyPr wrap="square" rtlCol="0" anchor="ctr"/>
          <a:lstStyle/>
          <a:p>
            <a:pPr algn="ctr" indent="0" marL="0">
              <a:buNone/>
            </a:pPr>
            <a:r>
              <a:rPr lang="en-US" sz="5800" b="1" dirty="0">
                <a:solidFill>
                  <a:srgbClr val="818CF8"/>
                </a:solidFill>
                <a:latin typeface="Cambria" pitchFamily="34" charset="0"/>
                <a:ea typeface="Cambria" pitchFamily="34" charset="-122"/>
                <a:cs typeface="Cambria" pitchFamily="34" charset="-120"/>
              </a:rPr>
              <a:t>3</a:t>
            </a:r>
            <a:endParaRPr lang="en-US" sz="5800" dirty="0"/>
          </a:p>
        </p:txBody>
      </p:sp>
      <p:sp>
        <p:nvSpPr>
          <p:cNvPr id="11" name="Text 9"/>
          <p:cNvSpPr/>
          <p:nvPr/>
        </p:nvSpPr>
        <p:spPr>
          <a:xfrm>
            <a:off x="548640" y="4572000"/>
            <a:ext cx="3611880" cy="914400"/>
          </a:xfrm>
          <a:prstGeom prst="rect">
            <a:avLst/>
          </a:prstGeom>
          <a:noFill/>
          <a:ln/>
        </p:spPr>
        <p:txBody>
          <a:bodyPr wrap="square" rtlCol="0" anchor="t"/>
          <a:lstStyle/>
          <a:p>
            <a:pPr algn="ctr" indent="0" marL="0">
              <a:buNone/>
            </a:pPr>
            <a:r>
              <a:rPr lang="en-US" sz="1700" dirty="0">
                <a:solidFill>
                  <a:srgbClr val="E2E8F0"/>
                </a:solidFill>
                <a:latin typeface="Calibri" pitchFamily="34" charset="0"/>
                <a:ea typeface="Calibri" pitchFamily="34" charset="-122"/>
                <a:cs typeface="Calibri" pitchFamily="34" charset="-120"/>
              </a:rPr>
              <a:t>seturi de date</a:t>
            </a:r>
            <a:endParaRPr lang="en-US" sz="1700" dirty="0"/>
          </a:p>
        </p:txBody>
      </p:sp>
      <p:sp>
        <p:nvSpPr>
          <p:cNvPr id="12" name="Shape 10"/>
          <p:cNvSpPr/>
          <p:nvPr/>
        </p:nvSpPr>
        <p:spPr>
          <a:xfrm>
            <a:off x="4251960" y="3291840"/>
            <a:ext cx="3611880" cy="2194560"/>
          </a:xfrm>
          <a:prstGeom prst="rect">
            <a:avLst/>
          </a:prstGeom>
          <a:solidFill>
            <a:srgbClr val="1E1A3A"/>
          </a:solidFill>
          <a:ln w="38100">
            <a:solidFill>
              <a:srgbClr val="F472B6"/>
            </a:solidFill>
            <a:prstDash val="solid"/>
          </a:ln>
        </p:spPr>
      </p:sp>
      <p:sp>
        <p:nvSpPr>
          <p:cNvPr id="13" name="Text 11"/>
          <p:cNvSpPr/>
          <p:nvPr/>
        </p:nvSpPr>
        <p:spPr>
          <a:xfrm>
            <a:off x="4251960" y="3429000"/>
            <a:ext cx="3611880" cy="1188720"/>
          </a:xfrm>
          <a:prstGeom prst="rect">
            <a:avLst/>
          </a:prstGeom>
          <a:noFill/>
          <a:ln/>
        </p:spPr>
        <p:txBody>
          <a:bodyPr wrap="square" rtlCol="0" anchor="ctr"/>
          <a:lstStyle/>
          <a:p>
            <a:pPr algn="ctr" indent="0" marL="0">
              <a:buNone/>
            </a:pPr>
            <a:r>
              <a:rPr lang="en-US" sz="5800" b="1" dirty="0">
                <a:solidFill>
                  <a:srgbClr val="F472B6"/>
                </a:solidFill>
                <a:latin typeface="Cambria" pitchFamily="34" charset="0"/>
                <a:ea typeface="Cambria" pitchFamily="34" charset="-122"/>
                <a:cs typeface="Cambria" pitchFamily="34" charset="-120"/>
              </a:rPr>
              <a:t>30 ani</a:t>
            </a:r>
            <a:endParaRPr lang="en-US" sz="5800" dirty="0"/>
          </a:p>
        </p:txBody>
      </p:sp>
      <p:sp>
        <p:nvSpPr>
          <p:cNvPr id="14" name="Text 12"/>
          <p:cNvSpPr/>
          <p:nvPr/>
        </p:nvSpPr>
        <p:spPr>
          <a:xfrm>
            <a:off x="4251960" y="4572000"/>
            <a:ext cx="3611880" cy="914400"/>
          </a:xfrm>
          <a:prstGeom prst="rect">
            <a:avLst/>
          </a:prstGeom>
          <a:noFill/>
          <a:ln/>
        </p:spPr>
        <p:txBody>
          <a:bodyPr wrap="square" rtlCol="0" anchor="t"/>
          <a:lstStyle/>
          <a:p>
            <a:pPr algn="ctr" indent="0" marL="0">
              <a:buNone/>
            </a:pPr>
            <a:r>
              <a:rPr lang="en-US" sz="1700" dirty="0">
                <a:solidFill>
                  <a:srgbClr val="E2E8F0"/>
                </a:solidFill>
                <a:latin typeface="Calibri" pitchFamily="34" charset="0"/>
                <a:ea typeface="Calibri" pitchFamily="34" charset="-122"/>
                <a:cs typeface="Calibri" pitchFamily="34" charset="-120"/>
              </a:rPr>
              <a:t>de date orare cumulate</a:t>
            </a:r>
            <a:endParaRPr lang="en-US" sz="1700" dirty="0"/>
          </a:p>
        </p:txBody>
      </p:sp>
      <p:sp>
        <p:nvSpPr>
          <p:cNvPr id="15" name="Shape 13"/>
          <p:cNvSpPr/>
          <p:nvPr/>
        </p:nvSpPr>
        <p:spPr>
          <a:xfrm>
            <a:off x="7955280" y="3291840"/>
            <a:ext cx="3611880" cy="2194560"/>
          </a:xfrm>
          <a:prstGeom prst="rect">
            <a:avLst/>
          </a:prstGeom>
          <a:solidFill>
            <a:srgbClr val="1E1A3A"/>
          </a:solidFill>
          <a:ln w="38100">
            <a:solidFill>
              <a:srgbClr val="FBBF24"/>
            </a:solidFill>
            <a:prstDash val="solid"/>
          </a:ln>
        </p:spPr>
      </p:sp>
      <p:sp>
        <p:nvSpPr>
          <p:cNvPr id="16" name="Text 14"/>
          <p:cNvSpPr/>
          <p:nvPr/>
        </p:nvSpPr>
        <p:spPr>
          <a:xfrm>
            <a:off x="7955280" y="3429000"/>
            <a:ext cx="3611880" cy="1188720"/>
          </a:xfrm>
          <a:prstGeom prst="rect">
            <a:avLst/>
          </a:prstGeom>
          <a:noFill/>
          <a:ln/>
        </p:spPr>
        <p:txBody>
          <a:bodyPr wrap="square" rtlCol="0" anchor="ctr"/>
          <a:lstStyle/>
          <a:p>
            <a:pPr algn="ctr" indent="0" marL="0">
              <a:buNone/>
            </a:pPr>
            <a:r>
              <a:rPr lang="en-US" sz="5800" b="1" dirty="0">
                <a:solidFill>
                  <a:srgbClr val="FBBF24"/>
                </a:solidFill>
                <a:latin typeface="Cambria" pitchFamily="34" charset="0"/>
                <a:ea typeface="Cambria" pitchFamily="34" charset="-122"/>
                <a:cs typeface="Cambria" pitchFamily="34" charset="-120"/>
              </a:rPr>
              <a:t>3 contexte</a:t>
            </a:r>
            <a:endParaRPr lang="en-US" sz="5800" dirty="0"/>
          </a:p>
        </p:txBody>
      </p:sp>
      <p:sp>
        <p:nvSpPr>
          <p:cNvPr id="17" name="Text 15"/>
          <p:cNvSpPr/>
          <p:nvPr/>
        </p:nvSpPr>
        <p:spPr>
          <a:xfrm>
            <a:off x="7955280" y="4572000"/>
            <a:ext cx="3611880" cy="914400"/>
          </a:xfrm>
          <a:prstGeom prst="rect">
            <a:avLst/>
          </a:prstGeom>
          <a:noFill/>
          <a:ln/>
        </p:spPr>
        <p:txBody>
          <a:bodyPr wrap="square" rtlCol="0" anchor="t"/>
          <a:lstStyle/>
          <a:p>
            <a:pPr algn="ctr" indent="0" marL="0">
              <a:buNone/>
            </a:pPr>
            <a:r>
              <a:rPr lang="en-US" sz="1700" dirty="0">
                <a:solidFill>
                  <a:srgbClr val="E2E8F0"/>
                </a:solidFill>
                <a:latin typeface="Calibri" pitchFamily="34" charset="0"/>
                <a:ea typeface="Calibri" pitchFamily="34" charset="-122"/>
                <a:cs typeface="Calibri" pitchFamily="34" charset="-120"/>
              </a:rPr>
              <a:t>diferite ale sistemului energetic</a:t>
            </a:r>
            <a:endParaRPr lang="en-US" sz="1700" dirty="0"/>
          </a:p>
        </p:txBody>
      </p:sp>
      <p:sp>
        <p:nvSpPr>
          <p:cNvPr id="18" name="Text 16"/>
          <p:cNvSpPr/>
          <p:nvPr/>
        </p:nvSpPr>
        <p:spPr>
          <a:xfrm>
            <a:off x="548640" y="5715000"/>
            <a:ext cx="11064240" cy="365760"/>
          </a:xfrm>
          <a:prstGeom prst="rect">
            <a:avLst/>
          </a:prstGeom>
          <a:noFill/>
          <a:ln/>
        </p:spPr>
        <p:txBody>
          <a:bodyPr wrap="square" rtlCol="0" anchor="ctr"/>
          <a:lstStyle/>
          <a:p>
            <a:pPr algn="ctr" indent="0" marL="0">
              <a:buNone/>
            </a:pPr>
            <a:r>
              <a:rPr lang="en-US" sz="1800" b="1" i="1" dirty="0">
                <a:solidFill>
                  <a:srgbClr val="F472B6"/>
                </a:solidFill>
                <a:latin typeface="Calibri" pitchFamily="34" charset="0"/>
                <a:ea typeface="Calibri" pitchFamily="34" charset="-122"/>
                <a:cs typeface="Calibri" pitchFamily="34" charset="-120"/>
              </a:rPr>
              <a:t>Cele 3 seturi acopera impreuna lantul complet: cererea, pretul si productia.</a:t>
            </a:r>
            <a:endParaRPr lang="en-US" sz="1800" dirty="0"/>
          </a:p>
        </p:txBody>
      </p:sp>
      <p:sp>
        <p:nvSpPr>
          <p:cNvPr id="19" name="Text 17"/>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20" name="Text 18"/>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2 / 28</a:t>
            </a:r>
            <a:endParaRPr lang="en-US" sz="1100" dirty="0"/>
          </a:p>
        </p:txBody>
      </p:sp>
    </p:spTree>
  </p:cSld>
  <p:transition xmlns:p="http://schemas.openxmlformats.org/presentationml/2006/main" spd="med">
    <p:fade/>
  </p:transition>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51025"/>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818CF8">
              <a:alpha val="15000"/>
            </a:srgbClr>
          </a:solidFill>
          <a:ln w="12700">
            <a:solidFill>
              <a:srgbClr val="818CF8">
                <a:alpha val="15000"/>
              </a:srgbClr>
            </a:solidFill>
            <a:prstDash val="solid"/>
          </a:ln>
        </p:spPr>
      </p:sp>
      <p:sp>
        <p:nvSpPr>
          <p:cNvPr id="3" name="Shape 1"/>
          <p:cNvSpPr/>
          <p:nvPr/>
        </p:nvSpPr>
        <p:spPr>
          <a:xfrm>
            <a:off x="10515600" y="5212080"/>
            <a:ext cx="3200400" cy="3200400"/>
          </a:xfrm>
          <a:prstGeom prst="ellipse">
            <a:avLst/>
          </a:prstGeom>
          <a:solidFill>
            <a:srgbClr val="F472B6">
              <a:alpha val="12000"/>
            </a:srgbClr>
          </a:solidFill>
          <a:ln w="12700">
            <a:solidFill>
              <a:srgbClr val="F472B6">
                <a:alpha val="12000"/>
              </a:srgbClr>
            </a:solidFill>
            <a:prstDash val="solid"/>
          </a:ln>
        </p:spPr>
      </p:sp>
      <p:sp>
        <p:nvSpPr>
          <p:cNvPr id="4" name="Shape 2"/>
          <p:cNvSpPr/>
          <p:nvPr/>
        </p:nvSpPr>
        <p:spPr>
          <a:xfrm>
            <a:off x="0" y="0"/>
            <a:ext cx="12161520" cy="164592"/>
          </a:xfrm>
          <a:prstGeom prst="rect">
            <a:avLst/>
          </a:prstGeom>
          <a:solidFill>
            <a:srgbClr val="FBBF24"/>
          </a:solidFill>
          <a:ln w="12700">
            <a:solidFill>
              <a:srgbClr val="FBBF24"/>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818CF8"/>
                </a:solidFill>
                <a:latin typeface="Calibri" pitchFamily="34" charset="0"/>
                <a:ea typeface="Calibri" pitchFamily="34" charset="-122"/>
                <a:cs typeface="Calibri" pitchFamily="34" charset="-120"/>
              </a:rPr>
              <a:t>DATE DESPRE CERERE</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Setul 1: Cererea de energie</a:t>
            </a:r>
            <a:endParaRPr lang="en-US" sz="3600" dirty="0"/>
          </a:p>
        </p:txBody>
      </p:sp>
      <p:sp>
        <p:nvSpPr>
          <p:cNvPr id="7" name="Shape 5"/>
          <p:cNvSpPr/>
          <p:nvPr/>
        </p:nvSpPr>
        <p:spPr>
          <a:xfrm>
            <a:off x="548640" y="1691640"/>
            <a:ext cx="1645920" cy="54864"/>
          </a:xfrm>
          <a:prstGeom prst="rect">
            <a:avLst/>
          </a:prstGeom>
          <a:solidFill>
            <a:srgbClr val="F472B6"/>
          </a:solidFill>
          <a:ln w="12700">
            <a:solidFill>
              <a:srgbClr val="F472B6"/>
            </a:solidFill>
            <a:prstDash val="solid"/>
          </a:ln>
        </p:spPr>
      </p:sp>
      <p:sp>
        <p:nvSpPr>
          <p:cNvPr id="8" name="Shape 6"/>
          <p:cNvSpPr/>
          <p:nvPr/>
        </p:nvSpPr>
        <p:spPr>
          <a:xfrm>
            <a:off x="548640" y="1783080"/>
            <a:ext cx="1371600" cy="1371600"/>
          </a:xfrm>
          <a:prstGeom prst="ellipse">
            <a:avLst/>
          </a:prstGeom>
          <a:solidFill>
            <a:srgbClr val="818CF8"/>
          </a:solidFill>
          <a:ln w="12700">
            <a:solidFill>
              <a:srgbClr val="818CF8"/>
            </a:solidFill>
            <a:prstDash val="solid"/>
          </a:ln>
        </p:spPr>
      </p:sp>
      <p:sp>
        <p:nvSpPr>
          <p:cNvPr id="9" name="Text 7"/>
          <p:cNvSpPr/>
          <p:nvPr/>
        </p:nvSpPr>
        <p:spPr>
          <a:xfrm>
            <a:off x="548640" y="1783080"/>
            <a:ext cx="1371600" cy="1371600"/>
          </a:xfrm>
          <a:prstGeom prst="rect">
            <a:avLst/>
          </a:prstGeom>
          <a:noFill/>
          <a:ln/>
        </p:spPr>
        <p:txBody>
          <a:bodyPr wrap="square" rtlCol="0" anchor="ctr"/>
          <a:lstStyle/>
          <a:p>
            <a:pPr algn="ctr" indent="0" marL="0">
              <a:buNone/>
            </a:pPr>
            <a:r>
              <a:rPr lang="en-US" sz="6400" b="1" dirty="0">
                <a:solidFill>
                  <a:srgbClr val="151025"/>
                </a:solidFill>
                <a:latin typeface="Cambria" pitchFamily="34" charset="0"/>
                <a:ea typeface="Cambria" pitchFamily="34" charset="-122"/>
                <a:cs typeface="Cambria" pitchFamily="34" charset="-120"/>
              </a:rPr>
              <a:t>1</a:t>
            </a:r>
            <a:endParaRPr lang="en-US" sz="6400" dirty="0"/>
          </a:p>
        </p:txBody>
      </p:sp>
      <p:sp>
        <p:nvSpPr>
          <p:cNvPr id="10" name="Shape 8"/>
          <p:cNvSpPr/>
          <p:nvPr/>
        </p:nvSpPr>
        <p:spPr>
          <a:xfrm>
            <a:off x="2103120" y="3108960"/>
            <a:ext cx="9509760" cy="1005840"/>
          </a:xfrm>
          <a:prstGeom prst="rect">
            <a:avLst/>
          </a:prstGeom>
          <a:solidFill>
            <a:srgbClr val="1E1A3A"/>
          </a:solidFill>
          <a:ln w="12700">
            <a:solidFill>
              <a:srgbClr val="1E1A3A"/>
            </a:solidFill>
            <a:prstDash val="solid"/>
          </a:ln>
        </p:spPr>
      </p:sp>
      <p:sp>
        <p:nvSpPr>
          <p:cNvPr id="11" name="Shape 9"/>
          <p:cNvSpPr/>
          <p:nvPr/>
        </p:nvSpPr>
        <p:spPr>
          <a:xfrm>
            <a:off x="2103120" y="3108960"/>
            <a:ext cx="137160" cy="1005840"/>
          </a:xfrm>
          <a:prstGeom prst="rect">
            <a:avLst/>
          </a:prstGeom>
          <a:solidFill>
            <a:srgbClr val="818CF8"/>
          </a:solidFill>
          <a:ln w="12700">
            <a:solidFill>
              <a:srgbClr val="818CF8"/>
            </a:solidFill>
            <a:prstDash val="solid"/>
          </a:ln>
        </p:spPr>
      </p:sp>
      <p:sp>
        <p:nvSpPr>
          <p:cNvPr id="12" name="Text 10"/>
          <p:cNvSpPr/>
          <p:nvPr/>
        </p:nvSpPr>
        <p:spPr>
          <a:xfrm>
            <a:off x="2331720" y="3172968"/>
            <a:ext cx="9189720" cy="914400"/>
          </a:xfrm>
          <a:prstGeom prst="rect">
            <a:avLst/>
          </a:prstGeom>
          <a:noFill/>
          <a:ln/>
        </p:spPr>
        <p:txBody>
          <a:bodyPr wrap="square" rtlCol="0" anchor="t"/>
          <a:lstStyle/>
          <a:p>
            <a:pPr indent="0" marL="0">
              <a:lnSpc>
                <a:spcPct val="120000"/>
              </a:lnSpc>
              <a:buNone/>
            </a:pPr>
            <a:r>
              <a:rPr lang="en-US" sz="1800" b="1" dirty="0">
                <a:solidFill>
                  <a:srgbClr val="818CF8"/>
                </a:solidFill>
                <a:latin typeface="Calibri" pitchFamily="34" charset="0"/>
                <a:ea typeface="Calibri" pitchFamily="34" charset="-122"/>
                <a:cs typeface="Calibri" pitchFamily="34" charset="-120"/>
              </a:rPr>
              <a:t>Ce contine setul
</a:t>
            </a:r>
            <a:pPr indent="0" marL="0">
              <a:lnSpc>
                <a:spcPct val="120000"/>
              </a:lnSpc>
              <a:buNone/>
            </a:pPr>
            <a:r>
              <a:rPr lang="en-US" sz="1600" dirty="0">
                <a:solidFill>
                  <a:srgbClr val="E2E8F0"/>
                </a:solidFill>
                <a:latin typeface="Calibri" pitchFamily="34" charset="0"/>
                <a:ea typeface="Calibri" pitchFamily="34" charset="-122"/>
                <a:cs typeface="Calibri" pitchFamily="34" charset="-120"/>
              </a:rPr>
              <a:t>Consumul orar al energiei electrice intr-o tara dezvoltata, inregistrat pe 16 ani (peste 140.000 ore). Doua coloane: timestamp si valoare in MegaWati.</a:t>
            </a:r>
            <a:endParaRPr lang="en-US" sz="1800" dirty="0"/>
          </a:p>
        </p:txBody>
      </p:sp>
      <p:sp>
        <p:nvSpPr>
          <p:cNvPr id="13" name="Shape 11"/>
          <p:cNvSpPr/>
          <p:nvPr/>
        </p:nvSpPr>
        <p:spPr>
          <a:xfrm>
            <a:off x="2103120" y="4160520"/>
            <a:ext cx="9509760" cy="1005840"/>
          </a:xfrm>
          <a:prstGeom prst="rect">
            <a:avLst/>
          </a:prstGeom>
          <a:solidFill>
            <a:srgbClr val="1E1A3A"/>
          </a:solidFill>
          <a:ln w="12700">
            <a:solidFill>
              <a:srgbClr val="1E1A3A"/>
            </a:solidFill>
            <a:prstDash val="solid"/>
          </a:ln>
        </p:spPr>
      </p:sp>
      <p:sp>
        <p:nvSpPr>
          <p:cNvPr id="14" name="Shape 12"/>
          <p:cNvSpPr/>
          <p:nvPr/>
        </p:nvSpPr>
        <p:spPr>
          <a:xfrm>
            <a:off x="2103120" y="4160520"/>
            <a:ext cx="137160" cy="1005840"/>
          </a:xfrm>
          <a:prstGeom prst="rect">
            <a:avLst/>
          </a:prstGeom>
          <a:solidFill>
            <a:srgbClr val="F472B6"/>
          </a:solidFill>
          <a:ln w="12700">
            <a:solidFill>
              <a:srgbClr val="F472B6"/>
            </a:solidFill>
            <a:prstDash val="solid"/>
          </a:ln>
        </p:spPr>
      </p:sp>
      <p:sp>
        <p:nvSpPr>
          <p:cNvPr id="15" name="Text 13"/>
          <p:cNvSpPr/>
          <p:nvPr/>
        </p:nvSpPr>
        <p:spPr>
          <a:xfrm>
            <a:off x="2331720" y="4224528"/>
            <a:ext cx="9189720" cy="914400"/>
          </a:xfrm>
          <a:prstGeom prst="rect">
            <a:avLst/>
          </a:prstGeom>
          <a:noFill/>
          <a:ln/>
        </p:spPr>
        <p:txBody>
          <a:bodyPr wrap="square" rtlCol="0" anchor="t"/>
          <a:lstStyle/>
          <a:p>
            <a:pPr indent="0" marL="0">
              <a:lnSpc>
                <a:spcPct val="120000"/>
              </a:lnSpc>
              <a:buNone/>
            </a:pPr>
            <a:r>
              <a:rPr lang="en-US" sz="1800" b="1" dirty="0">
                <a:solidFill>
                  <a:srgbClr val="F472B6"/>
                </a:solidFill>
                <a:latin typeface="Calibri" pitchFamily="34" charset="0"/>
                <a:ea typeface="Calibri" pitchFamily="34" charset="-122"/>
                <a:cs typeface="Calibri" pitchFamily="34" charset="-120"/>
              </a:rPr>
              <a:t>La ce ne ajuta
</a:t>
            </a:r>
            <a:pPr indent="0" marL="0">
              <a:lnSpc>
                <a:spcPct val="120000"/>
              </a:lnSpc>
              <a:buNone/>
            </a:pPr>
            <a:r>
              <a:rPr lang="en-US" sz="1600" dirty="0">
                <a:solidFill>
                  <a:srgbClr val="E2E8F0"/>
                </a:solidFill>
                <a:latin typeface="Calibri" pitchFamily="34" charset="0"/>
                <a:ea typeface="Calibri" pitchFamily="34" charset="-122"/>
                <a:cs typeface="Calibri" pitchFamily="34" charset="-120"/>
              </a:rPr>
              <a:t>Modelul invata ritmul cererii — cum variaza consumul intre zi si noapte, intre zilele lucratoare si weekend, intre sezoane.</a:t>
            </a:r>
            <a:endParaRPr lang="en-US" sz="1800" dirty="0"/>
          </a:p>
        </p:txBody>
      </p:sp>
      <p:sp>
        <p:nvSpPr>
          <p:cNvPr id="16" name="Shape 14"/>
          <p:cNvSpPr/>
          <p:nvPr/>
        </p:nvSpPr>
        <p:spPr>
          <a:xfrm>
            <a:off x="2103120" y="5212080"/>
            <a:ext cx="9509760" cy="1005840"/>
          </a:xfrm>
          <a:prstGeom prst="rect">
            <a:avLst/>
          </a:prstGeom>
          <a:solidFill>
            <a:srgbClr val="1E1A3A"/>
          </a:solidFill>
          <a:ln w="12700">
            <a:solidFill>
              <a:srgbClr val="1E1A3A"/>
            </a:solidFill>
            <a:prstDash val="solid"/>
          </a:ln>
        </p:spPr>
      </p:sp>
      <p:sp>
        <p:nvSpPr>
          <p:cNvPr id="17" name="Shape 15"/>
          <p:cNvSpPr/>
          <p:nvPr/>
        </p:nvSpPr>
        <p:spPr>
          <a:xfrm>
            <a:off x="2103120" y="5212080"/>
            <a:ext cx="137160" cy="1005840"/>
          </a:xfrm>
          <a:prstGeom prst="rect">
            <a:avLst/>
          </a:prstGeom>
          <a:solidFill>
            <a:srgbClr val="FBBF24"/>
          </a:solidFill>
          <a:ln w="12700">
            <a:solidFill>
              <a:srgbClr val="FBBF24"/>
            </a:solidFill>
            <a:prstDash val="solid"/>
          </a:ln>
        </p:spPr>
      </p:sp>
      <p:sp>
        <p:nvSpPr>
          <p:cNvPr id="18" name="Text 16"/>
          <p:cNvSpPr/>
          <p:nvPr/>
        </p:nvSpPr>
        <p:spPr>
          <a:xfrm>
            <a:off x="2331720" y="5276088"/>
            <a:ext cx="9189720" cy="914400"/>
          </a:xfrm>
          <a:prstGeom prst="rect">
            <a:avLst/>
          </a:prstGeom>
          <a:noFill/>
          <a:ln/>
        </p:spPr>
        <p:txBody>
          <a:bodyPr wrap="square" rtlCol="0" anchor="t"/>
          <a:lstStyle/>
          <a:p>
            <a:pPr indent="0" marL="0">
              <a:lnSpc>
                <a:spcPct val="120000"/>
              </a:lnSpc>
              <a:buNone/>
            </a:pPr>
            <a:r>
              <a:rPr lang="en-US" sz="1800" b="1" dirty="0">
                <a:solidFill>
                  <a:srgbClr val="FBBF24"/>
                </a:solidFill>
                <a:latin typeface="Calibri" pitchFamily="34" charset="0"/>
                <a:ea typeface="Calibri" pitchFamily="34" charset="-122"/>
                <a:cs typeface="Calibri" pitchFamily="34" charset="-120"/>
              </a:rPr>
              <a:t>Cum contribuie la scopul final
</a:t>
            </a:r>
            <a:pPr indent="0" marL="0">
              <a:lnSpc>
                <a:spcPct val="120000"/>
              </a:lnSpc>
              <a:buNone/>
            </a:pPr>
            <a:r>
              <a:rPr lang="en-US" sz="1600" dirty="0">
                <a:solidFill>
                  <a:srgbClr val="E2E8F0"/>
                </a:solidFill>
                <a:latin typeface="Calibri" pitchFamily="34" charset="0"/>
                <a:ea typeface="Calibri" pitchFamily="34" charset="-122"/>
                <a:cs typeface="Calibri" pitchFamily="34" charset="-120"/>
              </a:rPr>
              <a:t>Predictia exacta a cererii permite operatorilor de retea sa balanseze in timp real productia cu consumul, evitand pene de curent si supraproductie.</a:t>
            </a:r>
            <a:endParaRPr lang="en-US" sz="1800" dirty="0"/>
          </a:p>
        </p:txBody>
      </p:sp>
      <p:sp>
        <p:nvSpPr>
          <p:cNvPr id="19" name="Text 17"/>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20" name="Text 18"/>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3 / 28</a:t>
            </a:r>
            <a:endParaRPr lang="en-US" sz="1100" dirty="0"/>
          </a:p>
        </p:txBody>
      </p:sp>
    </p:spTree>
  </p:cSld>
  <p:transition xmlns:p="http://schemas.openxmlformats.org/presentationml/2006/main" spd="med">
    <p:fade/>
  </p:transition>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51025"/>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818CF8">
              <a:alpha val="15000"/>
            </a:srgbClr>
          </a:solidFill>
          <a:ln w="12700">
            <a:solidFill>
              <a:srgbClr val="818CF8">
                <a:alpha val="15000"/>
              </a:srgbClr>
            </a:solidFill>
            <a:prstDash val="solid"/>
          </a:ln>
        </p:spPr>
      </p:sp>
      <p:sp>
        <p:nvSpPr>
          <p:cNvPr id="3" name="Shape 1"/>
          <p:cNvSpPr/>
          <p:nvPr/>
        </p:nvSpPr>
        <p:spPr>
          <a:xfrm>
            <a:off x="10515600" y="5212080"/>
            <a:ext cx="3200400" cy="3200400"/>
          </a:xfrm>
          <a:prstGeom prst="ellipse">
            <a:avLst/>
          </a:prstGeom>
          <a:solidFill>
            <a:srgbClr val="F472B6">
              <a:alpha val="12000"/>
            </a:srgbClr>
          </a:solidFill>
          <a:ln w="12700">
            <a:solidFill>
              <a:srgbClr val="F472B6">
                <a:alpha val="12000"/>
              </a:srgbClr>
            </a:solidFill>
            <a:prstDash val="solid"/>
          </a:ln>
        </p:spPr>
      </p:sp>
      <p:sp>
        <p:nvSpPr>
          <p:cNvPr id="4" name="Shape 2"/>
          <p:cNvSpPr/>
          <p:nvPr/>
        </p:nvSpPr>
        <p:spPr>
          <a:xfrm>
            <a:off x="0" y="0"/>
            <a:ext cx="12161520" cy="164592"/>
          </a:xfrm>
          <a:prstGeom prst="rect">
            <a:avLst/>
          </a:prstGeom>
          <a:solidFill>
            <a:srgbClr val="FBBF24"/>
          </a:solidFill>
          <a:ln w="12700">
            <a:solidFill>
              <a:srgbClr val="FBBF24"/>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F472B6"/>
                </a:solidFill>
                <a:latin typeface="Calibri" pitchFamily="34" charset="0"/>
                <a:ea typeface="Calibri" pitchFamily="34" charset="-122"/>
                <a:cs typeface="Calibri" pitchFamily="34" charset="-120"/>
              </a:rPr>
              <a:t>DATE DESPRE PIATA</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Setul 2: Pretul energiei electrice</a:t>
            </a:r>
            <a:endParaRPr lang="en-US" sz="3600" dirty="0"/>
          </a:p>
        </p:txBody>
      </p:sp>
      <p:sp>
        <p:nvSpPr>
          <p:cNvPr id="7" name="Shape 5"/>
          <p:cNvSpPr/>
          <p:nvPr/>
        </p:nvSpPr>
        <p:spPr>
          <a:xfrm>
            <a:off x="548640" y="1691640"/>
            <a:ext cx="1645920" cy="54864"/>
          </a:xfrm>
          <a:prstGeom prst="rect">
            <a:avLst/>
          </a:prstGeom>
          <a:solidFill>
            <a:srgbClr val="F472B6"/>
          </a:solidFill>
          <a:ln w="12700">
            <a:solidFill>
              <a:srgbClr val="F472B6"/>
            </a:solidFill>
            <a:prstDash val="solid"/>
          </a:ln>
        </p:spPr>
      </p:sp>
      <p:sp>
        <p:nvSpPr>
          <p:cNvPr id="8" name="Shape 6"/>
          <p:cNvSpPr/>
          <p:nvPr/>
        </p:nvSpPr>
        <p:spPr>
          <a:xfrm>
            <a:off x="548640" y="1783080"/>
            <a:ext cx="1371600" cy="1371600"/>
          </a:xfrm>
          <a:prstGeom prst="ellipse">
            <a:avLst/>
          </a:prstGeom>
          <a:solidFill>
            <a:srgbClr val="F472B6"/>
          </a:solidFill>
          <a:ln w="12700">
            <a:solidFill>
              <a:srgbClr val="F472B6"/>
            </a:solidFill>
            <a:prstDash val="solid"/>
          </a:ln>
        </p:spPr>
      </p:sp>
      <p:sp>
        <p:nvSpPr>
          <p:cNvPr id="9" name="Text 7"/>
          <p:cNvSpPr/>
          <p:nvPr/>
        </p:nvSpPr>
        <p:spPr>
          <a:xfrm>
            <a:off x="548640" y="1783080"/>
            <a:ext cx="1371600" cy="1371600"/>
          </a:xfrm>
          <a:prstGeom prst="rect">
            <a:avLst/>
          </a:prstGeom>
          <a:noFill/>
          <a:ln/>
        </p:spPr>
        <p:txBody>
          <a:bodyPr wrap="square" rtlCol="0" anchor="ctr"/>
          <a:lstStyle/>
          <a:p>
            <a:pPr algn="ctr" indent="0" marL="0">
              <a:buNone/>
            </a:pPr>
            <a:r>
              <a:rPr lang="en-US" sz="6400" b="1" dirty="0">
                <a:solidFill>
                  <a:srgbClr val="151025"/>
                </a:solidFill>
                <a:latin typeface="Cambria" pitchFamily="34" charset="0"/>
                <a:ea typeface="Cambria" pitchFamily="34" charset="-122"/>
                <a:cs typeface="Cambria" pitchFamily="34" charset="-120"/>
              </a:rPr>
              <a:t>2</a:t>
            </a:r>
            <a:endParaRPr lang="en-US" sz="6400" dirty="0"/>
          </a:p>
        </p:txBody>
      </p:sp>
      <p:sp>
        <p:nvSpPr>
          <p:cNvPr id="10" name="Shape 8"/>
          <p:cNvSpPr/>
          <p:nvPr/>
        </p:nvSpPr>
        <p:spPr>
          <a:xfrm>
            <a:off x="2103120" y="3108960"/>
            <a:ext cx="9509760" cy="1005840"/>
          </a:xfrm>
          <a:prstGeom prst="rect">
            <a:avLst/>
          </a:prstGeom>
          <a:solidFill>
            <a:srgbClr val="1E1A3A"/>
          </a:solidFill>
          <a:ln w="12700">
            <a:solidFill>
              <a:srgbClr val="1E1A3A"/>
            </a:solidFill>
            <a:prstDash val="solid"/>
          </a:ln>
        </p:spPr>
      </p:sp>
      <p:sp>
        <p:nvSpPr>
          <p:cNvPr id="11" name="Shape 9"/>
          <p:cNvSpPr/>
          <p:nvPr/>
        </p:nvSpPr>
        <p:spPr>
          <a:xfrm>
            <a:off x="2103120" y="3108960"/>
            <a:ext cx="137160" cy="1005840"/>
          </a:xfrm>
          <a:prstGeom prst="rect">
            <a:avLst/>
          </a:prstGeom>
          <a:solidFill>
            <a:srgbClr val="818CF8"/>
          </a:solidFill>
          <a:ln w="12700">
            <a:solidFill>
              <a:srgbClr val="818CF8"/>
            </a:solidFill>
            <a:prstDash val="solid"/>
          </a:ln>
        </p:spPr>
      </p:sp>
      <p:sp>
        <p:nvSpPr>
          <p:cNvPr id="12" name="Text 10"/>
          <p:cNvSpPr/>
          <p:nvPr/>
        </p:nvSpPr>
        <p:spPr>
          <a:xfrm>
            <a:off x="2331720" y="3172968"/>
            <a:ext cx="9189720" cy="914400"/>
          </a:xfrm>
          <a:prstGeom prst="rect">
            <a:avLst/>
          </a:prstGeom>
          <a:noFill/>
          <a:ln/>
        </p:spPr>
        <p:txBody>
          <a:bodyPr wrap="square" rtlCol="0" anchor="t"/>
          <a:lstStyle/>
          <a:p>
            <a:pPr indent="0" marL="0">
              <a:lnSpc>
                <a:spcPct val="120000"/>
              </a:lnSpc>
              <a:buNone/>
            </a:pPr>
            <a:r>
              <a:rPr lang="en-US" sz="1800" b="1" dirty="0">
                <a:solidFill>
                  <a:srgbClr val="818CF8"/>
                </a:solidFill>
                <a:latin typeface="Calibri" pitchFamily="34" charset="0"/>
                <a:ea typeface="Calibri" pitchFamily="34" charset="-122"/>
                <a:cs typeface="Calibri" pitchFamily="34" charset="-120"/>
              </a:rPr>
              <a:t>Ce contine setul
</a:t>
            </a:r>
            <a:pPr indent="0" marL="0">
              <a:lnSpc>
                <a:spcPct val="120000"/>
              </a:lnSpc>
              <a:buNone/>
            </a:pPr>
            <a:r>
              <a:rPr lang="en-US" sz="1600" dirty="0">
                <a:solidFill>
                  <a:srgbClr val="E2E8F0"/>
                </a:solidFill>
                <a:latin typeface="Calibri" pitchFamily="34" charset="0"/>
                <a:ea typeface="Calibri" pitchFamily="34" charset="-122"/>
                <a:cs typeface="Calibri" pitchFamily="34" charset="-120"/>
              </a:rPr>
              <a:t>Pretul orar al energiei electrice pe piata libera intr-o tara europeana, 4 ani (peste 34.000 ore). Plus indicatori auxiliari: productie pe surse, conditii meteo, prognoze.</a:t>
            </a:r>
            <a:endParaRPr lang="en-US" sz="1800" dirty="0"/>
          </a:p>
        </p:txBody>
      </p:sp>
      <p:sp>
        <p:nvSpPr>
          <p:cNvPr id="13" name="Shape 11"/>
          <p:cNvSpPr/>
          <p:nvPr/>
        </p:nvSpPr>
        <p:spPr>
          <a:xfrm>
            <a:off x="2103120" y="4160520"/>
            <a:ext cx="9509760" cy="1005840"/>
          </a:xfrm>
          <a:prstGeom prst="rect">
            <a:avLst/>
          </a:prstGeom>
          <a:solidFill>
            <a:srgbClr val="1E1A3A"/>
          </a:solidFill>
          <a:ln w="12700">
            <a:solidFill>
              <a:srgbClr val="1E1A3A"/>
            </a:solidFill>
            <a:prstDash val="solid"/>
          </a:ln>
        </p:spPr>
      </p:sp>
      <p:sp>
        <p:nvSpPr>
          <p:cNvPr id="14" name="Shape 12"/>
          <p:cNvSpPr/>
          <p:nvPr/>
        </p:nvSpPr>
        <p:spPr>
          <a:xfrm>
            <a:off x="2103120" y="4160520"/>
            <a:ext cx="137160" cy="1005840"/>
          </a:xfrm>
          <a:prstGeom prst="rect">
            <a:avLst/>
          </a:prstGeom>
          <a:solidFill>
            <a:srgbClr val="F472B6"/>
          </a:solidFill>
          <a:ln w="12700">
            <a:solidFill>
              <a:srgbClr val="F472B6"/>
            </a:solidFill>
            <a:prstDash val="solid"/>
          </a:ln>
        </p:spPr>
      </p:sp>
      <p:sp>
        <p:nvSpPr>
          <p:cNvPr id="15" name="Text 13"/>
          <p:cNvSpPr/>
          <p:nvPr/>
        </p:nvSpPr>
        <p:spPr>
          <a:xfrm>
            <a:off x="2331720" y="4224528"/>
            <a:ext cx="9189720" cy="914400"/>
          </a:xfrm>
          <a:prstGeom prst="rect">
            <a:avLst/>
          </a:prstGeom>
          <a:noFill/>
          <a:ln/>
        </p:spPr>
        <p:txBody>
          <a:bodyPr wrap="square" rtlCol="0" anchor="t"/>
          <a:lstStyle/>
          <a:p>
            <a:pPr indent="0" marL="0">
              <a:lnSpc>
                <a:spcPct val="120000"/>
              </a:lnSpc>
              <a:buNone/>
            </a:pPr>
            <a:r>
              <a:rPr lang="en-US" sz="1800" b="1" dirty="0">
                <a:solidFill>
                  <a:srgbClr val="F472B6"/>
                </a:solidFill>
                <a:latin typeface="Calibri" pitchFamily="34" charset="0"/>
                <a:ea typeface="Calibri" pitchFamily="34" charset="-122"/>
                <a:cs typeface="Calibri" pitchFamily="34" charset="-120"/>
              </a:rPr>
              <a:t>La ce ne ajuta
</a:t>
            </a:r>
            <a:pPr indent="0" marL="0">
              <a:lnSpc>
                <a:spcPct val="120000"/>
              </a:lnSpc>
              <a:buNone/>
            </a:pPr>
            <a:r>
              <a:rPr lang="en-US" sz="1600" dirty="0">
                <a:solidFill>
                  <a:srgbClr val="E2E8F0"/>
                </a:solidFill>
                <a:latin typeface="Calibri" pitchFamily="34" charset="0"/>
                <a:ea typeface="Calibri" pitchFamily="34" charset="-122"/>
                <a:cs typeface="Calibri" pitchFamily="34" charset="-120"/>
              </a:rPr>
              <a:t>Modelul invata cum se misca pretul: cat fluctueaza, cum reactioneaza la dezechilibre cerere/oferta, cum influenteaza productia eoliana sau solara pretul total.</a:t>
            </a:r>
            <a:endParaRPr lang="en-US" sz="1800" dirty="0"/>
          </a:p>
        </p:txBody>
      </p:sp>
      <p:sp>
        <p:nvSpPr>
          <p:cNvPr id="16" name="Shape 14"/>
          <p:cNvSpPr/>
          <p:nvPr/>
        </p:nvSpPr>
        <p:spPr>
          <a:xfrm>
            <a:off x="2103120" y="5212080"/>
            <a:ext cx="9509760" cy="1005840"/>
          </a:xfrm>
          <a:prstGeom prst="rect">
            <a:avLst/>
          </a:prstGeom>
          <a:solidFill>
            <a:srgbClr val="1E1A3A"/>
          </a:solidFill>
          <a:ln w="12700">
            <a:solidFill>
              <a:srgbClr val="1E1A3A"/>
            </a:solidFill>
            <a:prstDash val="solid"/>
          </a:ln>
        </p:spPr>
      </p:sp>
      <p:sp>
        <p:nvSpPr>
          <p:cNvPr id="17" name="Shape 15"/>
          <p:cNvSpPr/>
          <p:nvPr/>
        </p:nvSpPr>
        <p:spPr>
          <a:xfrm>
            <a:off x="2103120" y="5212080"/>
            <a:ext cx="137160" cy="1005840"/>
          </a:xfrm>
          <a:prstGeom prst="rect">
            <a:avLst/>
          </a:prstGeom>
          <a:solidFill>
            <a:srgbClr val="FBBF24"/>
          </a:solidFill>
          <a:ln w="12700">
            <a:solidFill>
              <a:srgbClr val="FBBF24"/>
            </a:solidFill>
            <a:prstDash val="solid"/>
          </a:ln>
        </p:spPr>
      </p:sp>
      <p:sp>
        <p:nvSpPr>
          <p:cNvPr id="18" name="Text 16"/>
          <p:cNvSpPr/>
          <p:nvPr/>
        </p:nvSpPr>
        <p:spPr>
          <a:xfrm>
            <a:off x="2331720" y="5276088"/>
            <a:ext cx="9189720" cy="914400"/>
          </a:xfrm>
          <a:prstGeom prst="rect">
            <a:avLst/>
          </a:prstGeom>
          <a:noFill/>
          <a:ln/>
        </p:spPr>
        <p:txBody>
          <a:bodyPr wrap="square" rtlCol="0" anchor="t"/>
          <a:lstStyle/>
          <a:p>
            <a:pPr indent="0" marL="0">
              <a:lnSpc>
                <a:spcPct val="120000"/>
              </a:lnSpc>
              <a:buNone/>
            </a:pPr>
            <a:r>
              <a:rPr lang="en-US" sz="1800" b="1" dirty="0">
                <a:solidFill>
                  <a:srgbClr val="FBBF24"/>
                </a:solidFill>
                <a:latin typeface="Calibri" pitchFamily="34" charset="0"/>
                <a:ea typeface="Calibri" pitchFamily="34" charset="-122"/>
                <a:cs typeface="Calibri" pitchFamily="34" charset="-120"/>
              </a:rPr>
              <a:t>Cum contribuie la scopul final
</a:t>
            </a:r>
            <a:pPr indent="0" marL="0">
              <a:lnSpc>
                <a:spcPct val="120000"/>
              </a:lnSpc>
              <a:buNone/>
            </a:pPr>
            <a:r>
              <a:rPr lang="en-US" sz="1600" dirty="0">
                <a:solidFill>
                  <a:srgbClr val="E2E8F0"/>
                </a:solidFill>
                <a:latin typeface="Calibri" pitchFamily="34" charset="0"/>
                <a:ea typeface="Calibri" pitchFamily="34" charset="-122"/>
                <a:cs typeface="Calibri" pitchFamily="34" charset="-120"/>
              </a:rPr>
              <a:t>Predictia pretului permite decizii economice optime: cand sa cumperi energie ieftin pentru stocare, cand sa vinzi productie surplus, cand sa amani consum industrial.</a:t>
            </a:r>
            <a:endParaRPr lang="en-US" sz="1800" dirty="0"/>
          </a:p>
        </p:txBody>
      </p:sp>
      <p:sp>
        <p:nvSpPr>
          <p:cNvPr id="19" name="Text 17"/>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20" name="Text 18"/>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4 / 28</a:t>
            </a:r>
            <a:endParaRPr lang="en-US" sz="1100" dirty="0"/>
          </a:p>
        </p:txBody>
      </p:sp>
    </p:spTree>
  </p:cSld>
  <p:transition xmlns:p="http://schemas.openxmlformats.org/presentationml/2006/main" spd="med">
    <p:fade/>
  </p:transition>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51025"/>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818CF8">
              <a:alpha val="15000"/>
            </a:srgbClr>
          </a:solidFill>
          <a:ln w="12700">
            <a:solidFill>
              <a:srgbClr val="818CF8">
                <a:alpha val="15000"/>
              </a:srgbClr>
            </a:solidFill>
            <a:prstDash val="solid"/>
          </a:ln>
        </p:spPr>
      </p:sp>
      <p:sp>
        <p:nvSpPr>
          <p:cNvPr id="3" name="Shape 1"/>
          <p:cNvSpPr/>
          <p:nvPr/>
        </p:nvSpPr>
        <p:spPr>
          <a:xfrm>
            <a:off x="10515600" y="5212080"/>
            <a:ext cx="3200400" cy="3200400"/>
          </a:xfrm>
          <a:prstGeom prst="ellipse">
            <a:avLst/>
          </a:prstGeom>
          <a:solidFill>
            <a:srgbClr val="F472B6">
              <a:alpha val="12000"/>
            </a:srgbClr>
          </a:solidFill>
          <a:ln w="12700">
            <a:solidFill>
              <a:srgbClr val="F472B6">
                <a:alpha val="12000"/>
              </a:srgbClr>
            </a:solidFill>
            <a:prstDash val="solid"/>
          </a:ln>
        </p:spPr>
      </p:sp>
      <p:sp>
        <p:nvSpPr>
          <p:cNvPr id="4" name="Shape 2"/>
          <p:cNvSpPr/>
          <p:nvPr/>
        </p:nvSpPr>
        <p:spPr>
          <a:xfrm>
            <a:off x="0" y="0"/>
            <a:ext cx="12161520" cy="164592"/>
          </a:xfrm>
          <a:prstGeom prst="rect">
            <a:avLst/>
          </a:prstGeom>
          <a:solidFill>
            <a:srgbClr val="FBBF24"/>
          </a:solidFill>
          <a:ln w="12700">
            <a:solidFill>
              <a:srgbClr val="FBBF24"/>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FBBF24"/>
                </a:solidFill>
                <a:latin typeface="Calibri" pitchFamily="34" charset="0"/>
                <a:ea typeface="Calibri" pitchFamily="34" charset="-122"/>
                <a:cs typeface="Calibri" pitchFamily="34" charset="-120"/>
              </a:rPr>
              <a:t>DATE DESPRE OFERTA REGENERABILA</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Setul 3: Productia panourilor fotovoltaice</a:t>
            </a:r>
            <a:endParaRPr lang="en-US" sz="3600" dirty="0"/>
          </a:p>
        </p:txBody>
      </p:sp>
      <p:sp>
        <p:nvSpPr>
          <p:cNvPr id="7" name="Shape 5"/>
          <p:cNvSpPr/>
          <p:nvPr/>
        </p:nvSpPr>
        <p:spPr>
          <a:xfrm>
            <a:off x="548640" y="1691640"/>
            <a:ext cx="1645920" cy="54864"/>
          </a:xfrm>
          <a:prstGeom prst="rect">
            <a:avLst/>
          </a:prstGeom>
          <a:solidFill>
            <a:srgbClr val="F472B6"/>
          </a:solidFill>
          <a:ln w="12700">
            <a:solidFill>
              <a:srgbClr val="F472B6"/>
            </a:solidFill>
            <a:prstDash val="solid"/>
          </a:ln>
        </p:spPr>
      </p:sp>
      <p:sp>
        <p:nvSpPr>
          <p:cNvPr id="8" name="Shape 6"/>
          <p:cNvSpPr/>
          <p:nvPr/>
        </p:nvSpPr>
        <p:spPr>
          <a:xfrm>
            <a:off x="548640" y="1783080"/>
            <a:ext cx="1371600" cy="1371600"/>
          </a:xfrm>
          <a:prstGeom prst="ellipse">
            <a:avLst/>
          </a:prstGeom>
          <a:solidFill>
            <a:srgbClr val="FBBF24"/>
          </a:solidFill>
          <a:ln w="12700">
            <a:solidFill>
              <a:srgbClr val="FBBF24"/>
            </a:solidFill>
            <a:prstDash val="solid"/>
          </a:ln>
        </p:spPr>
      </p:sp>
      <p:sp>
        <p:nvSpPr>
          <p:cNvPr id="9" name="Text 7"/>
          <p:cNvSpPr/>
          <p:nvPr/>
        </p:nvSpPr>
        <p:spPr>
          <a:xfrm>
            <a:off x="548640" y="1783080"/>
            <a:ext cx="1371600" cy="1371600"/>
          </a:xfrm>
          <a:prstGeom prst="rect">
            <a:avLst/>
          </a:prstGeom>
          <a:noFill/>
          <a:ln/>
        </p:spPr>
        <p:txBody>
          <a:bodyPr wrap="square" rtlCol="0" anchor="ctr"/>
          <a:lstStyle/>
          <a:p>
            <a:pPr algn="ctr" indent="0" marL="0">
              <a:buNone/>
            </a:pPr>
            <a:r>
              <a:rPr lang="en-US" sz="6400" b="1" dirty="0">
                <a:solidFill>
                  <a:srgbClr val="151025"/>
                </a:solidFill>
                <a:latin typeface="Cambria" pitchFamily="34" charset="0"/>
                <a:ea typeface="Cambria" pitchFamily="34" charset="-122"/>
                <a:cs typeface="Cambria" pitchFamily="34" charset="-120"/>
              </a:rPr>
              <a:t>3</a:t>
            </a:r>
            <a:endParaRPr lang="en-US" sz="6400" dirty="0"/>
          </a:p>
        </p:txBody>
      </p:sp>
      <p:sp>
        <p:nvSpPr>
          <p:cNvPr id="10" name="Shape 8"/>
          <p:cNvSpPr/>
          <p:nvPr/>
        </p:nvSpPr>
        <p:spPr>
          <a:xfrm>
            <a:off x="2103120" y="3108960"/>
            <a:ext cx="9509760" cy="1005840"/>
          </a:xfrm>
          <a:prstGeom prst="rect">
            <a:avLst/>
          </a:prstGeom>
          <a:solidFill>
            <a:srgbClr val="1E1A3A"/>
          </a:solidFill>
          <a:ln w="12700">
            <a:solidFill>
              <a:srgbClr val="1E1A3A"/>
            </a:solidFill>
            <a:prstDash val="solid"/>
          </a:ln>
        </p:spPr>
      </p:sp>
      <p:sp>
        <p:nvSpPr>
          <p:cNvPr id="11" name="Shape 9"/>
          <p:cNvSpPr/>
          <p:nvPr/>
        </p:nvSpPr>
        <p:spPr>
          <a:xfrm>
            <a:off x="2103120" y="3108960"/>
            <a:ext cx="137160" cy="1005840"/>
          </a:xfrm>
          <a:prstGeom prst="rect">
            <a:avLst/>
          </a:prstGeom>
          <a:solidFill>
            <a:srgbClr val="818CF8"/>
          </a:solidFill>
          <a:ln w="12700">
            <a:solidFill>
              <a:srgbClr val="818CF8"/>
            </a:solidFill>
            <a:prstDash val="solid"/>
          </a:ln>
        </p:spPr>
      </p:sp>
      <p:sp>
        <p:nvSpPr>
          <p:cNvPr id="12" name="Text 10"/>
          <p:cNvSpPr/>
          <p:nvPr/>
        </p:nvSpPr>
        <p:spPr>
          <a:xfrm>
            <a:off x="2331720" y="3172968"/>
            <a:ext cx="9189720" cy="914400"/>
          </a:xfrm>
          <a:prstGeom prst="rect">
            <a:avLst/>
          </a:prstGeom>
          <a:noFill/>
          <a:ln/>
        </p:spPr>
        <p:txBody>
          <a:bodyPr wrap="square" rtlCol="0" anchor="t"/>
          <a:lstStyle/>
          <a:p>
            <a:pPr indent="0" marL="0">
              <a:lnSpc>
                <a:spcPct val="120000"/>
              </a:lnSpc>
              <a:buNone/>
            </a:pPr>
            <a:r>
              <a:rPr lang="en-US" sz="1800" b="1" dirty="0">
                <a:solidFill>
                  <a:srgbClr val="818CF8"/>
                </a:solidFill>
                <a:latin typeface="Calibri" pitchFamily="34" charset="0"/>
                <a:ea typeface="Calibri" pitchFamily="34" charset="-122"/>
                <a:cs typeface="Calibri" pitchFamily="34" charset="-120"/>
              </a:rPr>
              <a:t>Ce contine setul
</a:t>
            </a:r>
            <a:pPr indent="0" marL="0">
              <a:lnSpc>
                <a:spcPct val="120000"/>
              </a:lnSpc>
              <a:buNone/>
            </a:pPr>
            <a:r>
              <a:rPr lang="en-US" sz="1600" dirty="0">
                <a:solidFill>
                  <a:srgbClr val="E2E8F0"/>
                </a:solidFill>
                <a:latin typeface="Calibri" pitchFamily="34" charset="0"/>
                <a:ea typeface="Calibri" pitchFamily="34" charset="-122"/>
                <a:cs typeface="Calibri" pitchFamily="34" charset="-120"/>
              </a:rPr>
              <a:t>Productia electrica a doua centrale fotovoltaice industriale + masuratori de senzori (iradiere solara, temperatura ambient, temperatura modul). Date la fiecare 15 minute.</a:t>
            </a:r>
            <a:endParaRPr lang="en-US" sz="1800" dirty="0"/>
          </a:p>
        </p:txBody>
      </p:sp>
      <p:sp>
        <p:nvSpPr>
          <p:cNvPr id="13" name="Shape 11"/>
          <p:cNvSpPr/>
          <p:nvPr/>
        </p:nvSpPr>
        <p:spPr>
          <a:xfrm>
            <a:off x="2103120" y="4160520"/>
            <a:ext cx="9509760" cy="1005840"/>
          </a:xfrm>
          <a:prstGeom prst="rect">
            <a:avLst/>
          </a:prstGeom>
          <a:solidFill>
            <a:srgbClr val="1E1A3A"/>
          </a:solidFill>
          <a:ln w="12700">
            <a:solidFill>
              <a:srgbClr val="1E1A3A"/>
            </a:solidFill>
            <a:prstDash val="solid"/>
          </a:ln>
        </p:spPr>
      </p:sp>
      <p:sp>
        <p:nvSpPr>
          <p:cNvPr id="14" name="Shape 12"/>
          <p:cNvSpPr/>
          <p:nvPr/>
        </p:nvSpPr>
        <p:spPr>
          <a:xfrm>
            <a:off x="2103120" y="4160520"/>
            <a:ext cx="137160" cy="1005840"/>
          </a:xfrm>
          <a:prstGeom prst="rect">
            <a:avLst/>
          </a:prstGeom>
          <a:solidFill>
            <a:srgbClr val="F472B6"/>
          </a:solidFill>
          <a:ln w="12700">
            <a:solidFill>
              <a:srgbClr val="F472B6"/>
            </a:solidFill>
            <a:prstDash val="solid"/>
          </a:ln>
        </p:spPr>
      </p:sp>
      <p:sp>
        <p:nvSpPr>
          <p:cNvPr id="15" name="Text 13"/>
          <p:cNvSpPr/>
          <p:nvPr/>
        </p:nvSpPr>
        <p:spPr>
          <a:xfrm>
            <a:off x="2331720" y="4224528"/>
            <a:ext cx="9189720" cy="914400"/>
          </a:xfrm>
          <a:prstGeom prst="rect">
            <a:avLst/>
          </a:prstGeom>
          <a:noFill/>
          <a:ln/>
        </p:spPr>
        <p:txBody>
          <a:bodyPr wrap="square" rtlCol="0" anchor="t"/>
          <a:lstStyle/>
          <a:p>
            <a:pPr indent="0" marL="0">
              <a:lnSpc>
                <a:spcPct val="120000"/>
              </a:lnSpc>
              <a:buNone/>
            </a:pPr>
            <a:r>
              <a:rPr lang="en-US" sz="1800" b="1" dirty="0">
                <a:solidFill>
                  <a:srgbClr val="F472B6"/>
                </a:solidFill>
                <a:latin typeface="Calibri" pitchFamily="34" charset="0"/>
                <a:ea typeface="Calibri" pitchFamily="34" charset="-122"/>
                <a:cs typeface="Calibri" pitchFamily="34" charset="-120"/>
              </a:rPr>
              <a:t>La ce ne ajuta
</a:t>
            </a:r>
            <a:pPr indent="0" marL="0">
              <a:lnSpc>
                <a:spcPct val="120000"/>
              </a:lnSpc>
              <a:buNone/>
            </a:pPr>
            <a:r>
              <a:rPr lang="en-US" sz="1600" dirty="0">
                <a:solidFill>
                  <a:srgbClr val="E2E8F0"/>
                </a:solidFill>
                <a:latin typeface="Calibri" pitchFamily="34" charset="0"/>
                <a:ea typeface="Calibri" pitchFamily="34" charset="-122"/>
                <a:cs typeface="Calibri" pitchFamily="34" charset="-120"/>
              </a:rPr>
              <a:t>Modelul invata cum conditiile fizice exterioare (soare, temperatura) se transforma in energie electrica — relatie puternic neliniara.</a:t>
            </a:r>
            <a:endParaRPr lang="en-US" sz="1800" dirty="0"/>
          </a:p>
        </p:txBody>
      </p:sp>
      <p:sp>
        <p:nvSpPr>
          <p:cNvPr id="16" name="Shape 14"/>
          <p:cNvSpPr/>
          <p:nvPr/>
        </p:nvSpPr>
        <p:spPr>
          <a:xfrm>
            <a:off x="2103120" y="5212080"/>
            <a:ext cx="9509760" cy="1005840"/>
          </a:xfrm>
          <a:prstGeom prst="rect">
            <a:avLst/>
          </a:prstGeom>
          <a:solidFill>
            <a:srgbClr val="1E1A3A"/>
          </a:solidFill>
          <a:ln w="12700">
            <a:solidFill>
              <a:srgbClr val="1E1A3A"/>
            </a:solidFill>
            <a:prstDash val="solid"/>
          </a:ln>
        </p:spPr>
      </p:sp>
      <p:sp>
        <p:nvSpPr>
          <p:cNvPr id="17" name="Shape 15"/>
          <p:cNvSpPr/>
          <p:nvPr/>
        </p:nvSpPr>
        <p:spPr>
          <a:xfrm>
            <a:off x="2103120" y="5212080"/>
            <a:ext cx="137160" cy="1005840"/>
          </a:xfrm>
          <a:prstGeom prst="rect">
            <a:avLst/>
          </a:prstGeom>
          <a:solidFill>
            <a:srgbClr val="FBBF24"/>
          </a:solidFill>
          <a:ln w="12700">
            <a:solidFill>
              <a:srgbClr val="FBBF24"/>
            </a:solidFill>
            <a:prstDash val="solid"/>
          </a:ln>
        </p:spPr>
      </p:sp>
      <p:sp>
        <p:nvSpPr>
          <p:cNvPr id="18" name="Text 16"/>
          <p:cNvSpPr/>
          <p:nvPr/>
        </p:nvSpPr>
        <p:spPr>
          <a:xfrm>
            <a:off x="2331720" y="5276088"/>
            <a:ext cx="9189720" cy="914400"/>
          </a:xfrm>
          <a:prstGeom prst="rect">
            <a:avLst/>
          </a:prstGeom>
          <a:noFill/>
          <a:ln/>
        </p:spPr>
        <p:txBody>
          <a:bodyPr wrap="square" rtlCol="0" anchor="t"/>
          <a:lstStyle/>
          <a:p>
            <a:pPr indent="0" marL="0">
              <a:lnSpc>
                <a:spcPct val="120000"/>
              </a:lnSpc>
              <a:buNone/>
            </a:pPr>
            <a:r>
              <a:rPr lang="en-US" sz="1800" b="1" dirty="0">
                <a:solidFill>
                  <a:srgbClr val="FBBF24"/>
                </a:solidFill>
                <a:latin typeface="Calibri" pitchFamily="34" charset="0"/>
                <a:ea typeface="Calibri" pitchFamily="34" charset="-122"/>
                <a:cs typeface="Calibri" pitchFamily="34" charset="-120"/>
              </a:rPr>
              <a:t>Cum contribuie la scopul final
</a:t>
            </a:r>
            <a:pPr indent="0" marL="0">
              <a:lnSpc>
                <a:spcPct val="120000"/>
              </a:lnSpc>
              <a:buNone/>
            </a:pPr>
            <a:r>
              <a:rPr lang="en-US" sz="1600" dirty="0">
                <a:solidFill>
                  <a:srgbClr val="E2E8F0"/>
                </a:solidFill>
                <a:latin typeface="Calibri" pitchFamily="34" charset="0"/>
                <a:ea typeface="Calibri" pitchFamily="34" charset="-122"/>
                <a:cs typeface="Calibri" pitchFamily="34" charset="-120"/>
              </a:rPr>
              <a:t>Predictia productiei regenerabile permite integrare inteligenta in retea: anticipam orele cu surplus si propunem stocare, sau orele cu productie redusa si pregatim backup.</a:t>
            </a:r>
            <a:endParaRPr lang="en-US" sz="1800" dirty="0"/>
          </a:p>
        </p:txBody>
      </p:sp>
      <p:sp>
        <p:nvSpPr>
          <p:cNvPr id="19" name="Text 17"/>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20" name="Text 18"/>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5 / 28</a:t>
            </a:r>
            <a:endParaRPr lang="en-US" sz="1100" dirty="0"/>
          </a:p>
        </p:txBody>
      </p:sp>
    </p:spTree>
  </p:cSld>
  <p:transition xmlns:p="http://schemas.openxmlformats.org/presentationml/2006/main" spd="med">
    <p:fade/>
  </p:transition>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51025"/>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818CF8">
              <a:alpha val="15000"/>
            </a:srgbClr>
          </a:solidFill>
          <a:ln w="12700">
            <a:solidFill>
              <a:srgbClr val="818CF8">
                <a:alpha val="15000"/>
              </a:srgbClr>
            </a:solidFill>
            <a:prstDash val="solid"/>
          </a:ln>
        </p:spPr>
      </p:sp>
      <p:sp>
        <p:nvSpPr>
          <p:cNvPr id="3" name="Shape 1"/>
          <p:cNvSpPr/>
          <p:nvPr/>
        </p:nvSpPr>
        <p:spPr>
          <a:xfrm>
            <a:off x="10515600" y="5212080"/>
            <a:ext cx="3200400" cy="3200400"/>
          </a:xfrm>
          <a:prstGeom prst="ellipse">
            <a:avLst/>
          </a:prstGeom>
          <a:solidFill>
            <a:srgbClr val="F472B6">
              <a:alpha val="12000"/>
            </a:srgbClr>
          </a:solidFill>
          <a:ln w="12700">
            <a:solidFill>
              <a:srgbClr val="F472B6">
                <a:alpha val="12000"/>
              </a:srgbClr>
            </a:solidFill>
            <a:prstDash val="solid"/>
          </a:ln>
        </p:spPr>
      </p:sp>
      <p:sp>
        <p:nvSpPr>
          <p:cNvPr id="4" name="Shape 2"/>
          <p:cNvSpPr/>
          <p:nvPr/>
        </p:nvSpPr>
        <p:spPr>
          <a:xfrm>
            <a:off x="0" y="0"/>
            <a:ext cx="12161520" cy="164592"/>
          </a:xfrm>
          <a:prstGeom prst="rect">
            <a:avLst/>
          </a:prstGeom>
          <a:solidFill>
            <a:srgbClr val="FBBF24"/>
          </a:solidFill>
          <a:ln w="12700">
            <a:solidFill>
              <a:srgbClr val="FBBF24"/>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FBBF24"/>
                </a:solidFill>
                <a:latin typeface="Calibri" pitchFamily="34" charset="0"/>
                <a:ea typeface="Calibri" pitchFamily="34" charset="-122"/>
                <a:cs typeface="Calibri" pitchFamily="34" charset="-120"/>
              </a:rPr>
              <a:t>IMAGINEA DE ANSAMBLU</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Trei seturi -&gt; Un sistem complet</a:t>
            </a:r>
            <a:endParaRPr lang="en-US" sz="3600" dirty="0"/>
          </a:p>
        </p:txBody>
      </p:sp>
      <p:sp>
        <p:nvSpPr>
          <p:cNvPr id="7" name="Shape 5"/>
          <p:cNvSpPr/>
          <p:nvPr/>
        </p:nvSpPr>
        <p:spPr>
          <a:xfrm>
            <a:off x="548640" y="1691640"/>
            <a:ext cx="1645920" cy="54864"/>
          </a:xfrm>
          <a:prstGeom prst="rect">
            <a:avLst/>
          </a:prstGeom>
          <a:solidFill>
            <a:srgbClr val="F472B6"/>
          </a:solidFill>
          <a:ln w="12700">
            <a:solidFill>
              <a:srgbClr val="F472B6"/>
            </a:solidFill>
            <a:prstDash val="solid"/>
          </a:ln>
        </p:spPr>
      </p:sp>
      <p:sp>
        <p:nvSpPr>
          <p:cNvPr id="8" name="Shape 6"/>
          <p:cNvSpPr/>
          <p:nvPr/>
        </p:nvSpPr>
        <p:spPr>
          <a:xfrm>
            <a:off x="822960" y="2834640"/>
            <a:ext cx="3017520" cy="3017520"/>
          </a:xfrm>
          <a:prstGeom prst="ellipse">
            <a:avLst/>
          </a:prstGeom>
          <a:solidFill>
            <a:srgbClr val="818CF8"/>
          </a:solidFill>
          <a:ln w="12700">
            <a:solidFill>
              <a:srgbClr val="818CF8"/>
            </a:solidFill>
            <a:prstDash val="solid"/>
          </a:ln>
        </p:spPr>
      </p:sp>
      <p:sp>
        <p:nvSpPr>
          <p:cNvPr id="9" name="Text 7"/>
          <p:cNvSpPr/>
          <p:nvPr/>
        </p:nvSpPr>
        <p:spPr>
          <a:xfrm>
            <a:off x="822960" y="3337560"/>
            <a:ext cx="3017520" cy="64008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CERERE</a:t>
            </a:r>
            <a:endParaRPr lang="en-US" sz="2400" dirty="0"/>
          </a:p>
        </p:txBody>
      </p:sp>
      <p:sp>
        <p:nvSpPr>
          <p:cNvPr id="10" name="Text 8"/>
          <p:cNvSpPr/>
          <p:nvPr/>
        </p:nvSpPr>
        <p:spPr>
          <a:xfrm>
            <a:off x="822960" y="4343400"/>
            <a:ext cx="3017520" cy="822960"/>
          </a:xfrm>
          <a:prstGeom prst="rect">
            <a:avLst/>
          </a:prstGeom>
          <a:noFill/>
          <a:ln/>
        </p:spPr>
        <p:txBody>
          <a:bodyPr wrap="square"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Setul 1</a:t>
            </a:r>
            <a:endParaRPr lang="en-US" sz="1500" dirty="0"/>
          </a:p>
          <a:p>
            <a:pPr algn="ctr" indent="0" marL="0">
              <a:buNone/>
            </a:pPr>
            <a:r>
              <a:rPr lang="en-US" sz="1500" dirty="0">
                <a:solidFill>
                  <a:srgbClr val="FFFFFF"/>
                </a:solidFill>
                <a:latin typeface="Calibri" pitchFamily="34" charset="0"/>
                <a:ea typeface="Calibri" pitchFamily="34" charset="-122"/>
                <a:cs typeface="Calibri" pitchFamily="34" charset="-120"/>
              </a:rPr>
              <a:t>Consum 16 ani</a:t>
            </a:r>
            <a:endParaRPr lang="en-US" sz="1500" dirty="0"/>
          </a:p>
        </p:txBody>
      </p:sp>
      <p:sp>
        <p:nvSpPr>
          <p:cNvPr id="11" name="Shape 9"/>
          <p:cNvSpPr/>
          <p:nvPr/>
        </p:nvSpPr>
        <p:spPr>
          <a:xfrm>
            <a:off x="4389120" y="2651760"/>
            <a:ext cx="3383280" cy="3383280"/>
          </a:xfrm>
          <a:prstGeom prst="ellipse">
            <a:avLst/>
          </a:prstGeom>
          <a:solidFill>
            <a:srgbClr val="F472B6"/>
          </a:solidFill>
          <a:ln w="12700">
            <a:solidFill>
              <a:srgbClr val="F472B6"/>
            </a:solidFill>
            <a:prstDash val="solid"/>
          </a:ln>
        </p:spPr>
      </p:sp>
      <p:sp>
        <p:nvSpPr>
          <p:cNvPr id="12" name="Text 10"/>
          <p:cNvSpPr/>
          <p:nvPr/>
        </p:nvSpPr>
        <p:spPr>
          <a:xfrm>
            <a:off x="4389120" y="3246120"/>
            <a:ext cx="3383280" cy="64008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PIATA + PRET</a:t>
            </a:r>
            <a:endParaRPr lang="en-US" sz="2400" dirty="0"/>
          </a:p>
        </p:txBody>
      </p:sp>
      <p:sp>
        <p:nvSpPr>
          <p:cNvPr id="13" name="Text 11"/>
          <p:cNvSpPr/>
          <p:nvPr/>
        </p:nvSpPr>
        <p:spPr>
          <a:xfrm>
            <a:off x="4389120" y="4251960"/>
            <a:ext cx="3383280" cy="822960"/>
          </a:xfrm>
          <a:prstGeom prst="rect">
            <a:avLst/>
          </a:prstGeom>
          <a:noFill/>
          <a:ln/>
        </p:spPr>
        <p:txBody>
          <a:bodyPr wrap="square"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Setul 2</a:t>
            </a:r>
            <a:endParaRPr lang="en-US" sz="1500" dirty="0"/>
          </a:p>
          <a:p>
            <a:pPr algn="ctr" indent="0" marL="0">
              <a:buNone/>
            </a:pPr>
            <a:r>
              <a:rPr lang="en-US" sz="1500" dirty="0">
                <a:solidFill>
                  <a:srgbClr val="FFFFFF"/>
                </a:solidFill>
                <a:latin typeface="Calibri" pitchFamily="34" charset="0"/>
                <a:ea typeface="Calibri" pitchFamily="34" charset="-122"/>
                <a:cs typeface="Calibri" pitchFamily="34" charset="-120"/>
              </a:rPr>
              <a:t>Pret 4 ani</a:t>
            </a:r>
            <a:endParaRPr lang="en-US" sz="1500" dirty="0"/>
          </a:p>
        </p:txBody>
      </p:sp>
      <p:sp>
        <p:nvSpPr>
          <p:cNvPr id="14" name="Shape 12"/>
          <p:cNvSpPr/>
          <p:nvPr/>
        </p:nvSpPr>
        <p:spPr>
          <a:xfrm>
            <a:off x="8321040" y="2834640"/>
            <a:ext cx="3017520" cy="3017520"/>
          </a:xfrm>
          <a:prstGeom prst="ellipse">
            <a:avLst/>
          </a:prstGeom>
          <a:solidFill>
            <a:srgbClr val="FBBF24"/>
          </a:solidFill>
          <a:ln w="12700">
            <a:solidFill>
              <a:srgbClr val="FBBF24"/>
            </a:solidFill>
            <a:prstDash val="solid"/>
          </a:ln>
        </p:spPr>
      </p:sp>
      <p:sp>
        <p:nvSpPr>
          <p:cNvPr id="15" name="Text 13"/>
          <p:cNvSpPr/>
          <p:nvPr/>
        </p:nvSpPr>
        <p:spPr>
          <a:xfrm>
            <a:off x="8321040" y="3337560"/>
            <a:ext cx="3017520" cy="640080"/>
          </a:xfrm>
          <a:prstGeom prst="rect">
            <a:avLst/>
          </a:prstGeom>
          <a:noFill/>
          <a:ln/>
        </p:spPr>
        <p:txBody>
          <a:bodyPr wrap="square" rtlCol="0" anchor="ctr"/>
          <a:lstStyle/>
          <a:p>
            <a:pPr algn="ctr" indent="0" marL="0">
              <a:buNone/>
            </a:pPr>
            <a:r>
              <a:rPr lang="en-US" sz="2400" b="1" dirty="0">
                <a:solidFill>
                  <a:srgbClr val="151025"/>
                </a:solidFill>
                <a:latin typeface="Cambria" pitchFamily="34" charset="0"/>
                <a:ea typeface="Cambria" pitchFamily="34" charset="-122"/>
                <a:cs typeface="Cambria" pitchFamily="34" charset="-120"/>
              </a:rPr>
              <a:t>OFERTA</a:t>
            </a:r>
            <a:endParaRPr lang="en-US" sz="2400" dirty="0"/>
          </a:p>
        </p:txBody>
      </p:sp>
      <p:sp>
        <p:nvSpPr>
          <p:cNvPr id="16" name="Text 14"/>
          <p:cNvSpPr/>
          <p:nvPr/>
        </p:nvSpPr>
        <p:spPr>
          <a:xfrm>
            <a:off x="8321040" y="4343400"/>
            <a:ext cx="3017520" cy="822960"/>
          </a:xfrm>
          <a:prstGeom prst="rect">
            <a:avLst/>
          </a:prstGeom>
          <a:noFill/>
          <a:ln/>
        </p:spPr>
        <p:txBody>
          <a:bodyPr wrap="square" rtlCol="0" anchor="ctr"/>
          <a:lstStyle/>
          <a:p>
            <a:pPr algn="ctr" indent="0" marL="0">
              <a:buNone/>
            </a:pPr>
            <a:r>
              <a:rPr lang="en-US" sz="1500" dirty="0">
                <a:solidFill>
                  <a:srgbClr val="151025"/>
                </a:solidFill>
                <a:latin typeface="Calibri" pitchFamily="34" charset="0"/>
                <a:ea typeface="Calibri" pitchFamily="34" charset="-122"/>
                <a:cs typeface="Calibri" pitchFamily="34" charset="-120"/>
              </a:rPr>
              <a:t>Setul 3</a:t>
            </a:r>
            <a:endParaRPr lang="en-US" sz="1500" dirty="0"/>
          </a:p>
          <a:p>
            <a:pPr algn="ctr" indent="0" marL="0">
              <a:buNone/>
            </a:pPr>
            <a:r>
              <a:rPr lang="en-US" sz="1500" dirty="0">
                <a:solidFill>
                  <a:srgbClr val="151025"/>
                </a:solidFill>
                <a:latin typeface="Calibri" pitchFamily="34" charset="0"/>
                <a:ea typeface="Calibri" pitchFamily="34" charset="-122"/>
                <a:cs typeface="Calibri" pitchFamily="34" charset="-120"/>
              </a:rPr>
              <a:t>Solar + senzori</a:t>
            </a:r>
            <a:endParaRPr lang="en-US" sz="1500" dirty="0"/>
          </a:p>
        </p:txBody>
      </p:sp>
      <p:sp>
        <p:nvSpPr>
          <p:cNvPr id="17" name="Shape 15"/>
          <p:cNvSpPr/>
          <p:nvPr/>
        </p:nvSpPr>
        <p:spPr>
          <a:xfrm>
            <a:off x="3840480" y="4343400"/>
            <a:ext cx="1371600" cy="0"/>
          </a:xfrm>
          <a:prstGeom prst="line">
            <a:avLst/>
          </a:prstGeom>
          <a:noFill/>
          <a:ln w="50800">
            <a:solidFill>
              <a:srgbClr val="FFFFFF"/>
            </a:solidFill>
            <a:prstDash val="solid"/>
            <a:tailEnd type="triangle"/>
          </a:ln>
        </p:spPr>
      </p:sp>
      <p:sp>
        <p:nvSpPr>
          <p:cNvPr id="18" name="Shape 16"/>
          <p:cNvSpPr/>
          <p:nvPr/>
        </p:nvSpPr>
        <p:spPr>
          <a:xfrm>
            <a:off x="8321040" y="4343400"/>
            <a:ext cx="-1371600" cy="0"/>
          </a:xfrm>
          <a:prstGeom prst="line">
            <a:avLst/>
          </a:prstGeom>
          <a:noFill/>
          <a:ln w="50800">
            <a:solidFill>
              <a:srgbClr val="FFFFFF"/>
            </a:solidFill>
            <a:prstDash val="solid"/>
            <a:tailEnd type="triangle"/>
          </a:ln>
        </p:spPr>
      </p:sp>
      <p:sp>
        <p:nvSpPr>
          <p:cNvPr id="19" name="Text 17"/>
          <p:cNvSpPr/>
          <p:nvPr/>
        </p:nvSpPr>
        <p:spPr>
          <a:xfrm>
            <a:off x="548640" y="5989320"/>
            <a:ext cx="11064240" cy="457200"/>
          </a:xfrm>
          <a:prstGeom prst="rect">
            <a:avLst/>
          </a:prstGeom>
          <a:noFill/>
          <a:ln/>
        </p:spPr>
        <p:txBody>
          <a:bodyPr wrap="square" rtlCol="0" anchor="ctr"/>
          <a:lstStyle/>
          <a:p>
            <a:pPr algn="ctr" indent="0" marL="0">
              <a:buNone/>
            </a:pPr>
            <a:r>
              <a:rPr lang="en-US" sz="1800" b="1" i="1" dirty="0">
                <a:solidFill>
                  <a:srgbClr val="FFFFFF"/>
                </a:solidFill>
                <a:latin typeface="Calibri" pitchFamily="34" charset="0"/>
                <a:ea typeface="Calibri" pitchFamily="34" charset="-122"/>
                <a:cs typeface="Calibri" pitchFamily="34" charset="-120"/>
              </a:rPr>
              <a:t>Cele 3 seturi acopera toate perspectivele esentiale ale sistemului energetic.</a:t>
            </a:r>
            <a:endParaRPr lang="en-US" sz="1800" dirty="0"/>
          </a:p>
        </p:txBody>
      </p:sp>
      <p:sp>
        <p:nvSpPr>
          <p:cNvPr id="20" name="Text 18"/>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21" name="Text 19"/>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6 / 28</a:t>
            </a:r>
            <a:endParaRPr lang="en-US" sz="1100" dirty="0"/>
          </a:p>
        </p:txBody>
      </p:sp>
    </p:spTree>
  </p:cSld>
  <p:transition xmlns:p="http://schemas.openxmlformats.org/presentationml/2006/main" spd="med">
    <p:fade/>
  </p:transition>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51025"/>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818CF8">
              <a:alpha val="15000"/>
            </a:srgbClr>
          </a:solidFill>
          <a:ln w="12700">
            <a:solidFill>
              <a:srgbClr val="818CF8">
                <a:alpha val="15000"/>
              </a:srgbClr>
            </a:solidFill>
            <a:prstDash val="solid"/>
          </a:ln>
        </p:spPr>
      </p:sp>
      <p:sp>
        <p:nvSpPr>
          <p:cNvPr id="3" name="Shape 1"/>
          <p:cNvSpPr/>
          <p:nvPr/>
        </p:nvSpPr>
        <p:spPr>
          <a:xfrm>
            <a:off x="10515600" y="5212080"/>
            <a:ext cx="3200400" cy="3200400"/>
          </a:xfrm>
          <a:prstGeom prst="ellipse">
            <a:avLst/>
          </a:prstGeom>
          <a:solidFill>
            <a:srgbClr val="F472B6">
              <a:alpha val="12000"/>
            </a:srgbClr>
          </a:solidFill>
          <a:ln w="12700">
            <a:solidFill>
              <a:srgbClr val="F472B6">
                <a:alpha val="12000"/>
              </a:srgbClr>
            </a:solidFill>
            <a:prstDash val="solid"/>
          </a:ln>
        </p:spPr>
      </p:sp>
      <p:sp>
        <p:nvSpPr>
          <p:cNvPr id="4" name="Shape 2"/>
          <p:cNvSpPr/>
          <p:nvPr/>
        </p:nvSpPr>
        <p:spPr>
          <a:xfrm>
            <a:off x="0" y="0"/>
            <a:ext cx="12161520" cy="164592"/>
          </a:xfrm>
          <a:prstGeom prst="rect">
            <a:avLst/>
          </a:prstGeom>
          <a:solidFill>
            <a:srgbClr val="FBBF24"/>
          </a:solidFill>
          <a:ln w="12700">
            <a:solidFill>
              <a:srgbClr val="FBBF24"/>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FBBF24"/>
                </a:solidFill>
                <a:latin typeface="Calibri" pitchFamily="34" charset="0"/>
                <a:ea typeface="Calibri" pitchFamily="34" charset="-122"/>
                <a:cs typeface="Calibri" pitchFamily="34" charset="-120"/>
              </a:rPr>
              <a:t>PROBLEMA 1</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Cum arata datele cand le primim</a:t>
            </a:r>
            <a:endParaRPr lang="en-US" sz="3600" dirty="0"/>
          </a:p>
        </p:txBody>
      </p:sp>
      <p:sp>
        <p:nvSpPr>
          <p:cNvPr id="7" name="Shape 5"/>
          <p:cNvSpPr/>
          <p:nvPr/>
        </p:nvSpPr>
        <p:spPr>
          <a:xfrm>
            <a:off x="548640" y="1691640"/>
            <a:ext cx="1645920" cy="54864"/>
          </a:xfrm>
          <a:prstGeom prst="rect">
            <a:avLst/>
          </a:prstGeom>
          <a:solidFill>
            <a:srgbClr val="F472B6"/>
          </a:solidFill>
          <a:ln w="12700">
            <a:solidFill>
              <a:srgbClr val="F472B6"/>
            </a:solidFill>
            <a:prstDash val="solid"/>
          </a:ln>
        </p:spPr>
      </p:sp>
      <p:sp>
        <p:nvSpPr>
          <p:cNvPr id="8" name="Text 6"/>
          <p:cNvSpPr/>
          <p:nvPr/>
        </p:nvSpPr>
        <p:spPr>
          <a:xfrm>
            <a:off x="548640" y="1874520"/>
            <a:ext cx="5486400" cy="457200"/>
          </a:xfrm>
          <a:prstGeom prst="rect">
            <a:avLst/>
          </a:prstGeom>
          <a:noFill/>
          <a:ln/>
        </p:spPr>
        <p:txBody>
          <a:bodyPr wrap="square" rtlCol="0" anchor="ctr"/>
          <a:lstStyle/>
          <a:p>
            <a:pPr indent="0" marL="0">
              <a:buNone/>
            </a:pPr>
            <a:r>
              <a:rPr lang="en-US" sz="1900" b="1" dirty="0">
                <a:solidFill>
                  <a:srgbClr val="E2E8F0"/>
                </a:solidFill>
                <a:latin typeface="Calibri" pitchFamily="34" charset="0"/>
                <a:ea typeface="Calibri" pitchFamily="34" charset="-122"/>
                <a:cs typeface="Calibri" pitchFamily="34" charset="-120"/>
              </a:rPr>
              <a:t>Datele brute, in forma originala:</a:t>
            </a:r>
            <a:endParaRPr lang="en-US" sz="19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2377440"/>
          <a:ext cx="5486400" cy="2926080"/>
        </p:xfrm>
        <a:graphic>
          <a:graphicData uri="http://schemas.openxmlformats.org/drawingml/2006/table">
            <a:tbl>
              <a:tblPr/>
              <a:tblGrid>
                <a:gridCol w="2743200"/>
                <a:gridCol w="2743200"/>
              </a:tblGrid>
              <a:tr h="487680">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timestamp</a:t>
                      </a:r>
                      <a:endParaRPr lang="en-US" sz="1800" dirty="0">
                        <a:latin typeface="Calibri" charset="0"/>
                        <a:ea typeface="Calibri" charset="0"/>
                        <a:cs typeface="Calibri" charset="0"/>
                      </a:endParaRPr>
                    </a:p>
                  </a:txBody>
                  <a:tcPr marL="91440" marR="91440" marT="45720" marB="45720">
                    <a:lnL w="6350" cap="flat" cmpd="sng" algn="ctr">
                      <a:solidFill>
                        <a:srgbClr val="151025"/>
                      </a:solidFill>
                      <a:prstDash val="solid"/>
                      <a:round/>
                      <a:headEnd type="none" w="med" len="med"/>
                      <a:tailEnd type="none" w="med" len="med"/>
                    </a:lnL>
                    <a:lnR w="6350" cap="flat" cmpd="sng" algn="ctr">
                      <a:solidFill>
                        <a:srgbClr val="151025"/>
                      </a:solidFill>
                      <a:prstDash val="solid"/>
                      <a:round/>
                      <a:headEnd type="none" w="med" len="med"/>
                      <a:tailEnd type="none" w="med" len="med"/>
                    </a:lnR>
                    <a:lnT w="6350" cap="flat" cmpd="sng" algn="ctr">
                      <a:solidFill>
                        <a:srgbClr val="151025"/>
                      </a:solidFill>
                      <a:prstDash val="solid"/>
                      <a:round/>
                      <a:headEnd type="none" w="med" len="med"/>
                      <a:tailEnd type="none" w="med" len="med"/>
                    </a:lnT>
                    <a:lnB w="6350" cap="flat" cmpd="sng" algn="ctr">
                      <a:solidFill>
                        <a:srgbClr val="151025"/>
                      </a:solidFill>
                      <a:prstDash val="solid"/>
                      <a:round/>
                      <a:headEnd type="none" w="med" len="med"/>
                      <a:tailEnd type="none" w="med" len="med"/>
                    </a:lnB>
                    <a:solidFill>
                      <a:srgbClr val="818CF8"/>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valoare</a:t>
                      </a:r>
                      <a:endParaRPr lang="en-US" sz="1800" dirty="0">
                        <a:latin typeface="Calibri" charset="0"/>
                        <a:ea typeface="Calibri" charset="0"/>
                        <a:cs typeface="Calibri" charset="0"/>
                      </a:endParaRPr>
                    </a:p>
                  </a:txBody>
                  <a:tcPr marL="91440" marR="91440" marT="45720" marB="45720">
                    <a:lnL w="6350" cap="flat" cmpd="sng" algn="ctr">
                      <a:solidFill>
                        <a:srgbClr val="151025"/>
                      </a:solidFill>
                      <a:prstDash val="solid"/>
                      <a:round/>
                      <a:headEnd type="none" w="med" len="med"/>
                      <a:tailEnd type="none" w="med" len="med"/>
                    </a:lnL>
                    <a:lnR w="6350" cap="flat" cmpd="sng" algn="ctr">
                      <a:solidFill>
                        <a:srgbClr val="151025"/>
                      </a:solidFill>
                      <a:prstDash val="solid"/>
                      <a:round/>
                      <a:headEnd type="none" w="med" len="med"/>
                      <a:tailEnd type="none" w="med" len="med"/>
                    </a:lnR>
                    <a:lnT w="6350" cap="flat" cmpd="sng" algn="ctr">
                      <a:solidFill>
                        <a:srgbClr val="151025"/>
                      </a:solidFill>
                      <a:prstDash val="solid"/>
                      <a:round/>
                      <a:headEnd type="none" w="med" len="med"/>
                      <a:tailEnd type="none" w="med" len="med"/>
                    </a:lnT>
                    <a:lnB w="6350" cap="flat" cmpd="sng" algn="ctr">
                      <a:solidFill>
                        <a:srgbClr val="151025"/>
                      </a:solidFill>
                      <a:prstDash val="solid"/>
                      <a:round/>
                      <a:headEnd type="none" w="med" len="med"/>
                      <a:tailEnd type="none" w="med" len="med"/>
                    </a:lnB>
                    <a:solidFill>
                      <a:srgbClr val="818CF8"/>
                    </a:solidFill>
                  </a:tcPr>
                </a:tc>
              </a:tr>
              <a:tr h="487680">
                <a:tc>
                  <a:txBody>
                    <a:bodyPr/>
                    <a:lstStyle/>
                    <a:p>
                      <a:pPr algn="ctr" indent="0" marL="0">
                        <a:buNone/>
                      </a:pPr>
                      <a:r>
                        <a:rPr lang="en-US" sz="1800" dirty="0">
                          <a:solidFill>
                            <a:srgbClr val="E2E8F0"/>
                          </a:solidFill>
                          <a:latin typeface="Calibri" pitchFamily="34" charset="0"/>
                          <a:ea typeface="Calibri" pitchFamily="34" charset="-122"/>
                          <a:cs typeface="Calibri" pitchFamily="34" charset="-120"/>
                        </a:rPr>
                        <a:t>2018-03-15 22:00</a:t>
                      </a:r>
                      <a:endParaRPr lang="en-US" sz="1800" dirty="0">
                        <a:latin typeface="Calibri" charset="0"/>
                        <a:ea typeface="Calibri" charset="0"/>
                        <a:cs typeface="Calibri" charset="0"/>
                      </a:endParaRPr>
                    </a:p>
                  </a:txBody>
                  <a:tcPr marL="91440" marR="91440" marT="45720" marB="45720">
                    <a:lnL w="6350" cap="flat" cmpd="sng" algn="ctr">
                      <a:solidFill>
                        <a:srgbClr val="151025"/>
                      </a:solidFill>
                      <a:prstDash val="solid"/>
                      <a:round/>
                      <a:headEnd type="none" w="med" len="med"/>
                      <a:tailEnd type="none" w="med" len="med"/>
                    </a:lnL>
                    <a:lnR w="6350" cap="flat" cmpd="sng" algn="ctr">
                      <a:solidFill>
                        <a:srgbClr val="151025"/>
                      </a:solidFill>
                      <a:prstDash val="solid"/>
                      <a:round/>
                      <a:headEnd type="none" w="med" len="med"/>
                      <a:tailEnd type="none" w="med" len="med"/>
                    </a:lnR>
                    <a:lnT w="6350" cap="flat" cmpd="sng" algn="ctr">
                      <a:solidFill>
                        <a:srgbClr val="151025"/>
                      </a:solidFill>
                      <a:prstDash val="solid"/>
                      <a:round/>
                      <a:headEnd type="none" w="med" len="med"/>
                      <a:tailEnd type="none" w="med" len="med"/>
                    </a:lnT>
                    <a:lnB w="6350" cap="flat" cmpd="sng" algn="ctr">
                      <a:solidFill>
                        <a:srgbClr val="151025"/>
                      </a:solidFill>
                      <a:prstDash val="solid"/>
                      <a:round/>
                      <a:headEnd type="none" w="med" len="med"/>
                      <a:tailEnd type="none" w="med" len="med"/>
                    </a:lnB>
                    <a:solidFill>
                      <a:srgbClr val="1E1A3A"/>
                    </a:solidFill>
                  </a:tcPr>
                </a:tc>
                <a:tc>
                  <a:txBody>
                    <a:bodyPr/>
                    <a:lstStyle/>
                    <a:p>
                      <a:pPr algn="ctr" indent="0" marL="0">
                        <a:buNone/>
                      </a:pPr>
                      <a:r>
                        <a:rPr lang="en-US" sz="1800" dirty="0">
                          <a:solidFill>
                            <a:srgbClr val="E2E8F0"/>
                          </a:solidFill>
                          <a:latin typeface="Calibri" pitchFamily="34" charset="0"/>
                          <a:ea typeface="Calibri" pitchFamily="34" charset="-122"/>
                          <a:cs typeface="Calibri" pitchFamily="34" charset="-120"/>
                        </a:rPr>
                        <a:t>58.2</a:t>
                      </a:r>
                      <a:endParaRPr lang="en-US" sz="1800" dirty="0">
                        <a:latin typeface="Calibri" charset="0"/>
                        <a:ea typeface="Calibri" charset="0"/>
                        <a:cs typeface="Calibri" charset="0"/>
                      </a:endParaRPr>
                    </a:p>
                  </a:txBody>
                  <a:tcPr marL="91440" marR="91440" marT="45720" marB="45720">
                    <a:lnL w="6350" cap="flat" cmpd="sng" algn="ctr">
                      <a:solidFill>
                        <a:srgbClr val="151025"/>
                      </a:solidFill>
                      <a:prstDash val="solid"/>
                      <a:round/>
                      <a:headEnd type="none" w="med" len="med"/>
                      <a:tailEnd type="none" w="med" len="med"/>
                    </a:lnL>
                    <a:lnR w="6350" cap="flat" cmpd="sng" algn="ctr">
                      <a:solidFill>
                        <a:srgbClr val="151025"/>
                      </a:solidFill>
                      <a:prstDash val="solid"/>
                      <a:round/>
                      <a:headEnd type="none" w="med" len="med"/>
                      <a:tailEnd type="none" w="med" len="med"/>
                    </a:lnR>
                    <a:lnT w="6350" cap="flat" cmpd="sng" algn="ctr">
                      <a:solidFill>
                        <a:srgbClr val="151025"/>
                      </a:solidFill>
                      <a:prstDash val="solid"/>
                      <a:round/>
                      <a:headEnd type="none" w="med" len="med"/>
                      <a:tailEnd type="none" w="med" len="med"/>
                    </a:lnT>
                    <a:lnB w="6350" cap="flat" cmpd="sng" algn="ctr">
                      <a:solidFill>
                        <a:srgbClr val="151025"/>
                      </a:solidFill>
                      <a:prstDash val="solid"/>
                      <a:round/>
                      <a:headEnd type="none" w="med" len="med"/>
                      <a:tailEnd type="none" w="med" len="med"/>
                    </a:lnB>
                    <a:solidFill>
                      <a:srgbClr val="1E1A3A"/>
                    </a:solidFill>
                  </a:tcPr>
                </a:tc>
              </a:tr>
              <a:tr h="487680">
                <a:tc>
                  <a:txBody>
                    <a:bodyPr/>
                    <a:lstStyle/>
                    <a:p>
                      <a:pPr algn="ctr" indent="0" marL="0">
                        <a:buNone/>
                      </a:pPr>
                      <a:r>
                        <a:rPr lang="en-US" sz="1800" dirty="0">
                          <a:solidFill>
                            <a:srgbClr val="E2E8F0"/>
                          </a:solidFill>
                          <a:latin typeface="Calibri" pitchFamily="34" charset="0"/>
                          <a:ea typeface="Calibri" pitchFamily="34" charset="-122"/>
                          <a:cs typeface="Calibri" pitchFamily="34" charset="-120"/>
                        </a:rPr>
                        <a:t>2018-03-15 23:00</a:t>
                      </a:r>
                      <a:endParaRPr lang="en-US" sz="1800" dirty="0">
                        <a:latin typeface="Calibri" charset="0"/>
                        <a:ea typeface="Calibri" charset="0"/>
                        <a:cs typeface="Calibri" charset="0"/>
                      </a:endParaRPr>
                    </a:p>
                  </a:txBody>
                  <a:tcPr marL="91440" marR="91440" marT="45720" marB="45720">
                    <a:lnL w="6350" cap="flat" cmpd="sng" algn="ctr">
                      <a:solidFill>
                        <a:srgbClr val="151025"/>
                      </a:solidFill>
                      <a:prstDash val="solid"/>
                      <a:round/>
                      <a:headEnd type="none" w="med" len="med"/>
                      <a:tailEnd type="none" w="med" len="med"/>
                    </a:lnL>
                    <a:lnR w="6350" cap="flat" cmpd="sng" algn="ctr">
                      <a:solidFill>
                        <a:srgbClr val="151025"/>
                      </a:solidFill>
                      <a:prstDash val="solid"/>
                      <a:round/>
                      <a:headEnd type="none" w="med" len="med"/>
                      <a:tailEnd type="none" w="med" len="med"/>
                    </a:lnR>
                    <a:lnT w="6350" cap="flat" cmpd="sng" algn="ctr">
                      <a:solidFill>
                        <a:srgbClr val="151025"/>
                      </a:solidFill>
                      <a:prstDash val="solid"/>
                      <a:round/>
                      <a:headEnd type="none" w="med" len="med"/>
                      <a:tailEnd type="none" w="med" len="med"/>
                    </a:lnT>
                    <a:lnB w="6350" cap="flat" cmpd="sng" algn="ctr">
                      <a:solidFill>
                        <a:srgbClr val="151025"/>
                      </a:solidFill>
                      <a:prstDash val="solid"/>
                      <a:round/>
                      <a:headEnd type="none" w="med" len="med"/>
                      <a:tailEnd type="none" w="med" len="med"/>
                    </a:lnB>
                    <a:solidFill>
                      <a:srgbClr val="1E1A3A"/>
                    </a:solidFill>
                  </a:tcPr>
                </a:tc>
                <a:tc>
                  <a:txBody>
                    <a:bodyPr/>
                    <a:lstStyle/>
                    <a:p>
                      <a:pPr algn="ctr" indent="0" marL="0">
                        <a:buNone/>
                      </a:pPr>
                      <a:r>
                        <a:rPr lang="en-US" sz="1800" dirty="0">
                          <a:solidFill>
                            <a:srgbClr val="E2E8F0"/>
                          </a:solidFill>
                          <a:latin typeface="Calibri" pitchFamily="34" charset="0"/>
                          <a:ea typeface="Calibri" pitchFamily="34" charset="-122"/>
                          <a:cs typeface="Calibri" pitchFamily="34" charset="-120"/>
                        </a:rPr>
                        <a:t>55.4</a:t>
                      </a:r>
                      <a:endParaRPr lang="en-US" sz="1800" dirty="0">
                        <a:latin typeface="Calibri" charset="0"/>
                        <a:ea typeface="Calibri" charset="0"/>
                        <a:cs typeface="Calibri" charset="0"/>
                      </a:endParaRPr>
                    </a:p>
                  </a:txBody>
                  <a:tcPr marL="91440" marR="91440" marT="45720" marB="45720">
                    <a:lnL w="6350" cap="flat" cmpd="sng" algn="ctr">
                      <a:solidFill>
                        <a:srgbClr val="151025"/>
                      </a:solidFill>
                      <a:prstDash val="solid"/>
                      <a:round/>
                      <a:headEnd type="none" w="med" len="med"/>
                      <a:tailEnd type="none" w="med" len="med"/>
                    </a:lnL>
                    <a:lnR w="6350" cap="flat" cmpd="sng" algn="ctr">
                      <a:solidFill>
                        <a:srgbClr val="151025"/>
                      </a:solidFill>
                      <a:prstDash val="solid"/>
                      <a:round/>
                      <a:headEnd type="none" w="med" len="med"/>
                      <a:tailEnd type="none" w="med" len="med"/>
                    </a:lnR>
                    <a:lnT w="6350" cap="flat" cmpd="sng" algn="ctr">
                      <a:solidFill>
                        <a:srgbClr val="151025"/>
                      </a:solidFill>
                      <a:prstDash val="solid"/>
                      <a:round/>
                      <a:headEnd type="none" w="med" len="med"/>
                      <a:tailEnd type="none" w="med" len="med"/>
                    </a:lnT>
                    <a:lnB w="6350" cap="flat" cmpd="sng" algn="ctr">
                      <a:solidFill>
                        <a:srgbClr val="151025"/>
                      </a:solidFill>
                      <a:prstDash val="solid"/>
                      <a:round/>
                      <a:headEnd type="none" w="med" len="med"/>
                      <a:tailEnd type="none" w="med" len="med"/>
                    </a:lnB>
                    <a:solidFill>
                      <a:srgbClr val="1E1A3A"/>
                    </a:solidFill>
                  </a:tcPr>
                </a:tc>
              </a:tr>
              <a:tr h="487680">
                <a:tc>
                  <a:txBody>
                    <a:bodyPr/>
                    <a:lstStyle/>
                    <a:p>
                      <a:pPr algn="ctr" indent="0" marL="0">
                        <a:buNone/>
                      </a:pPr>
                      <a:r>
                        <a:rPr lang="en-US" sz="1800" dirty="0">
                          <a:solidFill>
                            <a:srgbClr val="E2E8F0"/>
                          </a:solidFill>
                          <a:latin typeface="Calibri" pitchFamily="34" charset="0"/>
                          <a:ea typeface="Calibri" pitchFamily="34" charset="-122"/>
                          <a:cs typeface="Calibri" pitchFamily="34" charset="-120"/>
                        </a:rPr>
                        <a:t>2018-03-16 00:00</a:t>
                      </a:r>
                      <a:endParaRPr lang="en-US" sz="1800" dirty="0">
                        <a:latin typeface="Calibri" charset="0"/>
                        <a:ea typeface="Calibri" charset="0"/>
                        <a:cs typeface="Calibri" charset="0"/>
                      </a:endParaRPr>
                    </a:p>
                  </a:txBody>
                  <a:tcPr marL="91440" marR="91440" marT="45720" marB="45720">
                    <a:lnL w="6350" cap="flat" cmpd="sng" algn="ctr">
                      <a:solidFill>
                        <a:srgbClr val="151025"/>
                      </a:solidFill>
                      <a:prstDash val="solid"/>
                      <a:round/>
                      <a:headEnd type="none" w="med" len="med"/>
                      <a:tailEnd type="none" w="med" len="med"/>
                    </a:lnL>
                    <a:lnR w="6350" cap="flat" cmpd="sng" algn="ctr">
                      <a:solidFill>
                        <a:srgbClr val="151025"/>
                      </a:solidFill>
                      <a:prstDash val="solid"/>
                      <a:round/>
                      <a:headEnd type="none" w="med" len="med"/>
                      <a:tailEnd type="none" w="med" len="med"/>
                    </a:lnR>
                    <a:lnT w="6350" cap="flat" cmpd="sng" algn="ctr">
                      <a:solidFill>
                        <a:srgbClr val="151025"/>
                      </a:solidFill>
                      <a:prstDash val="solid"/>
                      <a:round/>
                      <a:headEnd type="none" w="med" len="med"/>
                      <a:tailEnd type="none" w="med" len="med"/>
                    </a:lnT>
                    <a:lnB w="6350" cap="flat" cmpd="sng" algn="ctr">
                      <a:solidFill>
                        <a:srgbClr val="151025"/>
                      </a:solidFill>
                      <a:prstDash val="solid"/>
                      <a:round/>
                      <a:headEnd type="none" w="med" len="med"/>
                      <a:tailEnd type="none" w="med" len="med"/>
                    </a:lnB>
                    <a:solidFill>
                      <a:srgbClr val="1E1A3A"/>
                    </a:solidFill>
                  </a:tcPr>
                </a:tc>
                <a:tc>
                  <a:txBody>
                    <a:bodyPr/>
                    <a:lstStyle/>
                    <a:p>
                      <a:pPr algn="ctr" indent="0" marL="0">
                        <a:buNone/>
                      </a:pPr>
                      <a:r>
                        <a:rPr lang="en-US" sz="1800" dirty="0">
                          <a:solidFill>
                            <a:srgbClr val="E2E8F0"/>
                          </a:solidFill>
                          <a:latin typeface="Calibri" pitchFamily="34" charset="0"/>
                          <a:ea typeface="Calibri" pitchFamily="34" charset="-122"/>
                          <a:cs typeface="Calibri" pitchFamily="34" charset="-120"/>
                        </a:rPr>
                        <a:t>52.1</a:t>
                      </a:r>
                      <a:endParaRPr lang="en-US" sz="1800" dirty="0">
                        <a:latin typeface="Calibri" charset="0"/>
                        <a:ea typeface="Calibri" charset="0"/>
                        <a:cs typeface="Calibri" charset="0"/>
                      </a:endParaRPr>
                    </a:p>
                  </a:txBody>
                  <a:tcPr marL="91440" marR="91440" marT="45720" marB="45720">
                    <a:lnL w="6350" cap="flat" cmpd="sng" algn="ctr">
                      <a:solidFill>
                        <a:srgbClr val="151025"/>
                      </a:solidFill>
                      <a:prstDash val="solid"/>
                      <a:round/>
                      <a:headEnd type="none" w="med" len="med"/>
                      <a:tailEnd type="none" w="med" len="med"/>
                    </a:lnL>
                    <a:lnR w="6350" cap="flat" cmpd="sng" algn="ctr">
                      <a:solidFill>
                        <a:srgbClr val="151025"/>
                      </a:solidFill>
                      <a:prstDash val="solid"/>
                      <a:round/>
                      <a:headEnd type="none" w="med" len="med"/>
                      <a:tailEnd type="none" w="med" len="med"/>
                    </a:lnR>
                    <a:lnT w="6350" cap="flat" cmpd="sng" algn="ctr">
                      <a:solidFill>
                        <a:srgbClr val="151025"/>
                      </a:solidFill>
                      <a:prstDash val="solid"/>
                      <a:round/>
                      <a:headEnd type="none" w="med" len="med"/>
                      <a:tailEnd type="none" w="med" len="med"/>
                    </a:lnT>
                    <a:lnB w="6350" cap="flat" cmpd="sng" algn="ctr">
                      <a:solidFill>
                        <a:srgbClr val="151025"/>
                      </a:solidFill>
                      <a:prstDash val="solid"/>
                      <a:round/>
                      <a:headEnd type="none" w="med" len="med"/>
                      <a:tailEnd type="none" w="med" len="med"/>
                    </a:lnB>
                    <a:solidFill>
                      <a:srgbClr val="1E1A3A"/>
                    </a:solidFill>
                  </a:tcPr>
                </a:tc>
              </a:tr>
              <a:tr h="487680">
                <a:tc>
                  <a:txBody>
                    <a:bodyPr/>
                    <a:lstStyle/>
                    <a:p>
                      <a:pPr algn="ctr" indent="0" marL="0">
                        <a:buNone/>
                      </a:pPr>
                      <a:r>
                        <a:rPr lang="en-US" sz="1800" dirty="0">
                          <a:solidFill>
                            <a:srgbClr val="E2E8F0"/>
                          </a:solidFill>
                          <a:latin typeface="Calibri" pitchFamily="34" charset="0"/>
                          <a:ea typeface="Calibri" pitchFamily="34" charset="-122"/>
                          <a:cs typeface="Calibri" pitchFamily="34" charset="-120"/>
                        </a:rPr>
                        <a:t>2018-03-16 01:00</a:t>
                      </a:r>
                      <a:endParaRPr lang="en-US" sz="1800" dirty="0">
                        <a:latin typeface="Calibri" charset="0"/>
                        <a:ea typeface="Calibri" charset="0"/>
                        <a:cs typeface="Calibri" charset="0"/>
                      </a:endParaRPr>
                    </a:p>
                  </a:txBody>
                  <a:tcPr marL="91440" marR="91440" marT="45720" marB="45720">
                    <a:lnL w="6350" cap="flat" cmpd="sng" algn="ctr">
                      <a:solidFill>
                        <a:srgbClr val="151025"/>
                      </a:solidFill>
                      <a:prstDash val="solid"/>
                      <a:round/>
                      <a:headEnd type="none" w="med" len="med"/>
                      <a:tailEnd type="none" w="med" len="med"/>
                    </a:lnL>
                    <a:lnR w="6350" cap="flat" cmpd="sng" algn="ctr">
                      <a:solidFill>
                        <a:srgbClr val="151025"/>
                      </a:solidFill>
                      <a:prstDash val="solid"/>
                      <a:round/>
                      <a:headEnd type="none" w="med" len="med"/>
                      <a:tailEnd type="none" w="med" len="med"/>
                    </a:lnR>
                    <a:lnT w="6350" cap="flat" cmpd="sng" algn="ctr">
                      <a:solidFill>
                        <a:srgbClr val="151025"/>
                      </a:solidFill>
                      <a:prstDash val="solid"/>
                      <a:round/>
                      <a:headEnd type="none" w="med" len="med"/>
                      <a:tailEnd type="none" w="med" len="med"/>
                    </a:lnT>
                    <a:lnB w="6350" cap="flat" cmpd="sng" algn="ctr">
                      <a:solidFill>
                        <a:srgbClr val="151025"/>
                      </a:solidFill>
                      <a:prstDash val="solid"/>
                      <a:round/>
                      <a:headEnd type="none" w="med" len="med"/>
                      <a:tailEnd type="none" w="med" len="med"/>
                    </a:lnB>
                    <a:solidFill>
                      <a:srgbClr val="1E1A3A"/>
                    </a:solidFill>
                  </a:tcPr>
                </a:tc>
                <a:tc>
                  <a:txBody>
                    <a:bodyPr/>
                    <a:lstStyle/>
                    <a:p>
                      <a:pPr algn="ctr" indent="0" marL="0">
                        <a:buNone/>
                      </a:pPr>
                      <a:r>
                        <a:rPr lang="en-US" sz="1800" dirty="0">
                          <a:solidFill>
                            <a:srgbClr val="E2E8F0"/>
                          </a:solidFill>
                          <a:latin typeface="Calibri" pitchFamily="34" charset="0"/>
                          <a:ea typeface="Calibri" pitchFamily="34" charset="-122"/>
                          <a:cs typeface="Calibri" pitchFamily="34" charset="-120"/>
                        </a:rPr>
                        <a:t>49.8</a:t>
                      </a:r>
                      <a:endParaRPr lang="en-US" sz="1800" dirty="0">
                        <a:latin typeface="Calibri" charset="0"/>
                        <a:ea typeface="Calibri" charset="0"/>
                        <a:cs typeface="Calibri" charset="0"/>
                      </a:endParaRPr>
                    </a:p>
                  </a:txBody>
                  <a:tcPr marL="91440" marR="91440" marT="45720" marB="45720">
                    <a:lnL w="6350" cap="flat" cmpd="sng" algn="ctr">
                      <a:solidFill>
                        <a:srgbClr val="151025"/>
                      </a:solidFill>
                      <a:prstDash val="solid"/>
                      <a:round/>
                      <a:headEnd type="none" w="med" len="med"/>
                      <a:tailEnd type="none" w="med" len="med"/>
                    </a:lnL>
                    <a:lnR w="6350" cap="flat" cmpd="sng" algn="ctr">
                      <a:solidFill>
                        <a:srgbClr val="151025"/>
                      </a:solidFill>
                      <a:prstDash val="solid"/>
                      <a:round/>
                      <a:headEnd type="none" w="med" len="med"/>
                      <a:tailEnd type="none" w="med" len="med"/>
                    </a:lnR>
                    <a:lnT w="6350" cap="flat" cmpd="sng" algn="ctr">
                      <a:solidFill>
                        <a:srgbClr val="151025"/>
                      </a:solidFill>
                      <a:prstDash val="solid"/>
                      <a:round/>
                      <a:headEnd type="none" w="med" len="med"/>
                      <a:tailEnd type="none" w="med" len="med"/>
                    </a:lnT>
                    <a:lnB w="6350" cap="flat" cmpd="sng" algn="ctr">
                      <a:solidFill>
                        <a:srgbClr val="151025"/>
                      </a:solidFill>
                      <a:prstDash val="solid"/>
                      <a:round/>
                      <a:headEnd type="none" w="med" len="med"/>
                      <a:tailEnd type="none" w="med" len="med"/>
                    </a:lnB>
                    <a:solidFill>
                      <a:srgbClr val="1E1A3A"/>
                    </a:solidFill>
                  </a:tcPr>
                </a:tc>
              </a:tr>
              <a:tr h="487680">
                <a:tc>
                  <a:txBody>
                    <a:bodyPr/>
                    <a:lstStyle/>
                    <a:p>
                      <a:pPr algn="ctr" indent="0" marL="0">
                        <a:buNone/>
                      </a:pPr>
                      <a:r>
                        <a:rPr lang="en-US" sz="1800" dirty="0">
                          <a:solidFill>
                            <a:srgbClr val="94A3B8"/>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91440" marR="91440" marT="45720" marB="45720">
                    <a:lnL w="6350" cap="flat" cmpd="sng" algn="ctr">
                      <a:solidFill>
                        <a:srgbClr val="151025"/>
                      </a:solidFill>
                      <a:prstDash val="solid"/>
                      <a:round/>
                      <a:headEnd type="none" w="med" len="med"/>
                      <a:tailEnd type="none" w="med" len="med"/>
                    </a:lnL>
                    <a:lnR w="6350" cap="flat" cmpd="sng" algn="ctr">
                      <a:solidFill>
                        <a:srgbClr val="151025"/>
                      </a:solidFill>
                      <a:prstDash val="solid"/>
                      <a:round/>
                      <a:headEnd type="none" w="med" len="med"/>
                      <a:tailEnd type="none" w="med" len="med"/>
                    </a:lnR>
                    <a:lnT w="6350" cap="flat" cmpd="sng" algn="ctr">
                      <a:solidFill>
                        <a:srgbClr val="151025"/>
                      </a:solidFill>
                      <a:prstDash val="solid"/>
                      <a:round/>
                      <a:headEnd type="none" w="med" len="med"/>
                      <a:tailEnd type="none" w="med" len="med"/>
                    </a:lnT>
                    <a:lnB w="6350" cap="flat" cmpd="sng" algn="ctr">
                      <a:solidFill>
                        <a:srgbClr val="151025"/>
                      </a:solidFill>
                      <a:prstDash val="solid"/>
                      <a:round/>
                      <a:headEnd type="none" w="med" len="med"/>
                      <a:tailEnd type="none" w="med" len="med"/>
                    </a:lnB>
                    <a:solidFill>
                      <a:srgbClr val="1E1A3A"/>
                    </a:solidFill>
                  </a:tcPr>
                </a:tc>
                <a:tc>
                  <a:txBody>
                    <a:bodyPr/>
                    <a:lstStyle/>
                    <a:p>
                      <a:pPr algn="ctr" indent="0" marL="0">
                        <a:buNone/>
                      </a:pPr>
                      <a:r>
                        <a:rPr lang="en-US" sz="1800" dirty="0">
                          <a:solidFill>
                            <a:srgbClr val="94A3B8"/>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91440" marR="91440" marT="45720" marB="45720">
                    <a:lnL w="6350" cap="flat" cmpd="sng" algn="ctr">
                      <a:solidFill>
                        <a:srgbClr val="151025"/>
                      </a:solidFill>
                      <a:prstDash val="solid"/>
                      <a:round/>
                      <a:headEnd type="none" w="med" len="med"/>
                      <a:tailEnd type="none" w="med" len="med"/>
                    </a:lnL>
                    <a:lnR w="6350" cap="flat" cmpd="sng" algn="ctr">
                      <a:solidFill>
                        <a:srgbClr val="151025"/>
                      </a:solidFill>
                      <a:prstDash val="solid"/>
                      <a:round/>
                      <a:headEnd type="none" w="med" len="med"/>
                      <a:tailEnd type="none" w="med" len="med"/>
                    </a:lnR>
                    <a:lnT w="6350" cap="flat" cmpd="sng" algn="ctr">
                      <a:solidFill>
                        <a:srgbClr val="151025"/>
                      </a:solidFill>
                      <a:prstDash val="solid"/>
                      <a:round/>
                      <a:headEnd type="none" w="med" len="med"/>
                      <a:tailEnd type="none" w="med" len="med"/>
                    </a:lnT>
                    <a:lnB w="6350" cap="flat" cmpd="sng" algn="ctr">
                      <a:solidFill>
                        <a:srgbClr val="151025"/>
                      </a:solidFill>
                      <a:prstDash val="solid"/>
                      <a:round/>
                      <a:headEnd type="none" w="med" len="med"/>
                      <a:tailEnd type="none" w="med" len="med"/>
                    </a:lnB>
                    <a:solidFill>
                      <a:srgbClr val="1E1A3A"/>
                    </a:solidFill>
                  </a:tcPr>
                </a:tc>
              </a:tr>
            </a:tbl>
          </a:graphicData>
        </a:graphic>
      </p:graphicFrame>
      <p:sp>
        <p:nvSpPr>
          <p:cNvPr id="10" name="Shape 7"/>
          <p:cNvSpPr/>
          <p:nvPr/>
        </p:nvSpPr>
        <p:spPr>
          <a:xfrm>
            <a:off x="6400800" y="1828800"/>
            <a:ext cx="5212080" cy="4114800"/>
          </a:xfrm>
          <a:prstGeom prst="rect">
            <a:avLst/>
          </a:prstGeom>
          <a:solidFill>
            <a:srgbClr val="1E1A3A"/>
          </a:solidFill>
          <a:ln w="12700">
            <a:solidFill>
              <a:srgbClr val="1E1A3A"/>
            </a:solidFill>
            <a:prstDash val="solid"/>
          </a:ln>
        </p:spPr>
      </p:sp>
      <p:sp>
        <p:nvSpPr>
          <p:cNvPr id="11" name="Shape 8"/>
          <p:cNvSpPr/>
          <p:nvPr/>
        </p:nvSpPr>
        <p:spPr>
          <a:xfrm>
            <a:off x="6400800" y="1828800"/>
            <a:ext cx="137160" cy="4114800"/>
          </a:xfrm>
          <a:prstGeom prst="rect">
            <a:avLst/>
          </a:prstGeom>
          <a:solidFill>
            <a:srgbClr val="F472B6"/>
          </a:solidFill>
          <a:ln w="12700">
            <a:solidFill>
              <a:srgbClr val="F472B6"/>
            </a:solidFill>
            <a:prstDash val="solid"/>
          </a:ln>
        </p:spPr>
      </p:sp>
      <p:sp>
        <p:nvSpPr>
          <p:cNvPr id="12" name="Text 9"/>
          <p:cNvSpPr/>
          <p:nvPr/>
        </p:nvSpPr>
        <p:spPr>
          <a:xfrm>
            <a:off x="6675120" y="2011680"/>
            <a:ext cx="4846320" cy="3840480"/>
          </a:xfrm>
          <a:prstGeom prst="rect">
            <a:avLst/>
          </a:prstGeom>
          <a:noFill/>
          <a:ln/>
        </p:spPr>
        <p:txBody>
          <a:bodyPr wrap="square" rtlCol="0" anchor="t"/>
          <a:lstStyle/>
          <a:p>
            <a:pPr indent="0" marL="0">
              <a:lnSpc>
                <a:spcPct val="120000"/>
              </a:lnSpc>
              <a:buNone/>
            </a:pPr>
            <a:r>
              <a:rPr lang="en-US" sz="2200" b="1" dirty="0">
                <a:solidFill>
                  <a:srgbClr val="F472B6"/>
                </a:solidFill>
                <a:latin typeface="Calibri" pitchFamily="34" charset="0"/>
                <a:ea typeface="Calibri" pitchFamily="34" charset="-122"/>
                <a:cs typeface="Calibri" pitchFamily="34" charset="-120"/>
              </a:rPr>
              <a:t>Ce vede modelul?
</a:t>
            </a:r>
            <a:pPr indent="0" marL="0">
              <a:lnSpc>
                <a:spcPct val="120000"/>
              </a:lnSpc>
              <a:buNone/>
            </a:pPr>
            <a:r>
              <a:rPr lang="en-US" sz="1700" dirty="0">
                <a:solidFill>
                  <a:srgbClr val="E2E8F0"/>
                </a:solidFill>
                <a:latin typeface="Calibri" pitchFamily="34" charset="0"/>
                <a:ea typeface="Calibri" pitchFamily="34" charset="-122"/>
                <a:cs typeface="Calibri" pitchFamily="34" charset="-120"/>
              </a:rPr>
              <a:t>Doar o coloana de etichete (timestamp) si o coloana de valori. 
</a:t>
            </a:r>
            <a:pPr indent="0" marL="0">
              <a:lnSpc>
                <a:spcPct val="120000"/>
              </a:lnSpc>
              <a:buNone/>
            </a:pPr>
            <a:r>
              <a:rPr lang="en-US" sz="1400" dirty="0">
                <a:solidFill>
                  <a:srgbClr val="000000"/>
                </a:solidFill>
                <a:latin typeface="Calibri" pitchFamily="34" charset="0"/>
                <a:ea typeface="Calibri" pitchFamily="34" charset="-122"/>
                <a:cs typeface="Calibri" pitchFamily="34" charset="-120"/>
              </a:rPr>
              <a:t> 
</a:t>
            </a:r>
            <a:pPr indent="0" marL="0">
              <a:lnSpc>
                <a:spcPct val="120000"/>
              </a:lnSpc>
              <a:buNone/>
            </a:pPr>
            <a:r>
              <a:rPr lang="en-US" sz="1700" dirty="0">
                <a:solidFill>
                  <a:srgbClr val="E2E8F0"/>
                </a:solidFill>
                <a:latin typeface="Calibri" pitchFamily="34" charset="0"/>
                <a:ea typeface="Calibri" pitchFamily="34" charset="-122"/>
                <a:cs typeface="Calibri" pitchFamily="34" charset="-120"/>
              </a:rPr>
              <a:t>Modelele clasice de ML </a:t>
            </a:r>
            <a:pPr indent="0" marL="0">
              <a:lnSpc>
                <a:spcPct val="120000"/>
              </a:lnSpc>
              <a:buNone/>
            </a:pPr>
            <a:r>
              <a:rPr lang="en-US" sz="1700" b="1" dirty="0">
                <a:solidFill>
                  <a:srgbClr val="F472B6"/>
                </a:solidFill>
                <a:latin typeface="Calibri" pitchFamily="34" charset="0"/>
                <a:ea typeface="Calibri" pitchFamily="34" charset="-122"/>
                <a:cs typeface="Calibri" pitchFamily="34" charset="-120"/>
              </a:rPr>
              <a:t>NU pot folosi un timestamp</a:t>
            </a:r>
            <a:pPr indent="0" marL="0">
              <a:lnSpc>
                <a:spcPct val="120000"/>
              </a:lnSpc>
              <a:buNone/>
            </a:pPr>
            <a:r>
              <a:rPr lang="en-US" sz="1700" dirty="0">
                <a:solidFill>
                  <a:srgbClr val="E2E8F0"/>
                </a:solidFill>
                <a:latin typeface="Calibri" pitchFamily="34" charset="0"/>
                <a:ea typeface="Calibri" pitchFamily="34" charset="-122"/>
                <a:cs typeface="Calibri" pitchFamily="34" charset="-120"/>
              </a:rPr>
              <a:t> — pentru ele e doar text.
</a:t>
            </a:r>
            <a:pPr indent="0" marL="0">
              <a:lnSpc>
                <a:spcPct val="120000"/>
              </a:lnSpc>
              <a:buNone/>
            </a:pPr>
            <a:r>
              <a:rPr lang="en-US" sz="1700" dirty="0">
                <a:solidFill>
                  <a:srgbClr val="E2E8F0"/>
                </a:solidFill>
                <a:latin typeface="Calibri" pitchFamily="34" charset="0"/>
                <a:ea typeface="Calibri" pitchFamily="34" charset="-122"/>
                <a:cs typeface="Calibri" pitchFamily="34" charset="-120"/>
              </a:rPr>
              <a:t>Au nevoie de un tabel cu coloane informative — numere, statistici, indicatori.</a:t>
            </a:r>
            <a:endParaRPr lang="en-US" sz="2200" dirty="0"/>
          </a:p>
        </p:txBody>
      </p:sp>
      <p:sp>
        <p:nvSpPr>
          <p:cNvPr id="13" name="Text 10"/>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14" name="Text 11"/>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7 / 28</a:t>
            </a:r>
            <a:endParaRPr lang="en-US" sz="1100" dirty="0"/>
          </a:p>
        </p:txBody>
      </p:sp>
    </p:spTree>
  </p:cSld>
  <p:transition xmlns:p="http://schemas.openxmlformats.org/presentationml/2006/main" spd="med">
    <p:fade/>
  </p:transition>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51025"/>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818CF8">
              <a:alpha val="15000"/>
            </a:srgbClr>
          </a:solidFill>
          <a:ln w="12700">
            <a:solidFill>
              <a:srgbClr val="818CF8">
                <a:alpha val="15000"/>
              </a:srgbClr>
            </a:solidFill>
            <a:prstDash val="solid"/>
          </a:ln>
        </p:spPr>
      </p:sp>
      <p:sp>
        <p:nvSpPr>
          <p:cNvPr id="3" name="Shape 1"/>
          <p:cNvSpPr/>
          <p:nvPr/>
        </p:nvSpPr>
        <p:spPr>
          <a:xfrm>
            <a:off x="10515600" y="5212080"/>
            <a:ext cx="3200400" cy="3200400"/>
          </a:xfrm>
          <a:prstGeom prst="ellipse">
            <a:avLst/>
          </a:prstGeom>
          <a:solidFill>
            <a:srgbClr val="F472B6">
              <a:alpha val="12000"/>
            </a:srgbClr>
          </a:solidFill>
          <a:ln w="12700">
            <a:solidFill>
              <a:srgbClr val="F472B6">
                <a:alpha val="12000"/>
              </a:srgbClr>
            </a:solidFill>
            <a:prstDash val="solid"/>
          </a:ln>
        </p:spPr>
      </p:sp>
      <p:sp>
        <p:nvSpPr>
          <p:cNvPr id="4" name="Shape 2"/>
          <p:cNvSpPr/>
          <p:nvPr/>
        </p:nvSpPr>
        <p:spPr>
          <a:xfrm>
            <a:off x="0" y="0"/>
            <a:ext cx="12161520" cy="164592"/>
          </a:xfrm>
          <a:prstGeom prst="rect">
            <a:avLst/>
          </a:prstGeom>
          <a:solidFill>
            <a:srgbClr val="FBBF24"/>
          </a:solidFill>
          <a:ln w="12700">
            <a:solidFill>
              <a:srgbClr val="FBBF24"/>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FBBF24"/>
                </a:solidFill>
                <a:latin typeface="Calibri" pitchFamily="34" charset="0"/>
                <a:ea typeface="Calibri" pitchFamily="34" charset="-122"/>
                <a:cs typeface="Calibri" pitchFamily="34" charset="-120"/>
              </a:rPr>
              <a:t>PROBLEMA 2</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Pattern-uri ascunse in datele energetice</a:t>
            </a:r>
            <a:endParaRPr lang="en-US" sz="3600" dirty="0"/>
          </a:p>
        </p:txBody>
      </p:sp>
      <p:sp>
        <p:nvSpPr>
          <p:cNvPr id="7" name="Shape 5"/>
          <p:cNvSpPr/>
          <p:nvPr/>
        </p:nvSpPr>
        <p:spPr>
          <a:xfrm>
            <a:off x="548640" y="1691640"/>
            <a:ext cx="1645920" cy="54864"/>
          </a:xfrm>
          <a:prstGeom prst="rect">
            <a:avLst/>
          </a:prstGeom>
          <a:solidFill>
            <a:srgbClr val="F472B6"/>
          </a:solidFill>
          <a:ln w="12700">
            <a:solidFill>
              <a:srgbClr val="F472B6"/>
            </a:solidFill>
            <a:prstDash val="solid"/>
          </a:ln>
        </p:spPr>
      </p:sp>
      <p:sp>
        <p:nvSpPr>
          <p:cNvPr id="8" name="Text 6"/>
          <p:cNvSpPr/>
          <p:nvPr/>
        </p:nvSpPr>
        <p:spPr>
          <a:xfrm>
            <a:off x="548640" y="1874520"/>
            <a:ext cx="11064240" cy="548640"/>
          </a:xfrm>
          <a:prstGeom prst="rect">
            <a:avLst/>
          </a:prstGeom>
          <a:noFill/>
          <a:ln/>
        </p:spPr>
        <p:txBody>
          <a:bodyPr wrap="square" rtlCol="0" anchor="ctr"/>
          <a:lstStyle/>
          <a:p>
            <a:pPr indent="0" marL="0">
              <a:buNone/>
            </a:pPr>
            <a:r>
              <a:rPr lang="en-US" sz="1800" i="1" dirty="0">
                <a:solidFill>
                  <a:srgbClr val="E2E8F0"/>
                </a:solidFill>
                <a:latin typeface="Calibri" pitchFamily="34" charset="0"/>
                <a:ea typeface="Calibri" pitchFamily="34" charset="-122"/>
                <a:cs typeface="Calibri" pitchFamily="34" charset="-120"/>
              </a:rPr>
              <a:t>Sub aspectul brut (timestamp, valoare) se ascund 4 tipuri de pattern-uri pe care modelul trebuie sa le invete:</a:t>
            </a:r>
            <a:endParaRPr lang="en-US" sz="1800" dirty="0"/>
          </a:p>
        </p:txBody>
      </p:sp>
      <p:sp>
        <p:nvSpPr>
          <p:cNvPr id="9" name="Shape 7"/>
          <p:cNvSpPr/>
          <p:nvPr/>
        </p:nvSpPr>
        <p:spPr>
          <a:xfrm>
            <a:off x="548640" y="2606040"/>
            <a:ext cx="5532120" cy="1463040"/>
          </a:xfrm>
          <a:prstGeom prst="rect">
            <a:avLst/>
          </a:prstGeom>
          <a:solidFill>
            <a:srgbClr val="1E1A3A"/>
          </a:solidFill>
          <a:ln w="25400">
            <a:solidFill>
              <a:srgbClr val="818CF8"/>
            </a:solidFill>
            <a:prstDash val="solid"/>
          </a:ln>
        </p:spPr>
      </p:sp>
      <p:sp>
        <p:nvSpPr>
          <p:cNvPr id="10" name="Shape 8"/>
          <p:cNvSpPr/>
          <p:nvPr/>
        </p:nvSpPr>
        <p:spPr>
          <a:xfrm>
            <a:off x="731520" y="2834640"/>
            <a:ext cx="868680" cy="868680"/>
          </a:xfrm>
          <a:prstGeom prst="ellipse">
            <a:avLst/>
          </a:prstGeom>
          <a:solidFill>
            <a:srgbClr val="818CF8"/>
          </a:solidFill>
          <a:ln w="12700">
            <a:solidFill>
              <a:srgbClr val="818CF8"/>
            </a:solidFill>
            <a:prstDash val="solid"/>
          </a:ln>
        </p:spPr>
      </p:sp>
      <p:sp>
        <p:nvSpPr>
          <p:cNvPr id="11" name="Text 9"/>
          <p:cNvSpPr/>
          <p:nvPr/>
        </p:nvSpPr>
        <p:spPr>
          <a:xfrm>
            <a:off x="731520" y="2834640"/>
            <a:ext cx="868680" cy="868680"/>
          </a:xfrm>
          <a:prstGeom prst="rect">
            <a:avLst/>
          </a:prstGeom>
          <a:noFill/>
          <a:ln/>
        </p:spPr>
        <p:txBody>
          <a:bodyPr wrap="square" rtlCol="0" anchor="ctr"/>
          <a:lstStyle/>
          <a:p>
            <a:pPr algn="ctr" indent="0" marL="0">
              <a:buNone/>
            </a:pPr>
            <a:r>
              <a:rPr lang="en-US" sz="3200" b="1" dirty="0">
                <a:solidFill>
                  <a:srgbClr val="151025"/>
                </a:solidFill>
                <a:latin typeface="Cambria" pitchFamily="34" charset="0"/>
                <a:ea typeface="Cambria" pitchFamily="34" charset="-122"/>
                <a:cs typeface="Cambria" pitchFamily="34" charset="-120"/>
              </a:rPr>
              <a:t>A</a:t>
            </a:r>
            <a:endParaRPr lang="en-US" sz="3200" dirty="0"/>
          </a:p>
        </p:txBody>
      </p:sp>
      <p:sp>
        <p:nvSpPr>
          <p:cNvPr id="12" name="Text 10"/>
          <p:cNvSpPr/>
          <p:nvPr/>
        </p:nvSpPr>
        <p:spPr>
          <a:xfrm>
            <a:off x="1737360" y="2770632"/>
            <a:ext cx="4251960" cy="457200"/>
          </a:xfrm>
          <a:prstGeom prst="rect">
            <a:avLst/>
          </a:prstGeom>
          <a:noFill/>
          <a:ln/>
        </p:spPr>
        <p:txBody>
          <a:bodyPr wrap="square" rtlCol="0" anchor="ctr"/>
          <a:lstStyle/>
          <a:p>
            <a:pPr indent="0" marL="0">
              <a:buNone/>
            </a:pPr>
            <a:r>
              <a:rPr lang="en-US" sz="2100" b="1" dirty="0">
                <a:solidFill>
                  <a:srgbClr val="818CF8"/>
                </a:solidFill>
                <a:latin typeface="Calibri" pitchFamily="34" charset="0"/>
                <a:ea typeface="Calibri" pitchFamily="34" charset="-122"/>
                <a:cs typeface="Calibri" pitchFamily="34" charset="-120"/>
              </a:rPr>
              <a:t>Sezonalitate orara</a:t>
            </a:r>
            <a:endParaRPr lang="en-US" sz="2100" dirty="0"/>
          </a:p>
        </p:txBody>
      </p:sp>
      <p:sp>
        <p:nvSpPr>
          <p:cNvPr id="13" name="Text 11"/>
          <p:cNvSpPr/>
          <p:nvPr/>
        </p:nvSpPr>
        <p:spPr>
          <a:xfrm>
            <a:off x="1737360" y="3246120"/>
            <a:ext cx="4251960" cy="777240"/>
          </a:xfrm>
          <a:prstGeom prst="rect">
            <a:avLst/>
          </a:prstGeom>
          <a:noFill/>
          <a:ln/>
        </p:spPr>
        <p:txBody>
          <a:bodyPr wrap="square" rtlCol="0" anchor="ctr"/>
          <a:lstStyle/>
          <a:p>
            <a:pPr indent="0" marL="0">
              <a:lnSpc>
                <a:spcPct val="115000"/>
              </a:lnSpc>
              <a:buNone/>
            </a:pPr>
            <a:r>
              <a:rPr lang="en-US" sz="1600" dirty="0">
                <a:solidFill>
                  <a:srgbClr val="E2E8F0"/>
                </a:solidFill>
                <a:latin typeface="Calibri" pitchFamily="34" charset="0"/>
                <a:ea typeface="Calibri" pitchFamily="34" charset="-122"/>
                <a:cs typeface="Calibri" pitchFamily="34" charset="-120"/>
              </a:rPr>
              <a:t>Consumul creste dimineata, atinge varf seara (cina + iluminat), scade noaptea.</a:t>
            </a:r>
            <a:endParaRPr lang="en-US" sz="1600" dirty="0"/>
          </a:p>
        </p:txBody>
      </p:sp>
      <p:sp>
        <p:nvSpPr>
          <p:cNvPr id="14" name="Shape 12"/>
          <p:cNvSpPr/>
          <p:nvPr/>
        </p:nvSpPr>
        <p:spPr>
          <a:xfrm>
            <a:off x="6263640" y="2606040"/>
            <a:ext cx="5532120" cy="1463040"/>
          </a:xfrm>
          <a:prstGeom prst="rect">
            <a:avLst/>
          </a:prstGeom>
          <a:solidFill>
            <a:srgbClr val="1E1A3A"/>
          </a:solidFill>
          <a:ln w="25400">
            <a:solidFill>
              <a:srgbClr val="F472B6"/>
            </a:solidFill>
            <a:prstDash val="solid"/>
          </a:ln>
        </p:spPr>
      </p:sp>
      <p:sp>
        <p:nvSpPr>
          <p:cNvPr id="15" name="Shape 13"/>
          <p:cNvSpPr/>
          <p:nvPr/>
        </p:nvSpPr>
        <p:spPr>
          <a:xfrm>
            <a:off x="6446520" y="2834640"/>
            <a:ext cx="868680" cy="868680"/>
          </a:xfrm>
          <a:prstGeom prst="ellipse">
            <a:avLst/>
          </a:prstGeom>
          <a:solidFill>
            <a:srgbClr val="F472B6"/>
          </a:solidFill>
          <a:ln w="12700">
            <a:solidFill>
              <a:srgbClr val="F472B6"/>
            </a:solidFill>
            <a:prstDash val="solid"/>
          </a:ln>
        </p:spPr>
      </p:sp>
      <p:sp>
        <p:nvSpPr>
          <p:cNvPr id="16" name="Text 14"/>
          <p:cNvSpPr/>
          <p:nvPr/>
        </p:nvSpPr>
        <p:spPr>
          <a:xfrm>
            <a:off x="6446520" y="2834640"/>
            <a:ext cx="868680" cy="868680"/>
          </a:xfrm>
          <a:prstGeom prst="rect">
            <a:avLst/>
          </a:prstGeom>
          <a:noFill/>
          <a:ln/>
        </p:spPr>
        <p:txBody>
          <a:bodyPr wrap="square" rtlCol="0" anchor="ctr"/>
          <a:lstStyle/>
          <a:p>
            <a:pPr algn="ctr" indent="0" marL="0">
              <a:buNone/>
            </a:pPr>
            <a:r>
              <a:rPr lang="en-US" sz="3200" b="1" dirty="0">
                <a:solidFill>
                  <a:srgbClr val="151025"/>
                </a:solidFill>
                <a:latin typeface="Cambria" pitchFamily="34" charset="0"/>
                <a:ea typeface="Cambria" pitchFamily="34" charset="-122"/>
                <a:cs typeface="Cambria" pitchFamily="34" charset="-120"/>
              </a:rPr>
              <a:t>B</a:t>
            </a:r>
            <a:endParaRPr lang="en-US" sz="3200" dirty="0"/>
          </a:p>
        </p:txBody>
      </p:sp>
      <p:sp>
        <p:nvSpPr>
          <p:cNvPr id="17" name="Text 15"/>
          <p:cNvSpPr/>
          <p:nvPr/>
        </p:nvSpPr>
        <p:spPr>
          <a:xfrm>
            <a:off x="7452360" y="2770632"/>
            <a:ext cx="4251960" cy="457200"/>
          </a:xfrm>
          <a:prstGeom prst="rect">
            <a:avLst/>
          </a:prstGeom>
          <a:noFill/>
          <a:ln/>
        </p:spPr>
        <p:txBody>
          <a:bodyPr wrap="square" rtlCol="0" anchor="ctr"/>
          <a:lstStyle/>
          <a:p>
            <a:pPr indent="0" marL="0">
              <a:buNone/>
            </a:pPr>
            <a:r>
              <a:rPr lang="en-US" sz="2100" b="1" dirty="0">
                <a:solidFill>
                  <a:srgbClr val="F472B6"/>
                </a:solidFill>
                <a:latin typeface="Calibri" pitchFamily="34" charset="0"/>
                <a:ea typeface="Calibri" pitchFamily="34" charset="-122"/>
                <a:cs typeface="Calibri" pitchFamily="34" charset="-120"/>
              </a:rPr>
              <a:t>Ciclu saptamanal</a:t>
            </a:r>
            <a:endParaRPr lang="en-US" sz="2100" dirty="0"/>
          </a:p>
        </p:txBody>
      </p:sp>
      <p:sp>
        <p:nvSpPr>
          <p:cNvPr id="18" name="Text 16"/>
          <p:cNvSpPr/>
          <p:nvPr/>
        </p:nvSpPr>
        <p:spPr>
          <a:xfrm>
            <a:off x="7452360" y="3246120"/>
            <a:ext cx="4251960" cy="777240"/>
          </a:xfrm>
          <a:prstGeom prst="rect">
            <a:avLst/>
          </a:prstGeom>
          <a:noFill/>
          <a:ln/>
        </p:spPr>
        <p:txBody>
          <a:bodyPr wrap="square" rtlCol="0" anchor="ctr"/>
          <a:lstStyle/>
          <a:p>
            <a:pPr indent="0" marL="0">
              <a:lnSpc>
                <a:spcPct val="115000"/>
              </a:lnSpc>
              <a:buNone/>
            </a:pPr>
            <a:r>
              <a:rPr lang="en-US" sz="1600" dirty="0">
                <a:solidFill>
                  <a:srgbClr val="E2E8F0"/>
                </a:solidFill>
                <a:latin typeface="Calibri" pitchFamily="34" charset="0"/>
                <a:ea typeface="Calibri" pitchFamily="34" charset="-122"/>
                <a:cs typeface="Calibri" pitchFamily="34" charset="-120"/>
              </a:rPr>
              <a:t>Fabricile lucreaza luni-vineri, sunt inchise weekend. Consumul industrial difera.</a:t>
            </a:r>
            <a:endParaRPr lang="en-US" sz="1600" dirty="0"/>
          </a:p>
        </p:txBody>
      </p:sp>
      <p:sp>
        <p:nvSpPr>
          <p:cNvPr id="19" name="Shape 17"/>
          <p:cNvSpPr/>
          <p:nvPr/>
        </p:nvSpPr>
        <p:spPr>
          <a:xfrm>
            <a:off x="548640" y="4206240"/>
            <a:ext cx="5532120" cy="1463040"/>
          </a:xfrm>
          <a:prstGeom prst="rect">
            <a:avLst/>
          </a:prstGeom>
          <a:solidFill>
            <a:srgbClr val="1E1A3A"/>
          </a:solidFill>
          <a:ln w="25400">
            <a:solidFill>
              <a:srgbClr val="FBBF24"/>
            </a:solidFill>
            <a:prstDash val="solid"/>
          </a:ln>
        </p:spPr>
      </p:sp>
      <p:sp>
        <p:nvSpPr>
          <p:cNvPr id="20" name="Shape 18"/>
          <p:cNvSpPr/>
          <p:nvPr/>
        </p:nvSpPr>
        <p:spPr>
          <a:xfrm>
            <a:off x="731520" y="4434840"/>
            <a:ext cx="868680" cy="868680"/>
          </a:xfrm>
          <a:prstGeom prst="ellipse">
            <a:avLst/>
          </a:prstGeom>
          <a:solidFill>
            <a:srgbClr val="FBBF24"/>
          </a:solidFill>
          <a:ln w="12700">
            <a:solidFill>
              <a:srgbClr val="FBBF24"/>
            </a:solidFill>
            <a:prstDash val="solid"/>
          </a:ln>
        </p:spPr>
      </p:sp>
      <p:sp>
        <p:nvSpPr>
          <p:cNvPr id="21" name="Text 19"/>
          <p:cNvSpPr/>
          <p:nvPr/>
        </p:nvSpPr>
        <p:spPr>
          <a:xfrm>
            <a:off x="731520" y="4434840"/>
            <a:ext cx="868680" cy="868680"/>
          </a:xfrm>
          <a:prstGeom prst="rect">
            <a:avLst/>
          </a:prstGeom>
          <a:noFill/>
          <a:ln/>
        </p:spPr>
        <p:txBody>
          <a:bodyPr wrap="square" rtlCol="0" anchor="ctr"/>
          <a:lstStyle/>
          <a:p>
            <a:pPr algn="ctr" indent="0" marL="0">
              <a:buNone/>
            </a:pPr>
            <a:r>
              <a:rPr lang="en-US" sz="3200" b="1" dirty="0">
                <a:solidFill>
                  <a:srgbClr val="151025"/>
                </a:solidFill>
                <a:latin typeface="Cambria" pitchFamily="34" charset="0"/>
                <a:ea typeface="Cambria" pitchFamily="34" charset="-122"/>
                <a:cs typeface="Cambria" pitchFamily="34" charset="-120"/>
              </a:rPr>
              <a:t>C</a:t>
            </a:r>
            <a:endParaRPr lang="en-US" sz="3200" dirty="0"/>
          </a:p>
        </p:txBody>
      </p:sp>
      <p:sp>
        <p:nvSpPr>
          <p:cNvPr id="22" name="Text 20"/>
          <p:cNvSpPr/>
          <p:nvPr/>
        </p:nvSpPr>
        <p:spPr>
          <a:xfrm>
            <a:off x="1737360" y="4370832"/>
            <a:ext cx="4251960" cy="457200"/>
          </a:xfrm>
          <a:prstGeom prst="rect">
            <a:avLst/>
          </a:prstGeom>
          <a:noFill/>
          <a:ln/>
        </p:spPr>
        <p:txBody>
          <a:bodyPr wrap="square" rtlCol="0" anchor="ctr"/>
          <a:lstStyle/>
          <a:p>
            <a:pPr indent="0" marL="0">
              <a:buNone/>
            </a:pPr>
            <a:r>
              <a:rPr lang="en-US" sz="2100" b="1" dirty="0">
                <a:solidFill>
                  <a:srgbClr val="FBBF24"/>
                </a:solidFill>
                <a:latin typeface="Calibri" pitchFamily="34" charset="0"/>
                <a:ea typeface="Calibri" pitchFamily="34" charset="-122"/>
                <a:cs typeface="Calibri" pitchFamily="34" charset="-120"/>
              </a:rPr>
              <a:t>Autoregresivitate</a:t>
            </a:r>
            <a:endParaRPr lang="en-US" sz="2100" dirty="0"/>
          </a:p>
        </p:txBody>
      </p:sp>
      <p:sp>
        <p:nvSpPr>
          <p:cNvPr id="23" name="Text 21"/>
          <p:cNvSpPr/>
          <p:nvPr/>
        </p:nvSpPr>
        <p:spPr>
          <a:xfrm>
            <a:off x="1737360" y="4846320"/>
            <a:ext cx="4251960" cy="777240"/>
          </a:xfrm>
          <a:prstGeom prst="rect">
            <a:avLst/>
          </a:prstGeom>
          <a:noFill/>
          <a:ln/>
        </p:spPr>
        <p:txBody>
          <a:bodyPr wrap="square" rtlCol="0" anchor="ctr"/>
          <a:lstStyle/>
          <a:p>
            <a:pPr indent="0" marL="0">
              <a:lnSpc>
                <a:spcPct val="115000"/>
              </a:lnSpc>
              <a:buNone/>
            </a:pPr>
            <a:r>
              <a:rPr lang="en-US" sz="1600" dirty="0">
                <a:solidFill>
                  <a:srgbClr val="E2E8F0"/>
                </a:solidFill>
                <a:latin typeface="Calibri" pitchFamily="34" charset="0"/>
                <a:ea typeface="Calibri" pitchFamily="34" charset="-122"/>
                <a:cs typeface="Calibri" pitchFamily="34" charset="-120"/>
              </a:rPr>
              <a:t>Pretul peste o ora va fi probabil aproape de pretul actual — exista inertie.</a:t>
            </a:r>
            <a:endParaRPr lang="en-US" sz="1600" dirty="0"/>
          </a:p>
        </p:txBody>
      </p:sp>
      <p:sp>
        <p:nvSpPr>
          <p:cNvPr id="24" name="Shape 22"/>
          <p:cNvSpPr/>
          <p:nvPr/>
        </p:nvSpPr>
        <p:spPr>
          <a:xfrm>
            <a:off x="6263640" y="4206240"/>
            <a:ext cx="5532120" cy="1463040"/>
          </a:xfrm>
          <a:prstGeom prst="rect">
            <a:avLst/>
          </a:prstGeom>
          <a:solidFill>
            <a:srgbClr val="1E1A3A"/>
          </a:solidFill>
          <a:ln w="25400">
            <a:solidFill>
              <a:srgbClr val="34D399"/>
            </a:solidFill>
            <a:prstDash val="solid"/>
          </a:ln>
        </p:spPr>
      </p:sp>
      <p:sp>
        <p:nvSpPr>
          <p:cNvPr id="25" name="Shape 23"/>
          <p:cNvSpPr/>
          <p:nvPr/>
        </p:nvSpPr>
        <p:spPr>
          <a:xfrm>
            <a:off x="6446520" y="4434840"/>
            <a:ext cx="868680" cy="868680"/>
          </a:xfrm>
          <a:prstGeom prst="ellipse">
            <a:avLst/>
          </a:prstGeom>
          <a:solidFill>
            <a:srgbClr val="34D399"/>
          </a:solidFill>
          <a:ln w="12700">
            <a:solidFill>
              <a:srgbClr val="34D399"/>
            </a:solidFill>
            <a:prstDash val="solid"/>
          </a:ln>
        </p:spPr>
      </p:sp>
      <p:sp>
        <p:nvSpPr>
          <p:cNvPr id="26" name="Text 24"/>
          <p:cNvSpPr/>
          <p:nvPr/>
        </p:nvSpPr>
        <p:spPr>
          <a:xfrm>
            <a:off x="6446520" y="4434840"/>
            <a:ext cx="868680" cy="868680"/>
          </a:xfrm>
          <a:prstGeom prst="rect">
            <a:avLst/>
          </a:prstGeom>
          <a:noFill/>
          <a:ln/>
        </p:spPr>
        <p:txBody>
          <a:bodyPr wrap="square" rtlCol="0" anchor="ctr"/>
          <a:lstStyle/>
          <a:p>
            <a:pPr algn="ctr" indent="0" marL="0">
              <a:buNone/>
            </a:pPr>
            <a:r>
              <a:rPr lang="en-US" sz="3200" b="1" dirty="0">
                <a:solidFill>
                  <a:srgbClr val="151025"/>
                </a:solidFill>
                <a:latin typeface="Cambria" pitchFamily="34" charset="0"/>
                <a:ea typeface="Cambria" pitchFamily="34" charset="-122"/>
                <a:cs typeface="Cambria" pitchFamily="34" charset="-120"/>
              </a:rPr>
              <a:t>D</a:t>
            </a:r>
            <a:endParaRPr lang="en-US" sz="3200" dirty="0"/>
          </a:p>
        </p:txBody>
      </p:sp>
      <p:sp>
        <p:nvSpPr>
          <p:cNvPr id="27" name="Text 25"/>
          <p:cNvSpPr/>
          <p:nvPr/>
        </p:nvSpPr>
        <p:spPr>
          <a:xfrm>
            <a:off x="7452360" y="4370832"/>
            <a:ext cx="4251960" cy="457200"/>
          </a:xfrm>
          <a:prstGeom prst="rect">
            <a:avLst/>
          </a:prstGeom>
          <a:noFill/>
          <a:ln/>
        </p:spPr>
        <p:txBody>
          <a:bodyPr wrap="square"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Trend si volatilitate</a:t>
            </a:r>
            <a:endParaRPr lang="en-US" sz="2100" dirty="0"/>
          </a:p>
        </p:txBody>
      </p:sp>
      <p:sp>
        <p:nvSpPr>
          <p:cNvPr id="28" name="Text 26"/>
          <p:cNvSpPr/>
          <p:nvPr/>
        </p:nvSpPr>
        <p:spPr>
          <a:xfrm>
            <a:off x="7452360" y="4846320"/>
            <a:ext cx="4251960" cy="777240"/>
          </a:xfrm>
          <a:prstGeom prst="rect">
            <a:avLst/>
          </a:prstGeom>
          <a:noFill/>
          <a:ln/>
        </p:spPr>
        <p:txBody>
          <a:bodyPr wrap="square" rtlCol="0" anchor="ctr"/>
          <a:lstStyle/>
          <a:p>
            <a:pPr indent="0" marL="0">
              <a:lnSpc>
                <a:spcPct val="115000"/>
              </a:lnSpc>
              <a:buNone/>
            </a:pPr>
            <a:r>
              <a:rPr lang="en-US" sz="1600" dirty="0">
                <a:solidFill>
                  <a:srgbClr val="E2E8F0"/>
                </a:solidFill>
                <a:latin typeface="Calibri" pitchFamily="34" charset="0"/>
                <a:ea typeface="Calibri" pitchFamily="34" charset="-122"/>
                <a:cs typeface="Calibri" pitchFamily="34" charset="-120"/>
              </a:rPr>
              <a:t>Pe perioade scurte exista directie generala. Volatilitatea masoara stabilitatea.</a:t>
            </a:r>
            <a:endParaRPr lang="en-US" sz="1600" dirty="0"/>
          </a:p>
        </p:txBody>
      </p:sp>
      <p:sp>
        <p:nvSpPr>
          <p:cNvPr id="29" name="Text 27"/>
          <p:cNvSpPr/>
          <p:nvPr/>
        </p:nvSpPr>
        <p:spPr>
          <a:xfrm>
            <a:off x="548640" y="5852160"/>
            <a:ext cx="11064240" cy="365760"/>
          </a:xfrm>
          <a:prstGeom prst="rect">
            <a:avLst/>
          </a:prstGeom>
          <a:noFill/>
          <a:ln/>
        </p:spPr>
        <p:txBody>
          <a:bodyPr wrap="square" rtlCol="0" anchor="ctr"/>
          <a:lstStyle/>
          <a:p>
            <a:pPr algn="ctr" indent="0" marL="0">
              <a:buNone/>
            </a:pPr>
            <a:r>
              <a:rPr lang="en-US" sz="1700" b="1" i="1" dirty="0">
                <a:solidFill>
                  <a:srgbClr val="FBBF24"/>
                </a:solidFill>
                <a:latin typeface="Calibri" pitchFamily="34" charset="0"/>
                <a:ea typeface="Calibri" pitchFamily="34" charset="-122"/>
                <a:cs typeface="Calibri" pitchFamily="34" charset="-120"/>
              </a:rPr>
              <a:t>Aceste pattern-uri exista in date — dar trebuie scoase explicit ca features.</a:t>
            </a:r>
            <a:endParaRPr lang="en-US" sz="1700" dirty="0"/>
          </a:p>
        </p:txBody>
      </p:sp>
      <p:sp>
        <p:nvSpPr>
          <p:cNvPr id="30" name="Text 28"/>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31" name="Text 29"/>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8 / 28</a:t>
            </a:r>
            <a:endParaRPr lang="en-US" sz="1100" dirty="0"/>
          </a:p>
        </p:txBody>
      </p:sp>
    </p:spTree>
  </p:cSld>
  <p:transition xmlns:p="http://schemas.openxmlformats.org/presentationml/2006/main" spd="med">
    <p:fade/>
  </p:transition>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51025"/>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818CF8">
              <a:alpha val="15000"/>
            </a:srgbClr>
          </a:solidFill>
          <a:ln w="12700">
            <a:solidFill>
              <a:srgbClr val="818CF8">
                <a:alpha val="15000"/>
              </a:srgbClr>
            </a:solidFill>
            <a:prstDash val="solid"/>
          </a:ln>
        </p:spPr>
      </p:sp>
      <p:sp>
        <p:nvSpPr>
          <p:cNvPr id="3" name="Shape 1"/>
          <p:cNvSpPr/>
          <p:nvPr/>
        </p:nvSpPr>
        <p:spPr>
          <a:xfrm>
            <a:off x="10515600" y="5212080"/>
            <a:ext cx="3200400" cy="3200400"/>
          </a:xfrm>
          <a:prstGeom prst="ellipse">
            <a:avLst/>
          </a:prstGeom>
          <a:solidFill>
            <a:srgbClr val="F472B6">
              <a:alpha val="12000"/>
            </a:srgbClr>
          </a:solidFill>
          <a:ln w="12700">
            <a:solidFill>
              <a:srgbClr val="F472B6">
                <a:alpha val="12000"/>
              </a:srgbClr>
            </a:solidFill>
            <a:prstDash val="solid"/>
          </a:ln>
        </p:spPr>
      </p:sp>
      <p:sp>
        <p:nvSpPr>
          <p:cNvPr id="4" name="Shape 2"/>
          <p:cNvSpPr/>
          <p:nvPr/>
        </p:nvSpPr>
        <p:spPr>
          <a:xfrm>
            <a:off x="0" y="0"/>
            <a:ext cx="12161520" cy="164592"/>
          </a:xfrm>
          <a:prstGeom prst="rect">
            <a:avLst/>
          </a:prstGeom>
          <a:solidFill>
            <a:srgbClr val="FBBF24"/>
          </a:solidFill>
          <a:ln w="12700">
            <a:solidFill>
              <a:srgbClr val="FBBF24"/>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FBBF24"/>
                </a:solidFill>
                <a:latin typeface="Calibri" pitchFamily="34" charset="0"/>
                <a:ea typeface="Calibri" pitchFamily="34" charset="-122"/>
                <a:cs typeface="Calibri" pitchFamily="34" charset="-120"/>
              </a:rPr>
              <a:t>PROBLEMA 3</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Capcane subtile: cum apar modele false</a:t>
            </a:r>
            <a:endParaRPr lang="en-US" sz="3600" dirty="0"/>
          </a:p>
        </p:txBody>
      </p:sp>
      <p:sp>
        <p:nvSpPr>
          <p:cNvPr id="7" name="Shape 5"/>
          <p:cNvSpPr/>
          <p:nvPr/>
        </p:nvSpPr>
        <p:spPr>
          <a:xfrm>
            <a:off x="548640" y="1691640"/>
            <a:ext cx="1645920" cy="54864"/>
          </a:xfrm>
          <a:prstGeom prst="rect">
            <a:avLst/>
          </a:prstGeom>
          <a:solidFill>
            <a:srgbClr val="F472B6"/>
          </a:solidFill>
          <a:ln w="12700">
            <a:solidFill>
              <a:srgbClr val="F472B6"/>
            </a:solidFill>
            <a:prstDash val="solid"/>
          </a:ln>
        </p:spPr>
      </p:sp>
      <p:sp>
        <p:nvSpPr>
          <p:cNvPr id="8" name="Shape 6"/>
          <p:cNvSpPr/>
          <p:nvPr/>
        </p:nvSpPr>
        <p:spPr>
          <a:xfrm>
            <a:off x="548640" y="1828800"/>
            <a:ext cx="11064240" cy="1371600"/>
          </a:xfrm>
          <a:prstGeom prst="rect">
            <a:avLst/>
          </a:prstGeom>
          <a:solidFill>
            <a:srgbClr val="1E1A3A"/>
          </a:solidFill>
          <a:ln w="12700">
            <a:solidFill>
              <a:srgbClr val="1E1A3A"/>
            </a:solidFill>
            <a:prstDash val="solid"/>
          </a:ln>
        </p:spPr>
      </p:sp>
      <p:sp>
        <p:nvSpPr>
          <p:cNvPr id="9" name="Shape 7"/>
          <p:cNvSpPr/>
          <p:nvPr/>
        </p:nvSpPr>
        <p:spPr>
          <a:xfrm>
            <a:off x="548640" y="1828800"/>
            <a:ext cx="137160" cy="1371600"/>
          </a:xfrm>
          <a:prstGeom prst="rect">
            <a:avLst/>
          </a:prstGeom>
          <a:solidFill>
            <a:srgbClr val="F472B6"/>
          </a:solidFill>
          <a:ln w="12700">
            <a:solidFill>
              <a:srgbClr val="F472B6"/>
            </a:solidFill>
            <a:prstDash val="solid"/>
          </a:ln>
        </p:spPr>
      </p:sp>
      <p:sp>
        <p:nvSpPr>
          <p:cNvPr id="10" name="Text 8"/>
          <p:cNvSpPr/>
          <p:nvPr/>
        </p:nvSpPr>
        <p:spPr>
          <a:xfrm>
            <a:off x="777240" y="1920240"/>
            <a:ext cx="10607040" cy="1188720"/>
          </a:xfrm>
          <a:prstGeom prst="rect">
            <a:avLst/>
          </a:prstGeom>
          <a:noFill/>
          <a:ln/>
        </p:spPr>
        <p:txBody>
          <a:bodyPr wrap="square" rtlCol="0" anchor="t"/>
          <a:lstStyle/>
          <a:p>
            <a:pPr indent="0" marL="0">
              <a:lnSpc>
                <a:spcPct val="120000"/>
              </a:lnSpc>
              <a:buNone/>
            </a:pPr>
            <a:r>
              <a:rPr lang="en-US" sz="1900" b="1" dirty="0">
                <a:solidFill>
                  <a:srgbClr val="F472B6"/>
                </a:solidFill>
                <a:latin typeface="Calibri" pitchFamily="34" charset="0"/>
                <a:ea typeface="Calibri" pitchFamily="34" charset="-122"/>
                <a:cs typeface="Calibri" pitchFamily="34" charset="-120"/>
              </a:rPr>
              <a:t>Capcana 1: Discontinuitati false in reprezentare
</a:t>
            </a:r>
            <a:pPr indent="0" marL="0">
              <a:lnSpc>
                <a:spcPct val="120000"/>
              </a:lnSpc>
              <a:buNone/>
            </a:pPr>
            <a:r>
              <a:rPr lang="en-US" sz="1600" dirty="0">
                <a:solidFill>
                  <a:srgbClr val="E2E8F0"/>
                </a:solidFill>
                <a:latin typeface="Calibri" pitchFamily="34" charset="0"/>
                <a:ea typeface="Calibri" pitchFamily="34" charset="-122"/>
                <a:cs typeface="Calibri" pitchFamily="34" charset="-120"/>
              </a:rPr>
              <a:t>Daca codificam ora ca numar liniar 0-23, modelul vede ora 23 si ora 0 la distanta 23. </a:t>
            </a:r>
            <a:pPr indent="0" marL="0">
              <a:lnSpc>
                <a:spcPct val="120000"/>
              </a:lnSpc>
              <a:buNone/>
            </a:pPr>
            <a:r>
              <a:rPr lang="en-US" sz="1600" b="1" dirty="0">
                <a:solidFill>
                  <a:srgbClr val="FFFFFF"/>
                </a:solidFill>
                <a:latin typeface="Calibri" pitchFamily="34" charset="0"/>
                <a:ea typeface="Calibri" pitchFamily="34" charset="-122"/>
                <a:cs typeface="Calibri" pitchFamily="34" charset="-120"/>
              </a:rPr>
              <a:t>Dar fizic sunt vecine. </a:t>
            </a:r>
            <a:pPr indent="0" marL="0">
              <a:lnSpc>
                <a:spcPct val="120000"/>
              </a:lnSpc>
              <a:buNone/>
            </a:pPr>
            <a:r>
              <a:rPr lang="en-US" sz="1600" dirty="0">
                <a:solidFill>
                  <a:srgbClr val="E2E8F0"/>
                </a:solidFill>
                <a:latin typeface="Calibri" pitchFamily="34" charset="0"/>
                <a:ea typeface="Calibri" pitchFamily="34" charset="-122"/>
                <a:cs typeface="Calibri" pitchFamily="34" charset="-120"/>
              </a:rPr>
              <a:t>Modelul invata greu o discontinuitate care nu exista.</a:t>
            </a:r>
            <a:endParaRPr lang="en-US" sz="1900" dirty="0"/>
          </a:p>
        </p:txBody>
      </p:sp>
      <p:sp>
        <p:nvSpPr>
          <p:cNvPr id="11" name="Shape 9"/>
          <p:cNvSpPr/>
          <p:nvPr/>
        </p:nvSpPr>
        <p:spPr>
          <a:xfrm>
            <a:off x="548640" y="3383280"/>
            <a:ext cx="11064240" cy="1554480"/>
          </a:xfrm>
          <a:prstGeom prst="rect">
            <a:avLst/>
          </a:prstGeom>
          <a:solidFill>
            <a:srgbClr val="1E1A3A"/>
          </a:solidFill>
          <a:ln w="12700">
            <a:solidFill>
              <a:srgbClr val="1E1A3A"/>
            </a:solidFill>
            <a:prstDash val="solid"/>
          </a:ln>
        </p:spPr>
      </p:sp>
      <p:sp>
        <p:nvSpPr>
          <p:cNvPr id="12" name="Shape 10"/>
          <p:cNvSpPr/>
          <p:nvPr/>
        </p:nvSpPr>
        <p:spPr>
          <a:xfrm>
            <a:off x="548640" y="3383280"/>
            <a:ext cx="137160" cy="1554480"/>
          </a:xfrm>
          <a:prstGeom prst="rect">
            <a:avLst/>
          </a:prstGeom>
          <a:solidFill>
            <a:srgbClr val="FBBF24"/>
          </a:solidFill>
          <a:ln w="12700">
            <a:solidFill>
              <a:srgbClr val="FBBF24"/>
            </a:solidFill>
            <a:prstDash val="solid"/>
          </a:ln>
        </p:spPr>
      </p:sp>
      <p:sp>
        <p:nvSpPr>
          <p:cNvPr id="13" name="Text 11"/>
          <p:cNvSpPr/>
          <p:nvPr/>
        </p:nvSpPr>
        <p:spPr>
          <a:xfrm>
            <a:off x="777240" y="3474720"/>
            <a:ext cx="10607040" cy="1371600"/>
          </a:xfrm>
          <a:prstGeom prst="rect">
            <a:avLst/>
          </a:prstGeom>
          <a:noFill/>
          <a:ln/>
        </p:spPr>
        <p:txBody>
          <a:bodyPr wrap="square" rtlCol="0" anchor="t"/>
          <a:lstStyle/>
          <a:p>
            <a:pPr indent="0" marL="0">
              <a:lnSpc>
                <a:spcPct val="120000"/>
              </a:lnSpc>
              <a:buNone/>
            </a:pPr>
            <a:r>
              <a:rPr lang="en-US" sz="1900" b="1" dirty="0">
                <a:solidFill>
                  <a:srgbClr val="FBBF24"/>
                </a:solidFill>
                <a:latin typeface="Calibri" pitchFamily="34" charset="0"/>
                <a:ea typeface="Calibri" pitchFamily="34" charset="-122"/>
                <a:cs typeface="Calibri" pitchFamily="34" charset="-120"/>
              </a:rPr>
              <a:t>Capcana 2: Data leakage prin features prost calculate
</a:t>
            </a:r>
            <a:pPr indent="0" marL="0">
              <a:lnSpc>
                <a:spcPct val="120000"/>
              </a:lnSpc>
              <a:buNone/>
            </a:pPr>
            <a:r>
              <a:rPr lang="en-US" sz="1600" dirty="0">
                <a:solidFill>
                  <a:srgbClr val="E2E8F0"/>
                </a:solidFill>
                <a:latin typeface="Calibri" pitchFamily="34" charset="0"/>
                <a:ea typeface="Calibri" pitchFamily="34" charset="-122"/>
                <a:cs typeface="Calibri" pitchFamily="34" charset="-120"/>
              </a:rPr>
              <a:t>Daca calculam o medie 'plimbatoare' care include accidental valoarea-tinta, </a:t>
            </a:r>
            <a:pPr indent="0" marL="0">
              <a:lnSpc>
                <a:spcPct val="120000"/>
              </a:lnSpc>
              <a:buNone/>
            </a:pPr>
            <a:r>
              <a:rPr lang="en-US" sz="1600" b="1" dirty="0">
                <a:solidFill>
                  <a:srgbClr val="FFFFFF"/>
                </a:solidFill>
                <a:latin typeface="Calibri" pitchFamily="34" charset="0"/>
                <a:ea typeface="Calibri" pitchFamily="34" charset="-122"/>
                <a:cs typeface="Calibri" pitchFamily="34" charset="-120"/>
              </a:rPr>
              <a:t>modelul vede raspunsul </a:t>
            </a:r>
            <a:pPr indent="0" marL="0">
              <a:lnSpc>
                <a:spcPct val="120000"/>
              </a:lnSpc>
              <a:buNone/>
            </a:pPr>
            <a:r>
              <a:rPr lang="en-US" sz="1600" dirty="0">
                <a:solidFill>
                  <a:srgbClr val="E2E8F0"/>
                </a:solidFill>
                <a:latin typeface="Calibri" pitchFamily="34" charset="0"/>
                <a:ea typeface="Calibri" pitchFamily="34" charset="-122"/>
                <a:cs typeface="Calibri" pitchFamily="34" charset="-120"/>
              </a:rPr>
              <a:t>si obtine performanta aparent excelenta (R² = 0.93) — dar este inutil in productie.</a:t>
            </a:r>
            <a:endParaRPr lang="en-US" sz="1900" dirty="0"/>
          </a:p>
        </p:txBody>
      </p:sp>
      <p:sp>
        <p:nvSpPr>
          <p:cNvPr id="14" name="Shape 12"/>
          <p:cNvSpPr/>
          <p:nvPr/>
        </p:nvSpPr>
        <p:spPr>
          <a:xfrm>
            <a:off x="548640" y="5120640"/>
            <a:ext cx="11064240" cy="1188720"/>
          </a:xfrm>
          <a:prstGeom prst="rect">
            <a:avLst/>
          </a:prstGeom>
          <a:solidFill>
            <a:srgbClr val="1E1A3A"/>
          </a:solidFill>
          <a:ln w="12700">
            <a:solidFill>
              <a:srgbClr val="1E1A3A"/>
            </a:solidFill>
            <a:prstDash val="solid"/>
          </a:ln>
        </p:spPr>
      </p:sp>
      <p:sp>
        <p:nvSpPr>
          <p:cNvPr id="15" name="Shape 13"/>
          <p:cNvSpPr/>
          <p:nvPr/>
        </p:nvSpPr>
        <p:spPr>
          <a:xfrm>
            <a:off x="548640" y="5120640"/>
            <a:ext cx="137160" cy="1188720"/>
          </a:xfrm>
          <a:prstGeom prst="rect">
            <a:avLst/>
          </a:prstGeom>
          <a:solidFill>
            <a:srgbClr val="818CF8"/>
          </a:solidFill>
          <a:ln w="12700">
            <a:solidFill>
              <a:srgbClr val="818CF8"/>
            </a:solidFill>
            <a:prstDash val="solid"/>
          </a:ln>
        </p:spPr>
      </p:sp>
      <p:sp>
        <p:nvSpPr>
          <p:cNvPr id="16" name="Text 14"/>
          <p:cNvSpPr/>
          <p:nvPr/>
        </p:nvSpPr>
        <p:spPr>
          <a:xfrm>
            <a:off x="777240" y="5212080"/>
            <a:ext cx="10607040" cy="1005840"/>
          </a:xfrm>
          <a:prstGeom prst="rect">
            <a:avLst/>
          </a:prstGeom>
          <a:noFill/>
          <a:ln/>
        </p:spPr>
        <p:txBody>
          <a:bodyPr wrap="square" rtlCol="0" anchor="t"/>
          <a:lstStyle/>
          <a:p>
            <a:pPr indent="0" marL="0">
              <a:lnSpc>
                <a:spcPct val="120000"/>
              </a:lnSpc>
              <a:buNone/>
            </a:pPr>
            <a:r>
              <a:rPr lang="en-US" sz="1900" b="1" dirty="0">
                <a:solidFill>
                  <a:srgbClr val="818CF8"/>
                </a:solidFill>
                <a:latin typeface="Calibri" pitchFamily="34" charset="0"/>
                <a:ea typeface="Calibri" pitchFamily="34" charset="-122"/>
                <a:cs typeface="Calibri" pitchFamily="34" charset="-120"/>
              </a:rPr>
              <a:t>De ce sunt periculoase?
</a:t>
            </a:r>
            <a:pPr indent="0" marL="0">
              <a:lnSpc>
                <a:spcPct val="120000"/>
              </a:lnSpc>
              <a:buNone/>
            </a:pPr>
            <a:r>
              <a:rPr lang="en-US" sz="1600" dirty="0">
                <a:solidFill>
                  <a:srgbClr val="E2E8F0"/>
                </a:solidFill>
                <a:latin typeface="Calibri" pitchFamily="34" charset="0"/>
                <a:ea typeface="Calibri" pitchFamily="34" charset="-122"/>
                <a:cs typeface="Calibri" pitchFamily="34" charset="-120"/>
              </a:rPr>
              <a:t>Modelele construite gresit </a:t>
            </a:r>
            <a:pPr indent="0" marL="0">
              <a:lnSpc>
                <a:spcPct val="120000"/>
              </a:lnSpc>
              <a:buNone/>
            </a:pPr>
            <a:r>
              <a:rPr lang="en-US" sz="1600" b="1" dirty="0">
                <a:solidFill>
                  <a:srgbClr val="FFFFFF"/>
                </a:solidFill>
                <a:latin typeface="Calibri" pitchFamily="34" charset="0"/>
                <a:ea typeface="Calibri" pitchFamily="34" charset="-122"/>
                <a:cs typeface="Calibri" pitchFamily="34" charset="-120"/>
              </a:rPr>
              <a:t>arata excelent la evaluare </a:t>
            </a:r>
            <a:pPr indent="0" marL="0">
              <a:lnSpc>
                <a:spcPct val="120000"/>
              </a:lnSpc>
              <a:buNone/>
            </a:pPr>
            <a:r>
              <a:rPr lang="en-US" sz="1600" dirty="0">
                <a:solidFill>
                  <a:srgbClr val="E2E8F0"/>
                </a:solidFill>
                <a:latin typeface="Calibri" pitchFamily="34" charset="0"/>
                <a:ea typeface="Calibri" pitchFamily="34" charset="-122"/>
                <a:cs typeface="Calibri" pitchFamily="34" charset="-120"/>
              </a:rPr>
              <a:t>(R² peste 0.99, MAPE sub 1%) dar </a:t>
            </a:r>
            <a:pPr indent="0" marL="0">
              <a:lnSpc>
                <a:spcPct val="120000"/>
              </a:lnSpc>
              <a:buNone/>
            </a:pPr>
            <a:r>
              <a:rPr lang="en-US" sz="1600" b="1" dirty="0">
                <a:solidFill>
                  <a:srgbClr val="F472B6"/>
                </a:solidFill>
                <a:latin typeface="Calibri" pitchFamily="34" charset="0"/>
                <a:ea typeface="Calibri" pitchFamily="34" charset="-122"/>
                <a:cs typeface="Calibri" pitchFamily="34" charset="-120"/>
              </a:rPr>
              <a:t>esueaza catastrofal in productie.</a:t>
            </a:r>
            <a:endParaRPr lang="en-US" sz="1900" dirty="0"/>
          </a:p>
        </p:txBody>
      </p:sp>
      <p:sp>
        <p:nvSpPr>
          <p:cNvPr id="17" name="Text 15"/>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18" name="Text 16"/>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9 / 28</a:t>
            </a:r>
            <a:endParaRPr lang="en-US" sz="1100" dirty="0"/>
          </a:p>
        </p:txBody>
      </p:sp>
    </p:spTree>
  </p:cSld>
  <p:transition xmlns:p="http://schemas.openxmlformats.org/presentationml/2006/main" spd="med">
    <p:fade/>
  </p:transition>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51025"/>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818CF8">
              <a:alpha val="15000"/>
            </a:srgbClr>
          </a:solidFill>
          <a:ln w="12700">
            <a:solidFill>
              <a:srgbClr val="818CF8">
                <a:alpha val="15000"/>
              </a:srgbClr>
            </a:solidFill>
            <a:prstDash val="solid"/>
          </a:ln>
        </p:spPr>
      </p:sp>
      <p:sp>
        <p:nvSpPr>
          <p:cNvPr id="3" name="Shape 1"/>
          <p:cNvSpPr/>
          <p:nvPr/>
        </p:nvSpPr>
        <p:spPr>
          <a:xfrm>
            <a:off x="10515600" y="5212080"/>
            <a:ext cx="3200400" cy="3200400"/>
          </a:xfrm>
          <a:prstGeom prst="ellipse">
            <a:avLst/>
          </a:prstGeom>
          <a:solidFill>
            <a:srgbClr val="F472B6">
              <a:alpha val="12000"/>
            </a:srgbClr>
          </a:solidFill>
          <a:ln w="12700">
            <a:solidFill>
              <a:srgbClr val="F472B6">
                <a:alpha val="12000"/>
              </a:srgbClr>
            </a:solidFill>
            <a:prstDash val="solid"/>
          </a:ln>
        </p:spPr>
      </p:sp>
      <p:sp>
        <p:nvSpPr>
          <p:cNvPr id="4" name="Shape 2"/>
          <p:cNvSpPr/>
          <p:nvPr/>
        </p:nvSpPr>
        <p:spPr>
          <a:xfrm>
            <a:off x="0" y="0"/>
            <a:ext cx="12161520" cy="164592"/>
          </a:xfrm>
          <a:prstGeom prst="rect">
            <a:avLst/>
          </a:prstGeom>
          <a:solidFill>
            <a:srgbClr val="FBBF24"/>
          </a:solidFill>
          <a:ln w="12700">
            <a:solidFill>
              <a:srgbClr val="FBBF24"/>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FBBF24"/>
                </a:solidFill>
                <a:latin typeface="Calibri" pitchFamily="34" charset="0"/>
                <a:ea typeface="Calibri" pitchFamily="34" charset="-122"/>
                <a:cs typeface="Calibri" pitchFamily="34" charset="-120"/>
              </a:rPr>
              <a:t>SOLUTIA</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Trei tehnici de feature engineering</a:t>
            </a:r>
            <a:endParaRPr lang="en-US" sz="3600" dirty="0"/>
          </a:p>
        </p:txBody>
      </p:sp>
      <p:sp>
        <p:nvSpPr>
          <p:cNvPr id="7" name="Shape 5"/>
          <p:cNvSpPr/>
          <p:nvPr/>
        </p:nvSpPr>
        <p:spPr>
          <a:xfrm>
            <a:off x="548640" y="1691640"/>
            <a:ext cx="1645920" cy="54864"/>
          </a:xfrm>
          <a:prstGeom prst="rect">
            <a:avLst/>
          </a:prstGeom>
          <a:solidFill>
            <a:srgbClr val="F472B6"/>
          </a:solidFill>
          <a:ln w="12700">
            <a:solidFill>
              <a:srgbClr val="F472B6"/>
            </a:solidFill>
            <a:prstDash val="solid"/>
          </a:ln>
        </p:spPr>
      </p:sp>
      <p:sp>
        <p:nvSpPr>
          <p:cNvPr id="8" name="Text 6"/>
          <p:cNvSpPr/>
          <p:nvPr/>
        </p:nvSpPr>
        <p:spPr>
          <a:xfrm>
            <a:off x="548640" y="1874520"/>
            <a:ext cx="11064240" cy="640080"/>
          </a:xfrm>
          <a:prstGeom prst="rect">
            <a:avLst/>
          </a:prstGeom>
          <a:noFill/>
          <a:ln/>
        </p:spPr>
        <p:txBody>
          <a:bodyPr wrap="square" rtlCol="0" anchor="ctr"/>
          <a:lstStyle/>
          <a:p>
            <a:pPr indent="0" marL="0">
              <a:buNone/>
            </a:pPr>
            <a:r>
              <a:rPr lang="en-US" sz="1900" i="1" dirty="0">
                <a:solidFill>
                  <a:srgbClr val="E2E8F0"/>
                </a:solidFill>
                <a:latin typeface="Calibri" pitchFamily="34" charset="0"/>
                <a:ea typeface="Calibri" pitchFamily="34" charset="-122"/>
                <a:cs typeface="Calibri" pitchFamily="34" charset="-120"/>
              </a:rPr>
              <a:t>Pentru a transforma datele brute in features utile si pentru a evita capcanele, folosim trei tehnici complementare:</a:t>
            </a:r>
            <a:endParaRPr lang="en-US" sz="1900" dirty="0"/>
          </a:p>
        </p:txBody>
      </p:sp>
      <p:sp>
        <p:nvSpPr>
          <p:cNvPr id="9" name="Shape 7"/>
          <p:cNvSpPr/>
          <p:nvPr/>
        </p:nvSpPr>
        <p:spPr>
          <a:xfrm>
            <a:off x="548640" y="2743200"/>
            <a:ext cx="3611880" cy="3520440"/>
          </a:xfrm>
          <a:prstGeom prst="rect">
            <a:avLst/>
          </a:prstGeom>
          <a:solidFill>
            <a:srgbClr val="1E1A3A"/>
          </a:solidFill>
          <a:ln w="38100">
            <a:solidFill>
              <a:srgbClr val="818CF8"/>
            </a:solidFill>
            <a:prstDash val="solid"/>
          </a:ln>
        </p:spPr>
      </p:sp>
      <p:sp>
        <p:nvSpPr>
          <p:cNvPr id="10" name="Shape 8"/>
          <p:cNvSpPr/>
          <p:nvPr/>
        </p:nvSpPr>
        <p:spPr>
          <a:xfrm>
            <a:off x="1737360" y="2926080"/>
            <a:ext cx="1188720" cy="1188720"/>
          </a:xfrm>
          <a:prstGeom prst="ellipse">
            <a:avLst/>
          </a:prstGeom>
          <a:solidFill>
            <a:srgbClr val="818CF8"/>
          </a:solidFill>
          <a:ln w="12700">
            <a:solidFill>
              <a:srgbClr val="818CF8"/>
            </a:solidFill>
            <a:prstDash val="solid"/>
          </a:ln>
        </p:spPr>
      </p:sp>
      <p:sp>
        <p:nvSpPr>
          <p:cNvPr id="11" name="Text 9"/>
          <p:cNvSpPr/>
          <p:nvPr/>
        </p:nvSpPr>
        <p:spPr>
          <a:xfrm>
            <a:off x="1737360" y="2926080"/>
            <a:ext cx="1188720" cy="1188720"/>
          </a:xfrm>
          <a:prstGeom prst="rect">
            <a:avLst/>
          </a:prstGeom>
          <a:noFill/>
          <a:ln/>
        </p:spPr>
        <p:txBody>
          <a:bodyPr wrap="square" rtlCol="0" anchor="ctr"/>
          <a:lstStyle/>
          <a:p>
            <a:pPr algn="ctr" indent="0" marL="0">
              <a:buNone/>
            </a:pPr>
            <a:r>
              <a:rPr lang="en-US" sz="5000" b="1" dirty="0">
                <a:solidFill>
                  <a:srgbClr val="151025"/>
                </a:solidFill>
                <a:latin typeface="Cambria" pitchFamily="34" charset="0"/>
                <a:ea typeface="Cambria" pitchFamily="34" charset="-122"/>
                <a:cs typeface="Cambria" pitchFamily="34" charset="-120"/>
              </a:rPr>
              <a:t>1</a:t>
            </a:r>
            <a:endParaRPr lang="en-US" sz="5000" dirty="0"/>
          </a:p>
        </p:txBody>
      </p:sp>
      <p:sp>
        <p:nvSpPr>
          <p:cNvPr id="12" name="Text 10"/>
          <p:cNvSpPr/>
          <p:nvPr/>
        </p:nvSpPr>
        <p:spPr>
          <a:xfrm>
            <a:off x="731520" y="4251960"/>
            <a:ext cx="3246120" cy="822960"/>
          </a:xfrm>
          <a:prstGeom prst="rect">
            <a:avLst/>
          </a:prstGeom>
          <a:noFill/>
          <a:ln/>
        </p:spPr>
        <p:txBody>
          <a:bodyPr wrap="square" rtlCol="0" anchor="ctr"/>
          <a:lstStyle/>
          <a:p>
            <a:pPr algn="ctr" indent="0" marL="0">
              <a:buNone/>
            </a:pPr>
            <a:r>
              <a:rPr lang="en-US" sz="2400" b="1" dirty="0">
                <a:solidFill>
                  <a:srgbClr val="818CF8"/>
                </a:solidFill>
                <a:latin typeface="Cambria" pitchFamily="34" charset="0"/>
                <a:ea typeface="Cambria" pitchFamily="34" charset="-122"/>
                <a:cs typeface="Cambria" pitchFamily="34" charset="-120"/>
              </a:rPr>
              <a:t>Encoding</a:t>
            </a:r>
            <a:endParaRPr lang="en-US" sz="2400" dirty="0"/>
          </a:p>
          <a:p>
            <a:pPr algn="ctr" indent="0" marL="0">
              <a:buNone/>
            </a:pPr>
            <a:r>
              <a:rPr lang="en-US" sz="2400" b="1" dirty="0">
                <a:solidFill>
                  <a:srgbClr val="818CF8"/>
                </a:solidFill>
                <a:latin typeface="Cambria" pitchFamily="34" charset="0"/>
                <a:ea typeface="Cambria" pitchFamily="34" charset="-122"/>
                <a:cs typeface="Cambria" pitchFamily="34" charset="-120"/>
              </a:rPr>
              <a:t>ciclic</a:t>
            </a:r>
            <a:endParaRPr lang="en-US" sz="2400" dirty="0"/>
          </a:p>
        </p:txBody>
      </p:sp>
      <p:sp>
        <p:nvSpPr>
          <p:cNvPr id="13" name="Text 11"/>
          <p:cNvSpPr/>
          <p:nvPr/>
        </p:nvSpPr>
        <p:spPr>
          <a:xfrm>
            <a:off x="777240" y="5120640"/>
            <a:ext cx="3154680" cy="594360"/>
          </a:xfrm>
          <a:prstGeom prst="rect">
            <a:avLst/>
          </a:prstGeom>
          <a:noFill/>
          <a:ln/>
        </p:spPr>
        <p:txBody>
          <a:bodyPr wrap="square" rtlCol="0" anchor="ctr"/>
          <a:lstStyle/>
          <a:p>
            <a:pPr algn="ctr" indent="0" marL="0">
              <a:buNone/>
            </a:pPr>
            <a:r>
              <a:rPr lang="en-US" sz="1400" i="1" dirty="0">
                <a:solidFill>
                  <a:srgbClr val="94A3B8"/>
                </a:solidFill>
                <a:latin typeface="Calibri" pitchFamily="34" charset="0"/>
                <a:ea typeface="Calibri" pitchFamily="34" charset="-122"/>
                <a:cs typeface="Calibri" pitchFamily="34" charset="-120"/>
              </a:rPr>
              <a:t>Cum reprezentam timpul ca modelul sa-l inteleaga?</a:t>
            </a:r>
            <a:endParaRPr lang="en-US" sz="1400" dirty="0"/>
          </a:p>
        </p:txBody>
      </p:sp>
      <p:sp>
        <p:nvSpPr>
          <p:cNvPr id="14" name="Text 12"/>
          <p:cNvSpPr/>
          <p:nvPr/>
        </p:nvSpPr>
        <p:spPr>
          <a:xfrm>
            <a:off x="777240" y="5715000"/>
            <a:ext cx="3154680" cy="548640"/>
          </a:xfrm>
          <a:prstGeom prst="rect">
            <a:avLst/>
          </a:prstGeom>
          <a:noFill/>
          <a:ln/>
        </p:spPr>
        <p:txBody>
          <a:bodyPr wrap="square" rtlCol="0" anchor="ctr"/>
          <a:lstStyle/>
          <a:p>
            <a:pPr algn="ctr" indent="0" marL="0">
              <a:buNone/>
            </a:pPr>
            <a:r>
              <a:rPr lang="en-US" sz="1400" dirty="0">
                <a:solidFill>
                  <a:srgbClr val="E2E8F0"/>
                </a:solidFill>
                <a:latin typeface="Calibri" pitchFamily="34" charset="0"/>
                <a:ea typeface="Calibri" pitchFamily="34" charset="-122"/>
                <a:cs typeface="Calibri" pitchFamily="34" charset="-120"/>
              </a:rPr>
              <a:t>Asezam orele pe un cerc trigonometric (sin si cos).</a:t>
            </a:r>
            <a:endParaRPr lang="en-US" sz="1400" dirty="0"/>
          </a:p>
        </p:txBody>
      </p:sp>
      <p:sp>
        <p:nvSpPr>
          <p:cNvPr id="15" name="Shape 13"/>
          <p:cNvSpPr/>
          <p:nvPr/>
        </p:nvSpPr>
        <p:spPr>
          <a:xfrm>
            <a:off x="4251960" y="2743200"/>
            <a:ext cx="3611880" cy="3520440"/>
          </a:xfrm>
          <a:prstGeom prst="rect">
            <a:avLst/>
          </a:prstGeom>
          <a:solidFill>
            <a:srgbClr val="1E1A3A"/>
          </a:solidFill>
          <a:ln w="38100">
            <a:solidFill>
              <a:srgbClr val="F472B6"/>
            </a:solidFill>
            <a:prstDash val="solid"/>
          </a:ln>
        </p:spPr>
      </p:sp>
      <p:sp>
        <p:nvSpPr>
          <p:cNvPr id="16" name="Shape 14"/>
          <p:cNvSpPr/>
          <p:nvPr/>
        </p:nvSpPr>
        <p:spPr>
          <a:xfrm>
            <a:off x="5440680" y="2926080"/>
            <a:ext cx="1188720" cy="1188720"/>
          </a:xfrm>
          <a:prstGeom prst="ellipse">
            <a:avLst/>
          </a:prstGeom>
          <a:solidFill>
            <a:srgbClr val="F472B6"/>
          </a:solidFill>
          <a:ln w="12700">
            <a:solidFill>
              <a:srgbClr val="F472B6"/>
            </a:solidFill>
            <a:prstDash val="solid"/>
          </a:ln>
        </p:spPr>
      </p:sp>
      <p:sp>
        <p:nvSpPr>
          <p:cNvPr id="17" name="Text 15"/>
          <p:cNvSpPr/>
          <p:nvPr/>
        </p:nvSpPr>
        <p:spPr>
          <a:xfrm>
            <a:off x="5440680" y="2926080"/>
            <a:ext cx="1188720" cy="1188720"/>
          </a:xfrm>
          <a:prstGeom prst="rect">
            <a:avLst/>
          </a:prstGeom>
          <a:noFill/>
          <a:ln/>
        </p:spPr>
        <p:txBody>
          <a:bodyPr wrap="square" rtlCol="0" anchor="ctr"/>
          <a:lstStyle/>
          <a:p>
            <a:pPr algn="ctr" indent="0" marL="0">
              <a:buNone/>
            </a:pPr>
            <a:r>
              <a:rPr lang="en-US" sz="5000" b="1" dirty="0">
                <a:solidFill>
                  <a:srgbClr val="151025"/>
                </a:solidFill>
                <a:latin typeface="Cambria" pitchFamily="34" charset="0"/>
                <a:ea typeface="Cambria" pitchFamily="34" charset="-122"/>
                <a:cs typeface="Cambria" pitchFamily="34" charset="-120"/>
              </a:rPr>
              <a:t>2</a:t>
            </a:r>
            <a:endParaRPr lang="en-US" sz="5000" dirty="0"/>
          </a:p>
        </p:txBody>
      </p:sp>
      <p:sp>
        <p:nvSpPr>
          <p:cNvPr id="18" name="Text 16"/>
          <p:cNvSpPr/>
          <p:nvPr/>
        </p:nvSpPr>
        <p:spPr>
          <a:xfrm>
            <a:off x="4434840" y="4251960"/>
            <a:ext cx="3246120" cy="822960"/>
          </a:xfrm>
          <a:prstGeom prst="rect">
            <a:avLst/>
          </a:prstGeom>
          <a:noFill/>
          <a:ln/>
        </p:spPr>
        <p:txBody>
          <a:bodyPr wrap="square" rtlCol="0" anchor="ctr"/>
          <a:lstStyle/>
          <a:p>
            <a:pPr algn="ctr" indent="0" marL="0">
              <a:buNone/>
            </a:pPr>
            <a:r>
              <a:rPr lang="en-US" sz="2400" b="1" dirty="0">
                <a:solidFill>
                  <a:srgbClr val="F472B6"/>
                </a:solidFill>
                <a:latin typeface="Cambria" pitchFamily="34" charset="0"/>
                <a:ea typeface="Cambria" pitchFamily="34" charset="-122"/>
                <a:cs typeface="Cambria" pitchFamily="34" charset="-120"/>
              </a:rPr>
              <a:t>Lag</a:t>
            </a:r>
            <a:endParaRPr lang="en-US" sz="2400" dirty="0"/>
          </a:p>
          <a:p>
            <a:pPr algn="ctr" indent="0" marL="0">
              <a:buNone/>
            </a:pPr>
            <a:r>
              <a:rPr lang="en-US" sz="2400" b="1" dirty="0">
                <a:solidFill>
                  <a:srgbClr val="F472B6"/>
                </a:solidFill>
                <a:latin typeface="Cambria" pitchFamily="34" charset="0"/>
                <a:ea typeface="Cambria" pitchFamily="34" charset="-122"/>
                <a:cs typeface="Cambria" pitchFamily="34" charset="-120"/>
              </a:rPr>
              <a:t>features</a:t>
            </a:r>
            <a:endParaRPr lang="en-US" sz="2400" dirty="0"/>
          </a:p>
        </p:txBody>
      </p:sp>
      <p:sp>
        <p:nvSpPr>
          <p:cNvPr id="19" name="Text 17"/>
          <p:cNvSpPr/>
          <p:nvPr/>
        </p:nvSpPr>
        <p:spPr>
          <a:xfrm>
            <a:off x="4480560" y="5120640"/>
            <a:ext cx="3154680" cy="594360"/>
          </a:xfrm>
          <a:prstGeom prst="rect">
            <a:avLst/>
          </a:prstGeom>
          <a:noFill/>
          <a:ln/>
        </p:spPr>
        <p:txBody>
          <a:bodyPr wrap="square" rtlCol="0" anchor="ctr"/>
          <a:lstStyle/>
          <a:p>
            <a:pPr algn="ctr" indent="0" marL="0">
              <a:buNone/>
            </a:pPr>
            <a:r>
              <a:rPr lang="en-US" sz="1400" i="1" dirty="0">
                <a:solidFill>
                  <a:srgbClr val="94A3B8"/>
                </a:solidFill>
                <a:latin typeface="Calibri" pitchFamily="34" charset="0"/>
                <a:ea typeface="Calibri" pitchFamily="34" charset="-122"/>
                <a:cs typeface="Calibri" pitchFamily="34" charset="-120"/>
              </a:rPr>
              <a:t>Cum dam modelului memorie despre trecut?</a:t>
            </a:r>
            <a:endParaRPr lang="en-US" sz="1400" dirty="0"/>
          </a:p>
        </p:txBody>
      </p:sp>
      <p:sp>
        <p:nvSpPr>
          <p:cNvPr id="20" name="Text 18"/>
          <p:cNvSpPr/>
          <p:nvPr/>
        </p:nvSpPr>
        <p:spPr>
          <a:xfrm>
            <a:off x="4480560" y="5715000"/>
            <a:ext cx="3154680" cy="548640"/>
          </a:xfrm>
          <a:prstGeom prst="rect">
            <a:avLst/>
          </a:prstGeom>
          <a:noFill/>
          <a:ln/>
        </p:spPr>
        <p:txBody>
          <a:bodyPr wrap="square" rtlCol="0" anchor="ctr"/>
          <a:lstStyle/>
          <a:p>
            <a:pPr algn="ctr" indent="0" marL="0">
              <a:buNone/>
            </a:pPr>
            <a:r>
              <a:rPr lang="en-US" sz="1400" dirty="0">
                <a:solidFill>
                  <a:srgbClr val="E2E8F0"/>
                </a:solidFill>
                <a:latin typeface="Calibri" pitchFamily="34" charset="0"/>
                <a:ea typeface="Calibri" pitchFamily="34" charset="-122"/>
                <a:cs typeface="Calibri" pitchFamily="34" charset="-120"/>
              </a:rPr>
              <a:t>Adaugam coloane cu valoarea acum 1h, 24h, 168h.</a:t>
            </a:r>
            <a:endParaRPr lang="en-US" sz="1400" dirty="0"/>
          </a:p>
        </p:txBody>
      </p:sp>
      <p:sp>
        <p:nvSpPr>
          <p:cNvPr id="21" name="Shape 19"/>
          <p:cNvSpPr/>
          <p:nvPr/>
        </p:nvSpPr>
        <p:spPr>
          <a:xfrm>
            <a:off x="7955280" y="2743200"/>
            <a:ext cx="3611880" cy="3520440"/>
          </a:xfrm>
          <a:prstGeom prst="rect">
            <a:avLst/>
          </a:prstGeom>
          <a:solidFill>
            <a:srgbClr val="1E1A3A"/>
          </a:solidFill>
          <a:ln w="38100">
            <a:solidFill>
              <a:srgbClr val="FBBF24"/>
            </a:solidFill>
            <a:prstDash val="solid"/>
          </a:ln>
        </p:spPr>
      </p:sp>
      <p:sp>
        <p:nvSpPr>
          <p:cNvPr id="22" name="Shape 20"/>
          <p:cNvSpPr/>
          <p:nvPr/>
        </p:nvSpPr>
        <p:spPr>
          <a:xfrm>
            <a:off x="9144000" y="2926080"/>
            <a:ext cx="1188720" cy="1188720"/>
          </a:xfrm>
          <a:prstGeom prst="ellipse">
            <a:avLst/>
          </a:prstGeom>
          <a:solidFill>
            <a:srgbClr val="FBBF24"/>
          </a:solidFill>
          <a:ln w="12700">
            <a:solidFill>
              <a:srgbClr val="FBBF24"/>
            </a:solidFill>
            <a:prstDash val="solid"/>
          </a:ln>
        </p:spPr>
      </p:sp>
      <p:sp>
        <p:nvSpPr>
          <p:cNvPr id="23" name="Text 21"/>
          <p:cNvSpPr/>
          <p:nvPr/>
        </p:nvSpPr>
        <p:spPr>
          <a:xfrm>
            <a:off x="9144000" y="2926080"/>
            <a:ext cx="1188720" cy="1188720"/>
          </a:xfrm>
          <a:prstGeom prst="rect">
            <a:avLst/>
          </a:prstGeom>
          <a:noFill/>
          <a:ln/>
        </p:spPr>
        <p:txBody>
          <a:bodyPr wrap="square" rtlCol="0" anchor="ctr"/>
          <a:lstStyle/>
          <a:p>
            <a:pPr algn="ctr" indent="0" marL="0">
              <a:buNone/>
            </a:pPr>
            <a:r>
              <a:rPr lang="en-US" sz="5000" b="1" dirty="0">
                <a:solidFill>
                  <a:srgbClr val="151025"/>
                </a:solidFill>
                <a:latin typeface="Cambria" pitchFamily="34" charset="0"/>
                <a:ea typeface="Cambria" pitchFamily="34" charset="-122"/>
                <a:cs typeface="Cambria" pitchFamily="34" charset="-120"/>
              </a:rPr>
              <a:t>3</a:t>
            </a:r>
            <a:endParaRPr lang="en-US" sz="5000" dirty="0"/>
          </a:p>
        </p:txBody>
      </p:sp>
      <p:sp>
        <p:nvSpPr>
          <p:cNvPr id="24" name="Text 22"/>
          <p:cNvSpPr/>
          <p:nvPr/>
        </p:nvSpPr>
        <p:spPr>
          <a:xfrm>
            <a:off x="8138160" y="4251960"/>
            <a:ext cx="3246120" cy="822960"/>
          </a:xfrm>
          <a:prstGeom prst="rect">
            <a:avLst/>
          </a:prstGeom>
          <a:noFill/>
          <a:ln/>
        </p:spPr>
        <p:txBody>
          <a:bodyPr wrap="square" rtlCol="0" anchor="ctr"/>
          <a:lstStyle/>
          <a:p>
            <a:pPr algn="ctr" indent="0" marL="0">
              <a:buNone/>
            </a:pPr>
            <a:r>
              <a:rPr lang="en-US" sz="2400" b="1" dirty="0">
                <a:solidFill>
                  <a:srgbClr val="FBBF24"/>
                </a:solidFill>
                <a:latin typeface="Cambria" pitchFamily="34" charset="0"/>
                <a:ea typeface="Cambria" pitchFamily="34" charset="-122"/>
                <a:cs typeface="Cambria" pitchFamily="34" charset="-120"/>
              </a:rPr>
              <a:t>Rolling</a:t>
            </a:r>
            <a:endParaRPr lang="en-US" sz="2400" dirty="0"/>
          </a:p>
          <a:p>
            <a:pPr algn="ctr" indent="0" marL="0">
              <a:buNone/>
            </a:pPr>
            <a:r>
              <a:rPr lang="en-US" sz="2400" b="1" dirty="0">
                <a:solidFill>
                  <a:srgbClr val="FBBF24"/>
                </a:solidFill>
                <a:latin typeface="Cambria" pitchFamily="34" charset="0"/>
                <a:ea typeface="Cambria" pitchFamily="34" charset="-122"/>
                <a:cs typeface="Cambria" pitchFamily="34" charset="-120"/>
              </a:rPr>
              <a:t>features</a:t>
            </a:r>
            <a:endParaRPr lang="en-US" sz="2400" dirty="0"/>
          </a:p>
        </p:txBody>
      </p:sp>
      <p:sp>
        <p:nvSpPr>
          <p:cNvPr id="25" name="Text 23"/>
          <p:cNvSpPr/>
          <p:nvPr/>
        </p:nvSpPr>
        <p:spPr>
          <a:xfrm>
            <a:off x="8183880" y="5120640"/>
            <a:ext cx="3154680" cy="594360"/>
          </a:xfrm>
          <a:prstGeom prst="rect">
            <a:avLst/>
          </a:prstGeom>
          <a:noFill/>
          <a:ln/>
        </p:spPr>
        <p:txBody>
          <a:bodyPr wrap="square" rtlCol="0" anchor="ctr"/>
          <a:lstStyle/>
          <a:p>
            <a:pPr algn="ctr" indent="0" marL="0">
              <a:buNone/>
            </a:pPr>
            <a:r>
              <a:rPr lang="en-US" sz="1400" i="1" dirty="0">
                <a:solidFill>
                  <a:srgbClr val="94A3B8"/>
                </a:solidFill>
                <a:latin typeface="Calibri" pitchFamily="34" charset="0"/>
                <a:ea typeface="Calibri" pitchFamily="34" charset="-122"/>
                <a:cs typeface="Calibri" pitchFamily="34" charset="-120"/>
              </a:rPr>
              <a:t>Cum spunem modelului ce trend recent este?</a:t>
            </a:r>
            <a:endParaRPr lang="en-US" sz="1400" dirty="0"/>
          </a:p>
        </p:txBody>
      </p:sp>
      <p:sp>
        <p:nvSpPr>
          <p:cNvPr id="26" name="Text 24"/>
          <p:cNvSpPr/>
          <p:nvPr/>
        </p:nvSpPr>
        <p:spPr>
          <a:xfrm>
            <a:off x="8183880" y="5715000"/>
            <a:ext cx="3154680" cy="548640"/>
          </a:xfrm>
          <a:prstGeom prst="rect">
            <a:avLst/>
          </a:prstGeom>
          <a:noFill/>
          <a:ln/>
        </p:spPr>
        <p:txBody>
          <a:bodyPr wrap="square" rtlCol="0" anchor="ctr"/>
          <a:lstStyle/>
          <a:p>
            <a:pPr algn="ctr" indent="0" marL="0">
              <a:buNone/>
            </a:pPr>
            <a:r>
              <a:rPr lang="en-US" sz="1400" dirty="0">
                <a:solidFill>
                  <a:srgbClr val="E2E8F0"/>
                </a:solidFill>
                <a:latin typeface="Calibri" pitchFamily="34" charset="0"/>
                <a:ea typeface="Calibri" pitchFamily="34" charset="-122"/>
                <a:cs typeface="Calibri" pitchFamily="34" charset="-120"/>
              </a:rPr>
              <a:t>Media si deviatia pe o fereastra alunecatoare, anti-leakage.</a:t>
            </a:r>
            <a:endParaRPr lang="en-US" sz="1400" dirty="0"/>
          </a:p>
        </p:txBody>
      </p:sp>
      <p:sp>
        <p:nvSpPr>
          <p:cNvPr id="27" name="Text 25"/>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28" name="Text 26"/>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10 / 28</a:t>
            </a:r>
            <a:endParaRPr lang="en-US" sz="1100" dirty="0"/>
          </a:p>
        </p:txBody>
      </p:sp>
    </p:spTree>
  </p:cSld>
  <p:transition xmlns:p="http://schemas.openxmlformats.org/presentationml/2006/main" spd="med">
    <p:fade/>
  </p:transition>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51025"/>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818CF8">
              <a:alpha val="15000"/>
            </a:srgbClr>
          </a:solidFill>
          <a:ln w="12700">
            <a:solidFill>
              <a:srgbClr val="818CF8">
                <a:alpha val="15000"/>
              </a:srgbClr>
            </a:solidFill>
            <a:prstDash val="solid"/>
          </a:ln>
        </p:spPr>
      </p:sp>
      <p:sp>
        <p:nvSpPr>
          <p:cNvPr id="3" name="Shape 1"/>
          <p:cNvSpPr/>
          <p:nvPr/>
        </p:nvSpPr>
        <p:spPr>
          <a:xfrm>
            <a:off x="10515600" y="5212080"/>
            <a:ext cx="3200400" cy="3200400"/>
          </a:xfrm>
          <a:prstGeom prst="ellipse">
            <a:avLst/>
          </a:prstGeom>
          <a:solidFill>
            <a:srgbClr val="F472B6">
              <a:alpha val="12000"/>
            </a:srgbClr>
          </a:solidFill>
          <a:ln w="12700">
            <a:solidFill>
              <a:srgbClr val="F472B6">
                <a:alpha val="12000"/>
              </a:srgbClr>
            </a:solidFill>
            <a:prstDash val="solid"/>
          </a:ln>
        </p:spPr>
      </p:sp>
      <p:sp>
        <p:nvSpPr>
          <p:cNvPr id="4" name="Shape 2"/>
          <p:cNvSpPr/>
          <p:nvPr/>
        </p:nvSpPr>
        <p:spPr>
          <a:xfrm>
            <a:off x="0" y="0"/>
            <a:ext cx="12161520" cy="164592"/>
          </a:xfrm>
          <a:prstGeom prst="rect">
            <a:avLst/>
          </a:prstGeom>
          <a:solidFill>
            <a:srgbClr val="FBBF24"/>
          </a:solidFill>
          <a:ln w="12700">
            <a:solidFill>
              <a:srgbClr val="FBBF24"/>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FBBF24"/>
                </a:solidFill>
                <a:latin typeface="Calibri" pitchFamily="34" charset="0"/>
                <a:ea typeface="Calibri" pitchFamily="34" charset="-122"/>
                <a:cs typeface="Calibri" pitchFamily="34" charset="-120"/>
              </a:rPr>
              <a:t>TEHNICA 1 / ANALOGIE</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O analogie din viata de zi cu zi</a:t>
            </a:r>
            <a:endParaRPr lang="en-US" sz="3600" dirty="0"/>
          </a:p>
        </p:txBody>
      </p:sp>
      <p:sp>
        <p:nvSpPr>
          <p:cNvPr id="7" name="Shape 5"/>
          <p:cNvSpPr/>
          <p:nvPr/>
        </p:nvSpPr>
        <p:spPr>
          <a:xfrm>
            <a:off x="548640" y="1691640"/>
            <a:ext cx="1645920" cy="54864"/>
          </a:xfrm>
          <a:prstGeom prst="rect">
            <a:avLst/>
          </a:prstGeom>
          <a:solidFill>
            <a:srgbClr val="F472B6"/>
          </a:solidFill>
          <a:ln w="12700">
            <a:solidFill>
              <a:srgbClr val="F472B6"/>
            </a:solidFill>
            <a:prstDash val="solid"/>
          </a:ln>
        </p:spPr>
      </p:sp>
      <p:sp>
        <p:nvSpPr>
          <p:cNvPr id="8" name="Text 6"/>
          <p:cNvSpPr/>
          <p:nvPr/>
        </p:nvSpPr>
        <p:spPr>
          <a:xfrm>
            <a:off x="548640" y="1920240"/>
            <a:ext cx="11064240" cy="548640"/>
          </a:xfrm>
          <a:prstGeom prst="rect">
            <a:avLst/>
          </a:prstGeom>
          <a:noFill/>
          <a:ln/>
        </p:spPr>
        <p:txBody>
          <a:bodyPr wrap="square" rtlCol="0" anchor="ctr"/>
          <a:lstStyle/>
          <a:p>
            <a:pPr indent="0" marL="0">
              <a:buNone/>
            </a:pPr>
            <a:r>
              <a:rPr lang="en-US" sz="1900" i="1" dirty="0">
                <a:solidFill>
                  <a:srgbClr val="E2E8F0"/>
                </a:solidFill>
                <a:latin typeface="Calibri" pitchFamily="34" charset="0"/>
                <a:ea typeface="Calibri" pitchFamily="34" charset="-122"/>
                <a:cs typeface="Calibri" pitchFamily="34" charset="-120"/>
              </a:rPr>
              <a:t>Imagineaza-ti un ceas de perete. Cand acul ajunge la 12 noaptea si continua spre 1 dimineata, ce se intampla?</a:t>
            </a:r>
            <a:endParaRPr lang="en-US" sz="1900" dirty="0"/>
          </a:p>
        </p:txBody>
      </p:sp>
      <p:sp>
        <p:nvSpPr>
          <p:cNvPr id="9" name="Shape 7"/>
          <p:cNvSpPr/>
          <p:nvPr/>
        </p:nvSpPr>
        <p:spPr>
          <a:xfrm>
            <a:off x="548640" y="2697480"/>
            <a:ext cx="5486400" cy="3657600"/>
          </a:xfrm>
          <a:prstGeom prst="rect">
            <a:avLst/>
          </a:prstGeom>
          <a:solidFill>
            <a:srgbClr val="1E1A3A"/>
          </a:solidFill>
          <a:ln w="12700">
            <a:solidFill>
              <a:srgbClr val="1E1A3A"/>
            </a:solidFill>
            <a:prstDash val="solid"/>
          </a:ln>
        </p:spPr>
      </p:sp>
      <p:sp>
        <p:nvSpPr>
          <p:cNvPr id="10" name="Shape 8"/>
          <p:cNvSpPr/>
          <p:nvPr/>
        </p:nvSpPr>
        <p:spPr>
          <a:xfrm>
            <a:off x="548640" y="2697480"/>
            <a:ext cx="137160" cy="3657600"/>
          </a:xfrm>
          <a:prstGeom prst="rect">
            <a:avLst/>
          </a:prstGeom>
          <a:solidFill>
            <a:srgbClr val="34D399"/>
          </a:solidFill>
          <a:ln w="12700">
            <a:solidFill>
              <a:srgbClr val="34D399"/>
            </a:solidFill>
            <a:prstDash val="solid"/>
          </a:ln>
        </p:spPr>
      </p:sp>
      <p:sp>
        <p:nvSpPr>
          <p:cNvPr id="11" name="Text 9"/>
          <p:cNvSpPr/>
          <p:nvPr/>
        </p:nvSpPr>
        <p:spPr>
          <a:xfrm>
            <a:off x="777240" y="2788920"/>
            <a:ext cx="5257800" cy="457200"/>
          </a:xfrm>
          <a:prstGeom prst="rect">
            <a:avLst/>
          </a:prstGeom>
          <a:noFill/>
          <a:ln/>
        </p:spPr>
        <p:txBody>
          <a:bodyPr wrap="square" rtlCol="0" anchor="ctr"/>
          <a:lstStyle/>
          <a:p>
            <a:pPr indent="0" marL="0">
              <a:buNone/>
            </a:pPr>
            <a:r>
              <a:rPr lang="en-US" sz="2100" b="1" dirty="0">
                <a:solidFill>
                  <a:srgbClr val="34D399"/>
                </a:solidFill>
                <a:latin typeface="Cambria" pitchFamily="34" charset="0"/>
                <a:ea typeface="Cambria" pitchFamily="34" charset="-122"/>
                <a:cs typeface="Cambria" pitchFamily="34" charset="-120"/>
              </a:rPr>
              <a:t>In realitate</a:t>
            </a:r>
            <a:endParaRPr lang="en-US" sz="2100" dirty="0"/>
          </a:p>
        </p:txBody>
      </p:sp>
      <p:sp>
        <p:nvSpPr>
          <p:cNvPr id="12" name="Text 10"/>
          <p:cNvSpPr/>
          <p:nvPr/>
        </p:nvSpPr>
        <p:spPr>
          <a:xfrm>
            <a:off x="868680" y="3337560"/>
            <a:ext cx="5074920" cy="2926080"/>
          </a:xfrm>
          <a:prstGeom prst="rect">
            <a:avLst/>
          </a:prstGeom>
          <a:noFill/>
          <a:ln/>
        </p:spPr>
        <p:txBody>
          <a:bodyPr wrap="square" rtlCol="0" anchor="t"/>
          <a:lstStyle/>
          <a:p>
            <a:pPr indent="0" marL="0">
              <a:lnSpc>
                <a:spcPct val="130000"/>
              </a:lnSpc>
              <a:buNone/>
            </a:pPr>
            <a:r>
              <a:rPr lang="en-US" sz="1700" dirty="0">
                <a:solidFill>
                  <a:srgbClr val="E2E8F0"/>
                </a:solidFill>
                <a:latin typeface="Calibri" pitchFamily="34" charset="0"/>
                <a:ea typeface="Calibri" pitchFamily="34" charset="-122"/>
                <a:cs typeface="Calibri" pitchFamily="34" charset="-120"/>
              </a:rPr>
              <a:t>Acul se misca lin — de la 23:59 la 00:00, </a:t>
            </a:r>
            <a:pPr indent="0" marL="0">
              <a:lnSpc>
                <a:spcPct val="130000"/>
              </a:lnSpc>
              <a:buNone/>
            </a:pPr>
            <a:r>
              <a:rPr lang="en-US" sz="1700" b="1" dirty="0">
                <a:solidFill>
                  <a:srgbClr val="FFFFFF"/>
                </a:solidFill>
                <a:latin typeface="Calibri" pitchFamily="34" charset="0"/>
                <a:ea typeface="Calibri" pitchFamily="34" charset="-122"/>
                <a:cs typeface="Calibri" pitchFamily="34" charset="-120"/>
              </a:rPr>
              <a:t>fara salturi</a:t>
            </a:r>
            <a:pPr indent="0" marL="0">
              <a:lnSpc>
                <a:spcPct val="130000"/>
              </a:lnSpc>
              <a:buNone/>
            </a:pPr>
            <a:r>
              <a:rPr lang="en-US" sz="1700" dirty="0">
                <a:solidFill>
                  <a:srgbClr val="E2E8F0"/>
                </a:solidFill>
                <a:latin typeface="Calibri" pitchFamily="34" charset="0"/>
                <a:ea typeface="Calibri" pitchFamily="34" charset="-122"/>
                <a:cs typeface="Calibri" pitchFamily="34" charset="-120"/>
              </a:rPr>
              <a:t>.
</a:t>
            </a:r>
            <a:pPr indent="0" marL="0">
              <a:lnSpc>
                <a:spcPct val="130000"/>
              </a:lnSpc>
              <a:buNone/>
            </a:pPr>
            <a:r>
              <a:rPr lang="en-US" sz="1700" dirty="0">
                <a:solidFill>
                  <a:srgbClr val="E2E8F0"/>
                </a:solidFill>
                <a:latin typeface="Calibri" pitchFamily="34" charset="0"/>
                <a:ea typeface="Calibri" pitchFamily="34" charset="-122"/>
                <a:cs typeface="Calibri" pitchFamily="34" charset="-120"/>
              </a:rPr>
              <a:t>Ora 23:00 si ora 00:00 sunt </a:t>
            </a:r>
            <a:pPr indent="0" marL="0">
              <a:lnSpc>
                <a:spcPct val="130000"/>
              </a:lnSpc>
              <a:buNone/>
            </a:pPr>
            <a:r>
              <a:rPr lang="en-US" sz="1700" b="1" dirty="0">
                <a:solidFill>
                  <a:srgbClr val="FFFFFF"/>
                </a:solidFill>
                <a:latin typeface="Calibri" pitchFamily="34" charset="0"/>
                <a:ea typeface="Calibri" pitchFamily="34" charset="-122"/>
                <a:cs typeface="Calibri" pitchFamily="34" charset="-120"/>
              </a:rPr>
              <a:t>vecine pe ceas</a:t>
            </a:r>
            <a:pPr indent="0" marL="0">
              <a:lnSpc>
                <a:spcPct val="130000"/>
              </a:lnSpc>
              <a:buNone/>
            </a:pPr>
            <a:r>
              <a:rPr lang="en-US" sz="1700" dirty="0">
                <a:solidFill>
                  <a:srgbClr val="E2E8F0"/>
                </a:solidFill>
                <a:latin typeface="Calibri" pitchFamily="34" charset="0"/>
                <a:ea typeface="Calibri" pitchFamily="34" charset="-122"/>
                <a:cs typeface="Calibri" pitchFamily="34" charset="-120"/>
              </a:rPr>
              <a:t> — la o ora distanta.</a:t>
            </a:r>
            <a:endParaRPr lang="en-US" sz="1700" dirty="0"/>
          </a:p>
        </p:txBody>
      </p:sp>
      <p:sp>
        <p:nvSpPr>
          <p:cNvPr id="13" name="Shape 11"/>
          <p:cNvSpPr/>
          <p:nvPr/>
        </p:nvSpPr>
        <p:spPr>
          <a:xfrm>
            <a:off x="6126480" y="2697480"/>
            <a:ext cx="5486400" cy="3657600"/>
          </a:xfrm>
          <a:prstGeom prst="rect">
            <a:avLst/>
          </a:prstGeom>
          <a:solidFill>
            <a:srgbClr val="1E1A3A"/>
          </a:solidFill>
          <a:ln w="12700">
            <a:solidFill>
              <a:srgbClr val="1E1A3A"/>
            </a:solidFill>
            <a:prstDash val="solid"/>
          </a:ln>
        </p:spPr>
      </p:sp>
      <p:sp>
        <p:nvSpPr>
          <p:cNvPr id="14" name="Shape 12"/>
          <p:cNvSpPr/>
          <p:nvPr/>
        </p:nvSpPr>
        <p:spPr>
          <a:xfrm>
            <a:off x="6126480" y="2697480"/>
            <a:ext cx="137160" cy="3657600"/>
          </a:xfrm>
          <a:prstGeom prst="rect">
            <a:avLst/>
          </a:prstGeom>
          <a:solidFill>
            <a:srgbClr val="F472B6"/>
          </a:solidFill>
          <a:ln w="12700">
            <a:solidFill>
              <a:srgbClr val="F472B6"/>
            </a:solidFill>
            <a:prstDash val="solid"/>
          </a:ln>
        </p:spPr>
      </p:sp>
      <p:sp>
        <p:nvSpPr>
          <p:cNvPr id="15" name="Text 13"/>
          <p:cNvSpPr/>
          <p:nvPr/>
        </p:nvSpPr>
        <p:spPr>
          <a:xfrm>
            <a:off x="6355080" y="2788920"/>
            <a:ext cx="5257800" cy="457200"/>
          </a:xfrm>
          <a:prstGeom prst="rect">
            <a:avLst/>
          </a:prstGeom>
          <a:noFill/>
          <a:ln/>
        </p:spPr>
        <p:txBody>
          <a:bodyPr wrap="square" rtlCol="0" anchor="ctr"/>
          <a:lstStyle/>
          <a:p>
            <a:pPr indent="0" marL="0">
              <a:buNone/>
            </a:pPr>
            <a:r>
              <a:rPr lang="en-US" sz="2100" b="1" dirty="0">
                <a:solidFill>
                  <a:srgbClr val="F472B6"/>
                </a:solidFill>
                <a:latin typeface="Cambria" pitchFamily="34" charset="0"/>
                <a:ea typeface="Cambria" pitchFamily="34" charset="-122"/>
                <a:cs typeface="Cambria" pitchFamily="34" charset="-120"/>
              </a:rPr>
              <a:t>In reprezentare liniara</a:t>
            </a:r>
            <a:endParaRPr lang="en-US" sz="2100" dirty="0"/>
          </a:p>
        </p:txBody>
      </p:sp>
      <p:sp>
        <p:nvSpPr>
          <p:cNvPr id="16" name="Text 14"/>
          <p:cNvSpPr/>
          <p:nvPr/>
        </p:nvSpPr>
        <p:spPr>
          <a:xfrm>
            <a:off x="6446520" y="3337560"/>
            <a:ext cx="5074920" cy="2926080"/>
          </a:xfrm>
          <a:prstGeom prst="rect">
            <a:avLst/>
          </a:prstGeom>
          <a:noFill/>
          <a:ln/>
        </p:spPr>
        <p:txBody>
          <a:bodyPr wrap="square" rtlCol="0" anchor="t"/>
          <a:lstStyle/>
          <a:p>
            <a:pPr indent="0" marL="0">
              <a:lnSpc>
                <a:spcPct val="130000"/>
              </a:lnSpc>
              <a:buNone/>
            </a:pPr>
            <a:r>
              <a:rPr lang="en-US" sz="1700" dirty="0">
                <a:solidFill>
                  <a:srgbClr val="E2E8F0"/>
                </a:solidFill>
                <a:latin typeface="Calibri" pitchFamily="34" charset="0"/>
                <a:ea typeface="Calibri" pitchFamily="34" charset="-122"/>
                <a:cs typeface="Calibri" pitchFamily="34" charset="-120"/>
              </a:rPr>
              <a:t>Daca scriem ora ca numere 0, 1, 2, ..., 23 si apoi din nou de la 0...
</a:t>
            </a:r>
            <a:pPr indent="0" marL="0">
              <a:lnSpc>
                <a:spcPct val="130000"/>
              </a:lnSpc>
              <a:buNone/>
            </a:pPr>
            <a:r>
              <a:rPr lang="en-US" sz="1700" dirty="0">
                <a:solidFill>
                  <a:srgbClr val="E2E8F0"/>
                </a:solidFill>
                <a:latin typeface="Calibri" pitchFamily="34" charset="0"/>
                <a:ea typeface="Calibri" pitchFamily="34" charset="-122"/>
                <a:cs typeface="Calibri" pitchFamily="34" charset="-120"/>
              </a:rPr>
              <a:t>Modelul vede o </a:t>
            </a:r>
            <a:pPr indent="0" marL="0">
              <a:lnSpc>
                <a:spcPct val="130000"/>
              </a:lnSpc>
              <a:buNone/>
            </a:pPr>
            <a:r>
              <a:rPr lang="en-US" sz="1700" b="1" dirty="0">
                <a:solidFill>
                  <a:srgbClr val="FFFFFF"/>
                </a:solidFill>
                <a:latin typeface="Calibri" pitchFamily="34" charset="0"/>
                <a:ea typeface="Calibri" pitchFamily="34" charset="-122"/>
                <a:cs typeface="Calibri" pitchFamily="34" charset="-120"/>
              </a:rPr>
              <a:t>sariutra brusca</a:t>
            </a:r>
            <a:pPr indent="0" marL="0">
              <a:lnSpc>
                <a:spcPct val="130000"/>
              </a:lnSpc>
              <a:buNone/>
            </a:pPr>
            <a:r>
              <a:rPr lang="en-US" sz="1700" dirty="0">
                <a:solidFill>
                  <a:srgbClr val="E2E8F0"/>
                </a:solidFill>
                <a:latin typeface="Calibri" pitchFamily="34" charset="0"/>
                <a:ea typeface="Calibri" pitchFamily="34" charset="-122"/>
                <a:cs typeface="Calibri" pitchFamily="34" charset="-120"/>
              </a:rPr>
              <a:t> de la 23 la 0 — ca si cum acul ar sari peste 23 de ore intr-o singura clipa.</a:t>
            </a:r>
            <a:endParaRPr lang="en-US" sz="1700" dirty="0"/>
          </a:p>
        </p:txBody>
      </p:sp>
      <p:sp>
        <p:nvSpPr>
          <p:cNvPr id="17" name="Text 15"/>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18" name="Text 16"/>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11 / 28</a:t>
            </a:r>
            <a:endParaRPr lang="en-US" sz="1100" dirty="0"/>
          </a:p>
        </p:txBody>
      </p:sp>
    </p:spTree>
  </p:cSld>
  <p:transition xmlns:p="http://schemas.openxmlformats.org/presentationml/2006/main" spd="med">
    <p:fade/>
  </p:transition>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51025"/>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818CF8">
              <a:alpha val="15000"/>
            </a:srgbClr>
          </a:solidFill>
          <a:ln w="12700">
            <a:solidFill>
              <a:srgbClr val="818CF8">
                <a:alpha val="15000"/>
              </a:srgbClr>
            </a:solidFill>
            <a:prstDash val="solid"/>
          </a:ln>
        </p:spPr>
      </p:sp>
      <p:sp>
        <p:nvSpPr>
          <p:cNvPr id="3" name="Shape 1"/>
          <p:cNvSpPr/>
          <p:nvPr/>
        </p:nvSpPr>
        <p:spPr>
          <a:xfrm>
            <a:off x="10515600" y="5212080"/>
            <a:ext cx="3200400" cy="3200400"/>
          </a:xfrm>
          <a:prstGeom prst="ellipse">
            <a:avLst/>
          </a:prstGeom>
          <a:solidFill>
            <a:srgbClr val="F472B6">
              <a:alpha val="12000"/>
            </a:srgbClr>
          </a:solidFill>
          <a:ln w="12700">
            <a:solidFill>
              <a:srgbClr val="F472B6">
                <a:alpha val="12000"/>
              </a:srgbClr>
            </a:solidFill>
            <a:prstDash val="solid"/>
          </a:ln>
        </p:spPr>
      </p:sp>
      <p:sp>
        <p:nvSpPr>
          <p:cNvPr id="4" name="Shape 2"/>
          <p:cNvSpPr/>
          <p:nvPr/>
        </p:nvSpPr>
        <p:spPr>
          <a:xfrm>
            <a:off x="0" y="0"/>
            <a:ext cx="12161520" cy="164592"/>
          </a:xfrm>
          <a:prstGeom prst="rect">
            <a:avLst/>
          </a:prstGeom>
          <a:solidFill>
            <a:srgbClr val="FBBF24"/>
          </a:solidFill>
          <a:ln w="12700">
            <a:solidFill>
              <a:srgbClr val="FBBF24"/>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FBBF24"/>
                </a:solidFill>
                <a:latin typeface="Calibri" pitchFamily="34" charset="0"/>
                <a:ea typeface="Calibri" pitchFamily="34" charset="-122"/>
                <a:cs typeface="Calibri" pitchFamily="34" charset="-120"/>
              </a:rPr>
              <a:t>TEHNICA 1 / REPREZENTAREA LINIARA</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Vedem problema in date reale</a:t>
            </a:r>
            <a:endParaRPr lang="en-US" sz="3600" dirty="0"/>
          </a:p>
        </p:txBody>
      </p:sp>
      <p:sp>
        <p:nvSpPr>
          <p:cNvPr id="7" name="Shape 5"/>
          <p:cNvSpPr/>
          <p:nvPr/>
        </p:nvSpPr>
        <p:spPr>
          <a:xfrm>
            <a:off x="548640" y="1691640"/>
            <a:ext cx="1645920" cy="54864"/>
          </a:xfrm>
          <a:prstGeom prst="rect">
            <a:avLst/>
          </a:prstGeom>
          <a:solidFill>
            <a:srgbClr val="F472B6"/>
          </a:solidFill>
          <a:ln w="12700">
            <a:solidFill>
              <a:srgbClr val="F472B6"/>
            </a:solidFill>
            <a:prstDash val="solid"/>
          </a:ln>
        </p:spPr>
      </p:sp>
      <p:pic>
        <p:nvPicPr>
          <p:cNvPr id="8" name="Image 0" descr="/sessions/vibrant-elegant-pasteur/mnt/Disertatie_AI_Platform/reports/figures/fig_fe_linear_only.png">    </p:cNvPr>
          <p:cNvPicPr>
            <a:picLocks noChangeAspect="1"/>
          </p:cNvPicPr>
          <p:nvPr/>
        </p:nvPicPr>
        <p:blipFill>
          <a:blip r:embed="rId1"/>
          <a:srcRect l="0" r="0" t="0" b="0"/>
          <a:stretch/>
        </p:blipFill>
        <p:spPr>
          <a:xfrm>
            <a:off x="365760" y="1783080"/>
            <a:ext cx="7315200" cy="4389120"/>
          </a:xfrm>
          <a:prstGeom prst="rect">
            <a:avLst/>
          </a:prstGeom>
        </p:spPr>
      </p:pic>
      <p:sp>
        <p:nvSpPr>
          <p:cNvPr id="9" name="Shape 6"/>
          <p:cNvSpPr/>
          <p:nvPr/>
        </p:nvSpPr>
        <p:spPr>
          <a:xfrm>
            <a:off x="7955280" y="1783080"/>
            <a:ext cx="3749040" cy="4389120"/>
          </a:xfrm>
          <a:prstGeom prst="rect">
            <a:avLst/>
          </a:prstGeom>
          <a:solidFill>
            <a:srgbClr val="1E1A3A"/>
          </a:solidFill>
          <a:ln w="12700">
            <a:solidFill>
              <a:srgbClr val="1E1A3A"/>
            </a:solidFill>
            <a:prstDash val="solid"/>
          </a:ln>
        </p:spPr>
      </p:sp>
      <p:sp>
        <p:nvSpPr>
          <p:cNvPr id="10" name="Shape 7"/>
          <p:cNvSpPr/>
          <p:nvPr/>
        </p:nvSpPr>
        <p:spPr>
          <a:xfrm>
            <a:off x="7955280" y="1783080"/>
            <a:ext cx="137160" cy="4389120"/>
          </a:xfrm>
          <a:prstGeom prst="rect">
            <a:avLst/>
          </a:prstGeom>
          <a:solidFill>
            <a:srgbClr val="F472B6"/>
          </a:solidFill>
          <a:ln w="12700">
            <a:solidFill>
              <a:srgbClr val="F472B6"/>
            </a:solidFill>
            <a:prstDash val="solid"/>
          </a:ln>
        </p:spPr>
      </p:sp>
      <p:sp>
        <p:nvSpPr>
          <p:cNvPr id="11" name="Text 8"/>
          <p:cNvSpPr/>
          <p:nvPr/>
        </p:nvSpPr>
        <p:spPr>
          <a:xfrm>
            <a:off x="8183880" y="1874520"/>
            <a:ext cx="3520440" cy="457200"/>
          </a:xfrm>
          <a:prstGeom prst="rect">
            <a:avLst/>
          </a:prstGeom>
          <a:noFill/>
          <a:ln/>
        </p:spPr>
        <p:txBody>
          <a:bodyPr wrap="square" rtlCol="0" anchor="ctr"/>
          <a:lstStyle/>
          <a:p>
            <a:pPr indent="0" marL="0">
              <a:buNone/>
            </a:pPr>
            <a:r>
              <a:rPr lang="en-US" sz="1900" b="1" dirty="0">
                <a:solidFill>
                  <a:srgbClr val="F472B6"/>
                </a:solidFill>
                <a:latin typeface="Cambria" pitchFamily="34" charset="0"/>
                <a:ea typeface="Cambria" pitchFamily="34" charset="-122"/>
                <a:cs typeface="Cambria" pitchFamily="34" charset="-120"/>
              </a:rPr>
              <a:t>Ce vezi in grafic?</a:t>
            </a:r>
            <a:endParaRPr lang="en-US" sz="1900" dirty="0"/>
          </a:p>
        </p:txBody>
      </p:sp>
      <p:sp>
        <p:nvSpPr>
          <p:cNvPr id="12" name="Text 9"/>
          <p:cNvSpPr/>
          <p:nvPr/>
        </p:nvSpPr>
        <p:spPr>
          <a:xfrm>
            <a:off x="8229600" y="2468880"/>
            <a:ext cx="3429000" cy="3657600"/>
          </a:xfrm>
          <a:prstGeom prst="rect">
            <a:avLst/>
          </a:prstGeom>
          <a:noFill/>
          <a:ln/>
        </p:spPr>
        <p:txBody>
          <a:bodyPr wrap="square" rtlCol="0" anchor="t"/>
          <a:lstStyle/>
          <a:p>
            <a:pPr indent="0" marL="0">
              <a:lnSpc>
                <a:spcPct val="125000"/>
              </a:lnSpc>
              <a:buNone/>
            </a:pPr>
            <a:r>
              <a:rPr lang="en-US" sz="1400" dirty="0">
                <a:solidFill>
                  <a:srgbClr val="E2E8F0"/>
                </a:solidFill>
                <a:latin typeface="Calibri" pitchFamily="34" charset="0"/>
                <a:ea typeface="Calibri" pitchFamily="34" charset="-122"/>
                <a:cs typeface="Calibri" pitchFamily="34" charset="-120"/>
              </a:rPr>
              <a:t>Profilul tipic de consum pe o zi.
</a:t>
            </a:r>
            <a:pPr indent="0" marL="0">
              <a:lnSpc>
                <a:spcPct val="125000"/>
              </a:lnSpc>
              <a:buNone/>
            </a:pPr>
            <a:r>
              <a:rPr lang="en-US" sz="1400" dirty="0">
                <a:solidFill>
                  <a:srgbClr val="E2E8F0"/>
                </a:solidFill>
                <a:latin typeface="Calibri" pitchFamily="34" charset="0"/>
                <a:ea typeface="Calibri" pitchFamily="34" charset="-122"/>
                <a:cs typeface="Calibri" pitchFamily="34" charset="-120"/>
              </a:rPr>
              <a:t>Maxim seara (varf cina), minim noaptea.
</a:t>
            </a:r>
            <a:pPr indent="0" marL="0">
              <a:lnSpc>
                <a:spcPct val="125000"/>
              </a:lnSpc>
              <a:buNone/>
            </a:pPr>
            <a:r>
              <a:rPr lang="en-US" sz="1400" dirty="0">
                <a:solidFill>
                  <a:srgbClr val="E2E8F0"/>
                </a:solidFill>
                <a:latin typeface="Calibri" pitchFamily="34" charset="0"/>
                <a:ea typeface="Calibri" pitchFamily="34" charset="-122"/>
                <a:cs typeface="Calibri" pitchFamily="34" charset="-120"/>
              </a:rPr>
              <a:t>Cele 2 cercuri portocalii: </a:t>
            </a:r>
            <a:pPr indent="0" marL="0">
              <a:lnSpc>
                <a:spcPct val="125000"/>
              </a:lnSpc>
              <a:buNone/>
            </a:pPr>
            <a:r>
              <a:rPr lang="en-US" sz="1400" b="1" dirty="0">
                <a:solidFill>
                  <a:srgbClr val="FFFFFF"/>
                </a:solidFill>
                <a:latin typeface="Calibri" pitchFamily="34" charset="0"/>
                <a:ea typeface="Calibri" pitchFamily="34" charset="-122"/>
                <a:cs typeface="Calibri" pitchFamily="34" charset="-120"/>
              </a:rPr>
              <a:t>ora 23 si ora 0</a:t>
            </a:r>
            <a:pPr indent="0" marL="0">
              <a:lnSpc>
                <a:spcPct val="125000"/>
              </a:lnSpc>
              <a:buNone/>
            </a:pPr>
            <a:r>
              <a:rPr lang="en-US" sz="1400" dirty="0">
                <a:solidFill>
                  <a:srgbClr val="E2E8F0"/>
                </a:solidFill>
                <a:latin typeface="Calibri" pitchFamily="34" charset="0"/>
                <a:ea typeface="Calibri" pitchFamily="34" charset="-122"/>
                <a:cs typeface="Calibri" pitchFamily="34" charset="-120"/>
              </a:rPr>
              <a:t>.
</a:t>
            </a:r>
            <a:pPr indent="0" marL="0">
              <a:lnSpc>
                <a:spcPct val="125000"/>
              </a:lnSpc>
              <a:buNone/>
            </a:pPr>
            <a:r>
              <a:rPr lang="en-US" sz="1400" dirty="0">
                <a:solidFill>
                  <a:srgbClr val="E2E8F0"/>
                </a:solidFill>
                <a:latin typeface="Calibri" pitchFamily="34" charset="0"/>
                <a:ea typeface="Calibri" pitchFamily="34" charset="-122"/>
                <a:cs typeface="Calibri" pitchFamily="34" charset="-120"/>
              </a:rPr>
              <a:t>Pe axa X par </a:t>
            </a:r>
            <a:pPr indent="0" marL="0">
              <a:lnSpc>
                <a:spcPct val="125000"/>
              </a:lnSpc>
              <a:buNone/>
            </a:pPr>
            <a:r>
              <a:rPr lang="en-US" sz="1400" b="1" dirty="0">
                <a:solidFill>
                  <a:srgbClr val="F472B6"/>
                </a:solidFill>
                <a:latin typeface="Calibri" pitchFamily="34" charset="0"/>
                <a:ea typeface="Calibri" pitchFamily="34" charset="-122"/>
                <a:cs typeface="Calibri" pitchFamily="34" charset="-120"/>
              </a:rPr>
              <a:t>departe (distanta 23)</a:t>
            </a:r>
            <a:pPr indent="0" marL="0">
              <a:lnSpc>
                <a:spcPct val="125000"/>
              </a:lnSpc>
              <a:buNone/>
            </a:pPr>
            <a:r>
              <a:rPr lang="en-US" sz="1400" dirty="0">
                <a:solidFill>
                  <a:srgbClr val="E2E8F0"/>
                </a:solidFill>
                <a:latin typeface="Calibri" pitchFamily="34" charset="0"/>
                <a:ea typeface="Calibri" pitchFamily="34" charset="-122"/>
                <a:cs typeface="Calibri" pitchFamily="34" charset="-120"/>
              </a:rPr>
              <a:t>, dar consumul lor este aproape identic — </a:t>
            </a:r>
            <a:pPr indent="0" marL="0">
              <a:lnSpc>
                <a:spcPct val="125000"/>
              </a:lnSpc>
              <a:buNone/>
            </a:pPr>
            <a:r>
              <a:rPr lang="en-US" sz="1400" b="1" dirty="0">
                <a:solidFill>
                  <a:srgbClr val="34D399"/>
                </a:solidFill>
                <a:latin typeface="Calibri" pitchFamily="34" charset="0"/>
                <a:ea typeface="Calibri" pitchFamily="34" charset="-122"/>
                <a:cs typeface="Calibri" pitchFamily="34" charset="-120"/>
              </a:rPr>
              <a:t>ambele sunt noaptea tarziu.</a:t>
            </a:r>
            <a:endParaRPr lang="en-US" sz="1400" dirty="0"/>
          </a:p>
        </p:txBody>
      </p:sp>
      <p:sp>
        <p:nvSpPr>
          <p:cNvPr id="13" name="Text 10"/>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14" name="Text 11"/>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12 / 28</a:t>
            </a:r>
            <a:endParaRPr lang="en-US" sz="1100" dirty="0"/>
          </a:p>
        </p:txBody>
      </p:sp>
    </p:spTree>
  </p:cSld>
  <p:transition xmlns:p="http://schemas.openxmlformats.org/presentationml/2006/main" spd="med">
    <p:fade/>
  </p:transition>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51025"/>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818CF8">
              <a:alpha val="15000"/>
            </a:srgbClr>
          </a:solidFill>
          <a:ln w="12700">
            <a:solidFill>
              <a:srgbClr val="818CF8">
                <a:alpha val="15000"/>
              </a:srgbClr>
            </a:solidFill>
            <a:prstDash val="solid"/>
          </a:ln>
        </p:spPr>
      </p:sp>
      <p:sp>
        <p:nvSpPr>
          <p:cNvPr id="3" name="Shape 1"/>
          <p:cNvSpPr/>
          <p:nvPr/>
        </p:nvSpPr>
        <p:spPr>
          <a:xfrm>
            <a:off x="10515600" y="5212080"/>
            <a:ext cx="3200400" cy="3200400"/>
          </a:xfrm>
          <a:prstGeom prst="ellipse">
            <a:avLst/>
          </a:prstGeom>
          <a:solidFill>
            <a:srgbClr val="F472B6">
              <a:alpha val="12000"/>
            </a:srgbClr>
          </a:solidFill>
          <a:ln w="12700">
            <a:solidFill>
              <a:srgbClr val="F472B6">
                <a:alpha val="12000"/>
              </a:srgbClr>
            </a:solidFill>
            <a:prstDash val="solid"/>
          </a:ln>
        </p:spPr>
      </p:sp>
      <p:sp>
        <p:nvSpPr>
          <p:cNvPr id="4" name="Shape 2"/>
          <p:cNvSpPr/>
          <p:nvPr/>
        </p:nvSpPr>
        <p:spPr>
          <a:xfrm>
            <a:off x="0" y="0"/>
            <a:ext cx="12161520" cy="164592"/>
          </a:xfrm>
          <a:prstGeom prst="rect">
            <a:avLst/>
          </a:prstGeom>
          <a:solidFill>
            <a:srgbClr val="FBBF24"/>
          </a:solidFill>
          <a:ln w="12700">
            <a:solidFill>
              <a:srgbClr val="FBBF24"/>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FBBF24"/>
                </a:solidFill>
                <a:latin typeface="Calibri" pitchFamily="34" charset="0"/>
                <a:ea typeface="Calibri" pitchFamily="34" charset="-122"/>
                <a:cs typeface="Calibri" pitchFamily="34" charset="-120"/>
              </a:rPr>
              <a:t>TEHNICA 1 / REPREZENTAREA CICLICA</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Asa ar trebui sa vada modelul timpul</a:t>
            </a:r>
            <a:endParaRPr lang="en-US" sz="3600" dirty="0"/>
          </a:p>
        </p:txBody>
      </p:sp>
      <p:sp>
        <p:nvSpPr>
          <p:cNvPr id="7" name="Shape 5"/>
          <p:cNvSpPr/>
          <p:nvPr/>
        </p:nvSpPr>
        <p:spPr>
          <a:xfrm>
            <a:off x="548640" y="1691640"/>
            <a:ext cx="1645920" cy="54864"/>
          </a:xfrm>
          <a:prstGeom prst="rect">
            <a:avLst/>
          </a:prstGeom>
          <a:solidFill>
            <a:srgbClr val="F472B6"/>
          </a:solidFill>
          <a:ln w="12700">
            <a:solidFill>
              <a:srgbClr val="F472B6"/>
            </a:solidFill>
            <a:prstDash val="solid"/>
          </a:ln>
        </p:spPr>
      </p:sp>
      <p:pic>
        <p:nvPicPr>
          <p:cNvPr id="8" name="Image 0" descr="/sessions/vibrant-elegant-pasteur/mnt/Disertatie_AI_Platform/reports/figures/fig_fe_cerc_only.png">    </p:cNvPr>
          <p:cNvPicPr>
            <a:picLocks noChangeAspect="1"/>
          </p:cNvPicPr>
          <p:nvPr/>
        </p:nvPicPr>
        <p:blipFill>
          <a:blip r:embed="rId1"/>
          <a:srcRect l="0" r="0" t="0" b="0"/>
          <a:stretch/>
        </p:blipFill>
        <p:spPr>
          <a:xfrm>
            <a:off x="365760" y="1783080"/>
            <a:ext cx="7315200" cy="4389120"/>
          </a:xfrm>
          <a:prstGeom prst="rect">
            <a:avLst/>
          </a:prstGeom>
        </p:spPr>
      </p:pic>
      <p:sp>
        <p:nvSpPr>
          <p:cNvPr id="9" name="Shape 6"/>
          <p:cNvSpPr/>
          <p:nvPr/>
        </p:nvSpPr>
        <p:spPr>
          <a:xfrm>
            <a:off x="7955280" y="1783080"/>
            <a:ext cx="3749040" cy="4389120"/>
          </a:xfrm>
          <a:prstGeom prst="rect">
            <a:avLst/>
          </a:prstGeom>
          <a:solidFill>
            <a:srgbClr val="1E1A3A"/>
          </a:solidFill>
          <a:ln w="12700">
            <a:solidFill>
              <a:srgbClr val="1E1A3A"/>
            </a:solidFill>
            <a:prstDash val="solid"/>
          </a:ln>
        </p:spPr>
      </p:sp>
      <p:sp>
        <p:nvSpPr>
          <p:cNvPr id="10" name="Shape 7"/>
          <p:cNvSpPr/>
          <p:nvPr/>
        </p:nvSpPr>
        <p:spPr>
          <a:xfrm>
            <a:off x="7955280" y="1783080"/>
            <a:ext cx="137160" cy="4389120"/>
          </a:xfrm>
          <a:prstGeom prst="rect">
            <a:avLst/>
          </a:prstGeom>
          <a:solidFill>
            <a:srgbClr val="34D399"/>
          </a:solidFill>
          <a:ln w="12700">
            <a:solidFill>
              <a:srgbClr val="34D399"/>
            </a:solidFill>
            <a:prstDash val="solid"/>
          </a:ln>
        </p:spPr>
      </p:sp>
      <p:sp>
        <p:nvSpPr>
          <p:cNvPr id="11" name="Text 8"/>
          <p:cNvSpPr/>
          <p:nvPr/>
        </p:nvSpPr>
        <p:spPr>
          <a:xfrm>
            <a:off x="8183880" y="1874520"/>
            <a:ext cx="3520440" cy="457200"/>
          </a:xfrm>
          <a:prstGeom prst="rect">
            <a:avLst/>
          </a:prstGeom>
          <a:noFill/>
          <a:ln/>
        </p:spPr>
        <p:txBody>
          <a:bodyPr wrap="square" rtlCol="0" anchor="ctr"/>
          <a:lstStyle/>
          <a:p>
            <a:pPr indent="0" marL="0">
              <a:buNone/>
            </a:pPr>
            <a:r>
              <a:rPr lang="en-US" sz="1900" b="1" dirty="0">
                <a:solidFill>
                  <a:srgbClr val="34D399"/>
                </a:solidFill>
                <a:latin typeface="Cambria" pitchFamily="34" charset="0"/>
                <a:ea typeface="Cambria" pitchFamily="34" charset="-122"/>
                <a:cs typeface="Cambria" pitchFamily="34" charset="-120"/>
              </a:rPr>
              <a:t>Ce s-a schimbat?</a:t>
            </a:r>
            <a:endParaRPr lang="en-US" sz="1900" dirty="0"/>
          </a:p>
        </p:txBody>
      </p:sp>
      <p:sp>
        <p:nvSpPr>
          <p:cNvPr id="12" name="Text 9"/>
          <p:cNvSpPr/>
          <p:nvPr/>
        </p:nvSpPr>
        <p:spPr>
          <a:xfrm>
            <a:off x="8229600" y="2468880"/>
            <a:ext cx="3429000" cy="3657600"/>
          </a:xfrm>
          <a:prstGeom prst="rect">
            <a:avLst/>
          </a:prstGeom>
          <a:noFill/>
          <a:ln/>
        </p:spPr>
        <p:txBody>
          <a:bodyPr wrap="square" rtlCol="0" anchor="t"/>
          <a:lstStyle/>
          <a:p>
            <a:pPr indent="0" marL="0">
              <a:lnSpc>
                <a:spcPct val="125000"/>
              </a:lnSpc>
              <a:buNone/>
            </a:pPr>
            <a:r>
              <a:rPr lang="en-US" sz="1400" dirty="0">
                <a:solidFill>
                  <a:srgbClr val="E2E8F0"/>
                </a:solidFill>
                <a:latin typeface="Calibri" pitchFamily="34" charset="0"/>
                <a:ea typeface="Calibri" pitchFamily="34" charset="-122"/>
                <a:cs typeface="Calibri" pitchFamily="34" charset="-120"/>
              </a:rPr>
              <a:t>Aceleasi 24 de ore, dar acum </a:t>
            </a:r>
            <a:pPr indent="0" marL="0">
              <a:lnSpc>
                <a:spcPct val="125000"/>
              </a:lnSpc>
              <a:buNone/>
            </a:pPr>
            <a:r>
              <a:rPr lang="en-US" sz="1400" b="1" dirty="0">
                <a:solidFill>
                  <a:srgbClr val="FFFFFF"/>
                </a:solidFill>
                <a:latin typeface="Calibri" pitchFamily="34" charset="0"/>
                <a:ea typeface="Calibri" pitchFamily="34" charset="-122"/>
                <a:cs typeface="Calibri" pitchFamily="34" charset="-120"/>
              </a:rPr>
              <a:t>asezate pe cerc.
</a:t>
            </a:r>
            <a:pPr indent="0" marL="0">
              <a:lnSpc>
                <a:spcPct val="125000"/>
              </a:lnSpc>
              <a:buNone/>
            </a:pPr>
            <a:r>
              <a:rPr lang="en-US" sz="1400" dirty="0">
                <a:solidFill>
                  <a:srgbClr val="E2E8F0"/>
                </a:solidFill>
                <a:latin typeface="Calibri" pitchFamily="34" charset="0"/>
                <a:ea typeface="Calibri" pitchFamily="34" charset="-122"/>
                <a:cs typeface="Calibri" pitchFamily="34" charset="-120"/>
              </a:rPr>
              <a:t>Culoarea fiecarui punct: nivelul consumului (verde mic, rosu mare).
</a:t>
            </a:r>
            <a:pPr indent="0" marL="0">
              <a:lnSpc>
                <a:spcPct val="125000"/>
              </a:lnSpc>
              <a:buNone/>
            </a:pPr>
            <a:r>
              <a:rPr lang="en-US" sz="1400" dirty="0">
                <a:solidFill>
                  <a:srgbClr val="E2E8F0"/>
                </a:solidFill>
                <a:latin typeface="Calibri" pitchFamily="34" charset="0"/>
                <a:ea typeface="Calibri" pitchFamily="34" charset="-122"/>
                <a:cs typeface="Calibri" pitchFamily="34" charset="-120"/>
              </a:rPr>
              <a:t>Cercurile verzi: </a:t>
            </a:r>
            <a:pPr indent="0" marL="0">
              <a:lnSpc>
                <a:spcPct val="125000"/>
              </a:lnSpc>
              <a:buNone/>
            </a:pPr>
            <a:r>
              <a:rPr lang="en-US" sz="1400" b="1" dirty="0">
                <a:solidFill>
                  <a:srgbClr val="FFFFFF"/>
                </a:solidFill>
                <a:latin typeface="Calibri" pitchFamily="34" charset="0"/>
                <a:ea typeface="Calibri" pitchFamily="34" charset="-122"/>
                <a:cs typeface="Calibri" pitchFamily="34" charset="-120"/>
              </a:rPr>
              <a:t>ora 23 si ora 0</a:t>
            </a:r>
            <a:pPr indent="0" marL="0">
              <a:lnSpc>
                <a:spcPct val="125000"/>
              </a:lnSpc>
              <a:buNone/>
            </a:pPr>
            <a:r>
              <a:rPr lang="en-US" sz="1400" dirty="0">
                <a:solidFill>
                  <a:srgbClr val="E2E8F0"/>
                </a:solidFill>
                <a:latin typeface="Calibri" pitchFamily="34" charset="0"/>
                <a:ea typeface="Calibri" pitchFamily="34" charset="-122"/>
                <a:cs typeface="Calibri" pitchFamily="34" charset="-120"/>
              </a:rPr>
              <a:t>.
</a:t>
            </a:r>
            <a:pPr indent="0" marL="0">
              <a:lnSpc>
                <a:spcPct val="125000"/>
              </a:lnSpc>
              <a:buNone/>
            </a:pPr>
            <a:r>
              <a:rPr lang="en-US" sz="1400" dirty="0">
                <a:solidFill>
                  <a:srgbClr val="E2E8F0"/>
                </a:solidFill>
                <a:latin typeface="Calibri" pitchFamily="34" charset="0"/>
                <a:ea typeface="Calibri" pitchFamily="34" charset="-122"/>
                <a:cs typeface="Calibri" pitchFamily="34" charset="-120"/>
              </a:rPr>
              <a:t>Acum sunt </a:t>
            </a:r>
            <a:pPr indent="0" marL="0">
              <a:lnSpc>
                <a:spcPct val="125000"/>
              </a:lnSpc>
              <a:buNone/>
            </a:pPr>
            <a:r>
              <a:rPr lang="en-US" sz="1400" b="1" dirty="0">
                <a:solidFill>
                  <a:srgbClr val="34D399"/>
                </a:solidFill>
                <a:latin typeface="Calibri" pitchFamily="34" charset="0"/>
                <a:ea typeface="Calibri" pitchFamily="34" charset="-122"/>
                <a:cs typeface="Calibri" pitchFamily="34" charset="-120"/>
              </a:rPr>
              <a:t>fizic vecine</a:t>
            </a:r>
            <a:pPr indent="0" marL="0">
              <a:lnSpc>
                <a:spcPct val="125000"/>
              </a:lnSpc>
              <a:buNone/>
            </a:pPr>
            <a:r>
              <a:rPr lang="en-US" sz="1400" dirty="0">
                <a:solidFill>
                  <a:srgbClr val="E2E8F0"/>
                </a:solidFill>
                <a:latin typeface="Calibri" pitchFamily="34" charset="0"/>
                <a:ea typeface="Calibri" pitchFamily="34" charset="-122"/>
                <a:cs typeface="Calibri" pitchFamily="34" charset="-120"/>
              </a:rPr>
              <a:t> — la o distanta de doar 0.27 unitati.</a:t>
            </a:r>
            <a:endParaRPr lang="en-US" sz="1400" dirty="0"/>
          </a:p>
        </p:txBody>
      </p:sp>
      <p:sp>
        <p:nvSpPr>
          <p:cNvPr id="13" name="Text 10"/>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14" name="Text 11"/>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13 / 28</a:t>
            </a:r>
            <a:endParaRPr lang="en-US" sz="1100" dirty="0"/>
          </a:p>
        </p:txBody>
      </p:sp>
    </p:spTree>
  </p:cSld>
  <p:transition xmlns:p="http://schemas.openxmlformats.org/presentationml/2006/main" spd="med">
    <p:fade/>
  </p:transition>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51025"/>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818CF8">
              <a:alpha val="15000"/>
            </a:srgbClr>
          </a:solidFill>
          <a:ln w="12700">
            <a:solidFill>
              <a:srgbClr val="818CF8">
                <a:alpha val="15000"/>
              </a:srgbClr>
            </a:solidFill>
            <a:prstDash val="solid"/>
          </a:ln>
        </p:spPr>
      </p:sp>
      <p:sp>
        <p:nvSpPr>
          <p:cNvPr id="3" name="Shape 1"/>
          <p:cNvSpPr/>
          <p:nvPr/>
        </p:nvSpPr>
        <p:spPr>
          <a:xfrm>
            <a:off x="10515600" y="5212080"/>
            <a:ext cx="3200400" cy="3200400"/>
          </a:xfrm>
          <a:prstGeom prst="ellipse">
            <a:avLst/>
          </a:prstGeom>
          <a:solidFill>
            <a:srgbClr val="F472B6">
              <a:alpha val="12000"/>
            </a:srgbClr>
          </a:solidFill>
          <a:ln w="12700">
            <a:solidFill>
              <a:srgbClr val="F472B6">
                <a:alpha val="12000"/>
              </a:srgbClr>
            </a:solidFill>
            <a:prstDash val="solid"/>
          </a:ln>
        </p:spPr>
      </p:sp>
      <p:sp>
        <p:nvSpPr>
          <p:cNvPr id="4" name="Shape 2"/>
          <p:cNvSpPr/>
          <p:nvPr/>
        </p:nvSpPr>
        <p:spPr>
          <a:xfrm>
            <a:off x="0" y="0"/>
            <a:ext cx="12161520" cy="164592"/>
          </a:xfrm>
          <a:prstGeom prst="rect">
            <a:avLst/>
          </a:prstGeom>
          <a:solidFill>
            <a:srgbClr val="FBBF24"/>
          </a:solidFill>
          <a:ln w="12700">
            <a:solidFill>
              <a:srgbClr val="FBBF24"/>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FBBF24"/>
                </a:solidFill>
                <a:latin typeface="Calibri" pitchFamily="34" charset="0"/>
                <a:ea typeface="Calibri" pitchFamily="34" charset="-122"/>
                <a:cs typeface="Calibri" pitchFamily="34" charset="-120"/>
              </a:rPr>
              <a:t>TEHNICA 1 / FUNCTIILE POTRIVITE</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Inspiratia matematica: sin si cos</a:t>
            </a:r>
            <a:endParaRPr lang="en-US" sz="3600" dirty="0"/>
          </a:p>
        </p:txBody>
      </p:sp>
      <p:sp>
        <p:nvSpPr>
          <p:cNvPr id="7" name="Shape 5"/>
          <p:cNvSpPr/>
          <p:nvPr/>
        </p:nvSpPr>
        <p:spPr>
          <a:xfrm>
            <a:off x="548640" y="1691640"/>
            <a:ext cx="1645920" cy="54864"/>
          </a:xfrm>
          <a:prstGeom prst="rect">
            <a:avLst/>
          </a:prstGeom>
          <a:solidFill>
            <a:srgbClr val="F472B6"/>
          </a:solidFill>
          <a:ln w="12700">
            <a:solidFill>
              <a:srgbClr val="F472B6"/>
            </a:solidFill>
            <a:prstDash val="solid"/>
          </a:ln>
        </p:spPr>
      </p:sp>
      <p:sp>
        <p:nvSpPr>
          <p:cNvPr id="8" name="Text 6"/>
          <p:cNvSpPr/>
          <p:nvPr/>
        </p:nvSpPr>
        <p:spPr>
          <a:xfrm>
            <a:off x="548640" y="1828800"/>
            <a:ext cx="11064240" cy="457200"/>
          </a:xfrm>
          <a:prstGeom prst="rect">
            <a:avLst/>
          </a:prstGeom>
          <a:noFill/>
          <a:ln/>
        </p:spPr>
        <p:txBody>
          <a:bodyPr wrap="square" rtlCol="0" anchor="ctr"/>
          <a:lstStyle/>
          <a:p>
            <a:pPr indent="0" marL="0">
              <a:buNone/>
            </a:pPr>
            <a:r>
              <a:rPr lang="en-US" sz="1900" i="1" dirty="0">
                <a:solidFill>
                  <a:srgbClr val="E2E8F0"/>
                </a:solidFill>
                <a:latin typeface="Calibri" pitchFamily="34" charset="0"/>
                <a:ea typeface="Calibri" pitchFamily="34" charset="-122"/>
                <a:cs typeface="Calibri" pitchFamily="34" charset="-120"/>
              </a:rPr>
              <a:t>Functiile trigonometrice sin si cos au exact proprietatile de care avem nevoie:</a:t>
            </a:r>
            <a:endParaRPr lang="en-US" sz="1900" dirty="0"/>
          </a:p>
        </p:txBody>
      </p:sp>
      <p:pic>
        <p:nvPicPr>
          <p:cNvPr id="9" name="Image 0" descr="/sessions/vibrant-elegant-pasteur/mnt/Disertatie_AI_Platform/reports/figures/fig_fe_sin_cos_basics.png">    </p:cNvPr>
          <p:cNvPicPr>
            <a:picLocks noChangeAspect="1"/>
          </p:cNvPicPr>
          <p:nvPr/>
        </p:nvPicPr>
        <p:blipFill>
          <a:blip r:embed="rId1"/>
          <a:srcRect l="0" r="0" t="0" b="0"/>
          <a:stretch/>
        </p:blipFill>
        <p:spPr>
          <a:xfrm>
            <a:off x="457200" y="2331720"/>
            <a:ext cx="11247120" cy="2743200"/>
          </a:xfrm>
          <a:prstGeom prst="rect">
            <a:avLst/>
          </a:prstGeom>
        </p:spPr>
      </p:pic>
      <p:sp>
        <p:nvSpPr>
          <p:cNvPr id="10" name="Shape 7"/>
          <p:cNvSpPr/>
          <p:nvPr/>
        </p:nvSpPr>
        <p:spPr>
          <a:xfrm>
            <a:off x="548640" y="5257800"/>
            <a:ext cx="3611880" cy="1051560"/>
          </a:xfrm>
          <a:prstGeom prst="rect">
            <a:avLst/>
          </a:prstGeom>
          <a:solidFill>
            <a:srgbClr val="1E1A3A"/>
          </a:solidFill>
          <a:ln w="12700">
            <a:solidFill>
              <a:srgbClr val="1E1A3A"/>
            </a:solidFill>
            <a:prstDash val="solid"/>
          </a:ln>
        </p:spPr>
      </p:sp>
      <p:sp>
        <p:nvSpPr>
          <p:cNvPr id="11" name="Shape 8"/>
          <p:cNvSpPr/>
          <p:nvPr/>
        </p:nvSpPr>
        <p:spPr>
          <a:xfrm>
            <a:off x="548640" y="5257800"/>
            <a:ext cx="137160" cy="1051560"/>
          </a:xfrm>
          <a:prstGeom prst="rect">
            <a:avLst/>
          </a:prstGeom>
          <a:solidFill>
            <a:srgbClr val="818CF8"/>
          </a:solidFill>
          <a:ln w="12700">
            <a:solidFill>
              <a:srgbClr val="818CF8"/>
            </a:solidFill>
            <a:prstDash val="solid"/>
          </a:ln>
        </p:spPr>
      </p:sp>
      <p:sp>
        <p:nvSpPr>
          <p:cNvPr id="12" name="Text 9"/>
          <p:cNvSpPr/>
          <p:nvPr/>
        </p:nvSpPr>
        <p:spPr>
          <a:xfrm>
            <a:off x="777240" y="5330952"/>
            <a:ext cx="3383280" cy="914400"/>
          </a:xfrm>
          <a:prstGeom prst="rect">
            <a:avLst/>
          </a:prstGeom>
          <a:noFill/>
          <a:ln/>
        </p:spPr>
        <p:txBody>
          <a:bodyPr wrap="square" rtlCol="0" anchor="t"/>
          <a:lstStyle/>
          <a:p>
            <a:pPr indent="0" marL="0">
              <a:lnSpc>
                <a:spcPct val="115000"/>
              </a:lnSpc>
              <a:buNone/>
            </a:pPr>
            <a:r>
              <a:rPr lang="en-US" sz="1700" b="1" dirty="0">
                <a:solidFill>
                  <a:srgbClr val="818CF8"/>
                </a:solidFill>
                <a:latin typeface="Calibri" pitchFamily="34" charset="0"/>
                <a:ea typeface="Calibri" pitchFamily="34" charset="-122"/>
                <a:cs typeface="Calibri" pitchFamily="34" charset="-120"/>
              </a:rPr>
              <a:t>Periodice
</a:t>
            </a:r>
            <a:pPr indent="0" marL="0">
              <a:lnSpc>
                <a:spcPct val="115000"/>
              </a:lnSpc>
              <a:buNone/>
            </a:pPr>
            <a:r>
              <a:rPr lang="en-US" sz="1400" dirty="0">
                <a:solidFill>
                  <a:srgbClr val="E2E8F0"/>
                </a:solidFill>
                <a:latin typeface="Calibri" pitchFamily="34" charset="0"/>
                <a:ea typeface="Calibri" pitchFamily="34" charset="-122"/>
                <a:cs typeface="Calibri" pitchFamily="34" charset="-120"/>
              </a:rPr>
              <a:t>Dupa 2π se repeta — ideal pentru cicluri temporale.</a:t>
            </a:r>
            <a:endParaRPr lang="en-US" sz="1700" dirty="0"/>
          </a:p>
        </p:txBody>
      </p:sp>
      <p:sp>
        <p:nvSpPr>
          <p:cNvPr id="13" name="Shape 10"/>
          <p:cNvSpPr/>
          <p:nvPr/>
        </p:nvSpPr>
        <p:spPr>
          <a:xfrm>
            <a:off x="4251960" y="5257800"/>
            <a:ext cx="3611880" cy="1051560"/>
          </a:xfrm>
          <a:prstGeom prst="rect">
            <a:avLst/>
          </a:prstGeom>
          <a:solidFill>
            <a:srgbClr val="1E1A3A"/>
          </a:solidFill>
          <a:ln w="12700">
            <a:solidFill>
              <a:srgbClr val="1E1A3A"/>
            </a:solidFill>
            <a:prstDash val="solid"/>
          </a:ln>
        </p:spPr>
      </p:sp>
      <p:sp>
        <p:nvSpPr>
          <p:cNvPr id="14" name="Shape 11"/>
          <p:cNvSpPr/>
          <p:nvPr/>
        </p:nvSpPr>
        <p:spPr>
          <a:xfrm>
            <a:off x="4251960" y="5257800"/>
            <a:ext cx="137160" cy="1051560"/>
          </a:xfrm>
          <a:prstGeom prst="rect">
            <a:avLst/>
          </a:prstGeom>
          <a:solidFill>
            <a:srgbClr val="F472B6"/>
          </a:solidFill>
          <a:ln w="12700">
            <a:solidFill>
              <a:srgbClr val="F472B6"/>
            </a:solidFill>
            <a:prstDash val="solid"/>
          </a:ln>
        </p:spPr>
      </p:sp>
      <p:sp>
        <p:nvSpPr>
          <p:cNvPr id="15" name="Text 12"/>
          <p:cNvSpPr/>
          <p:nvPr/>
        </p:nvSpPr>
        <p:spPr>
          <a:xfrm>
            <a:off x="4480560" y="5330952"/>
            <a:ext cx="3383280" cy="914400"/>
          </a:xfrm>
          <a:prstGeom prst="rect">
            <a:avLst/>
          </a:prstGeom>
          <a:noFill/>
          <a:ln/>
        </p:spPr>
        <p:txBody>
          <a:bodyPr wrap="square" rtlCol="0" anchor="t"/>
          <a:lstStyle/>
          <a:p>
            <a:pPr indent="0" marL="0">
              <a:lnSpc>
                <a:spcPct val="115000"/>
              </a:lnSpc>
              <a:buNone/>
            </a:pPr>
            <a:r>
              <a:rPr lang="en-US" sz="1700" b="1" dirty="0">
                <a:solidFill>
                  <a:srgbClr val="F472B6"/>
                </a:solidFill>
                <a:latin typeface="Calibri" pitchFamily="34" charset="0"/>
                <a:ea typeface="Calibri" pitchFamily="34" charset="-122"/>
                <a:cs typeface="Calibri" pitchFamily="34" charset="-120"/>
              </a:rPr>
              <a:t>Continue
</a:t>
            </a:r>
            <a:pPr indent="0" marL="0">
              <a:lnSpc>
                <a:spcPct val="115000"/>
              </a:lnSpc>
              <a:buNone/>
            </a:pPr>
            <a:r>
              <a:rPr lang="en-US" sz="1400" dirty="0">
                <a:solidFill>
                  <a:srgbClr val="E2E8F0"/>
                </a:solidFill>
                <a:latin typeface="Calibri" pitchFamily="34" charset="0"/>
                <a:ea typeface="Calibri" pitchFamily="34" charset="-122"/>
                <a:cs typeface="Calibri" pitchFamily="34" charset="-120"/>
              </a:rPr>
              <a:t>Trec lin de la o valoare la alta, fara salturi.</a:t>
            </a:r>
            <a:endParaRPr lang="en-US" sz="1700" dirty="0"/>
          </a:p>
        </p:txBody>
      </p:sp>
      <p:sp>
        <p:nvSpPr>
          <p:cNvPr id="16" name="Shape 13"/>
          <p:cNvSpPr/>
          <p:nvPr/>
        </p:nvSpPr>
        <p:spPr>
          <a:xfrm>
            <a:off x="7955280" y="5257800"/>
            <a:ext cx="3611880" cy="1051560"/>
          </a:xfrm>
          <a:prstGeom prst="rect">
            <a:avLst/>
          </a:prstGeom>
          <a:solidFill>
            <a:srgbClr val="1E1A3A"/>
          </a:solidFill>
          <a:ln w="12700">
            <a:solidFill>
              <a:srgbClr val="1E1A3A"/>
            </a:solidFill>
            <a:prstDash val="solid"/>
          </a:ln>
        </p:spPr>
      </p:sp>
      <p:sp>
        <p:nvSpPr>
          <p:cNvPr id="17" name="Shape 14"/>
          <p:cNvSpPr/>
          <p:nvPr/>
        </p:nvSpPr>
        <p:spPr>
          <a:xfrm>
            <a:off x="7955280" y="5257800"/>
            <a:ext cx="137160" cy="1051560"/>
          </a:xfrm>
          <a:prstGeom prst="rect">
            <a:avLst/>
          </a:prstGeom>
          <a:solidFill>
            <a:srgbClr val="FBBF24"/>
          </a:solidFill>
          <a:ln w="12700">
            <a:solidFill>
              <a:srgbClr val="FBBF24"/>
            </a:solidFill>
            <a:prstDash val="solid"/>
          </a:ln>
        </p:spPr>
      </p:sp>
      <p:sp>
        <p:nvSpPr>
          <p:cNvPr id="18" name="Text 15"/>
          <p:cNvSpPr/>
          <p:nvPr/>
        </p:nvSpPr>
        <p:spPr>
          <a:xfrm>
            <a:off x="8183880" y="5330952"/>
            <a:ext cx="3383280" cy="914400"/>
          </a:xfrm>
          <a:prstGeom prst="rect">
            <a:avLst/>
          </a:prstGeom>
          <a:noFill/>
          <a:ln/>
        </p:spPr>
        <p:txBody>
          <a:bodyPr wrap="square" rtlCol="0" anchor="t"/>
          <a:lstStyle/>
          <a:p>
            <a:pPr indent="0" marL="0">
              <a:lnSpc>
                <a:spcPct val="115000"/>
              </a:lnSpc>
              <a:buNone/>
            </a:pPr>
            <a:r>
              <a:rPr lang="en-US" sz="1700" b="1" dirty="0">
                <a:solidFill>
                  <a:srgbClr val="FBBF24"/>
                </a:solidFill>
                <a:latin typeface="Calibri" pitchFamily="34" charset="0"/>
                <a:ea typeface="Calibri" pitchFamily="34" charset="-122"/>
                <a:cs typeface="Calibri" pitchFamily="34" charset="-120"/>
              </a:rPr>
              <a:t>Identifica UNIC
</a:t>
            </a:r>
            <a:pPr indent="0" marL="0">
              <a:lnSpc>
                <a:spcPct val="115000"/>
              </a:lnSpc>
              <a:buNone/>
            </a:pPr>
            <a:r>
              <a:rPr lang="en-US" sz="1400" dirty="0">
                <a:solidFill>
                  <a:srgbClr val="E2E8F0"/>
                </a:solidFill>
                <a:latin typeface="Calibri" pitchFamily="34" charset="0"/>
                <a:ea typeface="Calibri" pitchFamily="34" charset="-122"/>
                <a:cs typeface="Calibri" pitchFamily="34" charset="-120"/>
              </a:rPr>
              <a:t>Doua valori (sin, cos) impreuna localizeaza un punct.</a:t>
            </a:r>
            <a:endParaRPr lang="en-US" sz="1700" dirty="0"/>
          </a:p>
        </p:txBody>
      </p:sp>
      <p:sp>
        <p:nvSpPr>
          <p:cNvPr id="19" name="Text 16"/>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20" name="Text 17"/>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14 / 28</a:t>
            </a:r>
            <a:endParaRPr lang="en-US" sz="1100" dirty="0"/>
          </a:p>
        </p:txBody>
      </p:sp>
    </p:spTree>
  </p:cSld>
  <p:transition xmlns:p="http://schemas.openxmlformats.org/presentationml/2006/main" spd="med">
    <p:fade/>
  </p:transition>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51025"/>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818CF8">
              <a:alpha val="15000"/>
            </a:srgbClr>
          </a:solidFill>
          <a:ln w="12700">
            <a:solidFill>
              <a:srgbClr val="818CF8">
                <a:alpha val="15000"/>
              </a:srgbClr>
            </a:solidFill>
            <a:prstDash val="solid"/>
          </a:ln>
        </p:spPr>
      </p:sp>
      <p:sp>
        <p:nvSpPr>
          <p:cNvPr id="3" name="Shape 1"/>
          <p:cNvSpPr/>
          <p:nvPr/>
        </p:nvSpPr>
        <p:spPr>
          <a:xfrm>
            <a:off x="10515600" y="5212080"/>
            <a:ext cx="3200400" cy="3200400"/>
          </a:xfrm>
          <a:prstGeom prst="ellipse">
            <a:avLst/>
          </a:prstGeom>
          <a:solidFill>
            <a:srgbClr val="F472B6">
              <a:alpha val="12000"/>
            </a:srgbClr>
          </a:solidFill>
          <a:ln w="12700">
            <a:solidFill>
              <a:srgbClr val="F472B6">
                <a:alpha val="12000"/>
              </a:srgbClr>
            </a:solidFill>
            <a:prstDash val="solid"/>
          </a:ln>
        </p:spPr>
      </p:sp>
      <p:sp>
        <p:nvSpPr>
          <p:cNvPr id="4" name="Shape 2"/>
          <p:cNvSpPr/>
          <p:nvPr/>
        </p:nvSpPr>
        <p:spPr>
          <a:xfrm>
            <a:off x="0" y="0"/>
            <a:ext cx="12161520" cy="164592"/>
          </a:xfrm>
          <a:prstGeom prst="rect">
            <a:avLst/>
          </a:prstGeom>
          <a:solidFill>
            <a:srgbClr val="FBBF24"/>
          </a:solidFill>
          <a:ln w="12700">
            <a:solidFill>
              <a:srgbClr val="FBBF24"/>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FBBF24"/>
                </a:solidFill>
                <a:latin typeface="Calibri" pitchFamily="34" charset="0"/>
                <a:ea typeface="Calibri" pitchFamily="34" charset="-122"/>
                <a:cs typeface="Calibri" pitchFamily="34" charset="-120"/>
              </a:rPr>
              <a:t>TEHNICA 1 / APLICAREA</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Solutia: cercul orelor</a:t>
            </a:r>
            <a:endParaRPr lang="en-US" sz="3600" dirty="0"/>
          </a:p>
        </p:txBody>
      </p:sp>
      <p:sp>
        <p:nvSpPr>
          <p:cNvPr id="7" name="Shape 5"/>
          <p:cNvSpPr/>
          <p:nvPr/>
        </p:nvSpPr>
        <p:spPr>
          <a:xfrm>
            <a:off x="548640" y="1691640"/>
            <a:ext cx="1645920" cy="54864"/>
          </a:xfrm>
          <a:prstGeom prst="rect">
            <a:avLst/>
          </a:prstGeom>
          <a:solidFill>
            <a:srgbClr val="F472B6"/>
          </a:solidFill>
          <a:ln w="12700">
            <a:solidFill>
              <a:srgbClr val="F472B6"/>
            </a:solidFill>
            <a:prstDash val="solid"/>
          </a:ln>
        </p:spPr>
      </p:sp>
      <p:sp>
        <p:nvSpPr>
          <p:cNvPr id="8" name="Shape 6"/>
          <p:cNvSpPr/>
          <p:nvPr/>
        </p:nvSpPr>
        <p:spPr>
          <a:xfrm>
            <a:off x="548640" y="1828800"/>
            <a:ext cx="5669280" cy="4389120"/>
          </a:xfrm>
          <a:prstGeom prst="rect">
            <a:avLst/>
          </a:prstGeom>
          <a:solidFill>
            <a:srgbClr val="1E1A3A"/>
          </a:solidFill>
          <a:ln w="12700">
            <a:solidFill>
              <a:srgbClr val="1E1A3A"/>
            </a:solidFill>
            <a:prstDash val="solid"/>
          </a:ln>
        </p:spPr>
      </p:sp>
      <p:sp>
        <p:nvSpPr>
          <p:cNvPr id="9" name="Shape 7"/>
          <p:cNvSpPr/>
          <p:nvPr/>
        </p:nvSpPr>
        <p:spPr>
          <a:xfrm>
            <a:off x="548640" y="1828800"/>
            <a:ext cx="137160" cy="4389120"/>
          </a:xfrm>
          <a:prstGeom prst="rect">
            <a:avLst/>
          </a:prstGeom>
          <a:solidFill>
            <a:srgbClr val="34D399"/>
          </a:solidFill>
          <a:ln w="12700">
            <a:solidFill>
              <a:srgbClr val="34D399"/>
            </a:solidFill>
            <a:prstDash val="solid"/>
          </a:ln>
        </p:spPr>
      </p:sp>
      <p:sp>
        <p:nvSpPr>
          <p:cNvPr id="10" name="Text 8"/>
          <p:cNvSpPr/>
          <p:nvPr/>
        </p:nvSpPr>
        <p:spPr>
          <a:xfrm>
            <a:off x="777240" y="1920240"/>
            <a:ext cx="5440680" cy="457200"/>
          </a:xfrm>
          <a:prstGeom prst="rect">
            <a:avLst/>
          </a:prstGeom>
          <a:noFill/>
          <a:ln/>
        </p:spPr>
        <p:txBody>
          <a:bodyPr wrap="square" rtlCol="0" anchor="ctr"/>
          <a:lstStyle/>
          <a:p>
            <a:pPr indent="0" marL="0">
              <a:buNone/>
            </a:pPr>
            <a:r>
              <a:rPr lang="en-US" sz="2100" b="1" dirty="0">
                <a:solidFill>
                  <a:srgbClr val="34D399"/>
                </a:solidFill>
                <a:latin typeface="Cambria" pitchFamily="34" charset="0"/>
                <a:ea typeface="Cambria" pitchFamily="34" charset="-122"/>
                <a:cs typeface="Cambria" pitchFamily="34" charset="-120"/>
              </a:rPr>
              <a:t>Formula matematica</a:t>
            </a:r>
            <a:endParaRPr lang="en-US" sz="2100" dirty="0"/>
          </a:p>
        </p:txBody>
      </p:sp>
      <p:sp>
        <p:nvSpPr>
          <p:cNvPr id="11" name="Shape 9"/>
          <p:cNvSpPr/>
          <p:nvPr/>
        </p:nvSpPr>
        <p:spPr>
          <a:xfrm>
            <a:off x="777240" y="2468880"/>
            <a:ext cx="5440680" cy="1188720"/>
          </a:xfrm>
          <a:prstGeom prst="rect">
            <a:avLst/>
          </a:prstGeom>
          <a:solidFill>
            <a:srgbClr val="151025"/>
          </a:solidFill>
          <a:ln w="12700">
            <a:solidFill>
              <a:srgbClr val="151025"/>
            </a:solidFill>
            <a:prstDash val="solid"/>
          </a:ln>
        </p:spPr>
      </p:sp>
      <p:sp>
        <p:nvSpPr>
          <p:cNvPr id="12" name="Text 10"/>
          <p:cNvSpPr/>
          <p:nvPr/>
        </p:nvSpPr>
        <p:spPr>
          <a:xfrm>
            <a:off x="868680" y="2606040"/>
            <a:ext cx="5257800" cy="91440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hour_sin = sin(2π · h / 24)
</a:t>
            </a:r>
            <a:pPr algn="ctr" indent="0" marL="0">
              <a:buNone/>
            </a:pPr>
            <a:r>
              <a:rPr lang="en-US" sz="2200" b="1" dirty="0">
                <a:solidFill>
                  <a:srgbClr val="FFFFFF"/>
                </a:solidFill>
                <a:latin typeface="Cambria" pitchFamily="34" charset="0"/>
                <a:ea typeface="Cambria" pitchFamily="34" charset="-122"/>
                <a:cs typeface="Cambria" pitchFamily="34" charset="-120"/>
              </a:rPr>
              <a:t>hour_cos = cos(2π · h / 24)</a:t>
            </a:r>
            <a:endParaRPr lang="en-US" sz="2200" dirty="0"/>
          </a:p>
        </p:txBody>
      </p:sp>
      <p:sp>
        <p:nvSpPr>
          <p:cNvPr id="13" name="Text 11"/>
          <p:cNvSpPr/>
          <p:nvPr/>
        </p:nvSpPr>
        <p:spPr>
          <a:xfrm>
            <a:off x="777240" y="3794760"/>
            <a:ext cx="5440680" cy="365760"/>
          </a:xfrm>
          <a:prstGeom prst="rect">
            <a:avLst/>
          </a:prstGeom>
          <a:noFill/>
          <a:ln/>
        </p:spPr>
        <p:txBody>
          <a:bodyPr wrap="square" rtlCol="0" anchor="ctr"/>
          <a:lstStyle/>
          <a:p>
            <a:pPr indent="0" marL="0">
              <a:buNone/>
            </a:pPr>
            <a:r>
              <a:rPr lang="en-US" sz="1800" b="1" dirty="0">
                <a:solidFill>
                  <a:srgbClr val="34D399"/>
                </a:solidFill>
                <a:latin typeface="Calibri" pitchFamily="34" charset="0"/>
                <a:ea typeface="Calibri" pitchFamily="34" charset="-122"/>
                <a:cs typeface="Calibri" pitchFamily="34" charset="-120"/>
              </a:rPr>
              <a:t>Cum se aplica:</a:t>
            </a:r>
            <a:endParaRPr lang="en-US" sz="1800" dirty="0"/>
          </a:p>
        </p:txBody>
      </p:sp>
      <p:sp>
        <p:nvSpPr>
          <p:cNvPr id="14" name="Text 12"/>
          <p:cNvSpPr/>
          <p:nvPr/>
        </p:nvSpPr>
        <p:spPr>
          <a:xfrm>
            <a:off x="868680" y="4206240"/>
            <a:ext cx="5349240" cy="1920240"/>
          </a:xfrm>
          <a:prstGeom prst="rect">
            <a:avLst/>
          </a:prstGeom>
          <a:noFill/>
          <a:ln/>
        </p:spPr>
        <p:txBody>
          <a:bodyPr wrap="square" rtlCol="0" anchor="t"/>
          <a:lstStyle/>
          <a:p>
            <a:pPr indent="0" marL="0">
              <a:lnSpc>
                <a:spcPct val="140000"/>
              </a:lnSpc>
              <a:buNone/>
            </a:pPr>
            <a:r>
              <a:rPr lang="en-US" sz="1600" b="1" dirty="0">
                <a:solidFill>
                  <a:srgbClr val="FBBF24"/>
                </a:solidFill>
                <a:latin typeface="Calibri" pitchFamily="34" charset="0"/>
                <a:ea typeface="Calibri" pitchFamily="34" charset="-122"/>
                <a:cs typeface="Calibri" pitchFamily="34" charset="-120"/>
              </a:rPr>
              <a:t>1. </a:t>
            </a:r>
            <a:pPr indent="0" marL="0">
              <a:lnSpc>
                <a:spcPct val="140000"/>
              </a:lnSpc>
              <a:buNone/>
            </a:pPr>
            <a:r>
              <a:rPr lang="en-US" sz="1600" dirty="0">
                <a:solidFill>
                  <a:srgbClr val="E2E8F0"/>
                </a:solidFill>
                <a:latin typeface="Calibri" pitchFamily="34" charset="0"/>
                <a:ea typeface="Calibri" pitchFamily="34" charset="-122"/>
                <a:cs typeface="Calibri" pitchFamily="34" charset="-120"/>
              </a:rPr>
              <a:t>Mapam fiecare ora h la unghi θ = 2π·h/24
</a:t>
            </a:r>
            <a:pPr indent="0" marL="0">
              <a:lnSpc>
                <a:spcPct val="140000"/>
              </a:lnSpc>
              <a:buNone/>
            </a:pPr>
            <a:r>
              <a:rPr lang="en-US" sz="1600" b="1" dirty="0">
                <a:solidFill>
                  <a:srgbClr val="FBBF24"/>
                </a:solidFill>
                <a:latin typeface="Calibri" pitchFamily="34" charset="0"/>
                <a:ea typeface="Calibri" pitchFamily="34" charset="-122"/>
                <a:cs typeface="Calibri" pitchFamily="34" charset="-120"/>
              </a:rPr>
              <a:t>2. </a:t>
            </a:r>
            <a:pPr indent="0" marL="0">
              <a:lnSpc>
                <a:spcPct val="140000"/>
              </a:lnSpc>
              <a:buNone/>
            </a:pPr>
            <a:r>
              <a:rPr lang="en-US" sz="1600" dirty="0">
                <a:solidFill>
                  <a:srgbClr val="E2E8F0"/>
                </a:solidFill>
                <a:latin typeface="Calibri" pitchFamily="34" charset="0"/>
                <a:ea typeface="Calibri" pitchFamily="34" charset="-122"/>
                <a:cs typeface="Calibri" pitchFamily="34" charset="-120"/>
              </a:rPr>
              <a:t>Calculam coordonatele pe cercul unitate
</a:t>
            </a:r>
            <a:pPr indent="0" marL="0">
              <a:lnSpc>
                <a:spcPct val="140000"/>
              </a:lnSpc>
              <a:buNone/>
            </a:pPr>
            <a:r>
              <a:rPr lang="en-US" sz="1600" b="1" dirty="0">
                <a:solidFill>
                  <a:srgbClr val="FBBF24"/>
                </a:solidFill>
                <a:latin typeface="Calibri" pitchFamily="34" charset="0"/>
                <a:ea typeface="Calibri" pitchFamily="34" charset="-122"/>
                <a:cs typeface="Calibri" pitchFamily="34" charset="-120"/>
              </a:rPr>
              <a:t>3. </a:t>
            </a:r>
            <a:pPr indent="0" marL="0">
              <a:lnSpc>
                <a:spcPct val="140000"/>
              </a:lnSpc>
              <a:buNone/>
            </a:pPr>
            <a:r>
              <a:rPr lang="en-US" sz="1600" dirty="0">
                <a:solidFill>
                  <a:srgbClr val="E2E8F0"/>
                </a:solidFill>
                <a:latin typeface="Calibri" pitchFamily="34" charset="0"/>
                <a:ea typeface="Calibri" pitchFamily="34" charset="-122"/>
                <a:cs typeface="Calibri" pitchFamily="34" charset="-120"/>
              </a:rPr>
              <a:t>Inlocuim coloana 'ora' cu hour_sin si hour_cos
</a:t>
            </a:r>
            <a:pPr indent="0" marL="0">
              <a:lnSpc>
                <a:spcPct val="140000"/>
              </a:lnSpc>
              <a:buNone/>
            </a:pPr>
            <a:r>
              <a:rPr lang="en-US" sz="1600" b="1" dirty="0">
                <a:solidFill>
                  <a:srgbClr val="FBBF24"/>
                </a:solidFill>
                <a:latin typeface="Calibri" pitchFamily="34" charset="0"/>
                <a:ea typeface="Calibri" pitchFamily="34" charset="-122"/>
                <a:cs typeface="Calibri" pitchFamily="34" charset="-120"/>
              </a:rPr>
              <a:t>4. </a:t>
            </a:r>
            <a:pPr indent="0" marL="0">
              <a:lnSpc>
                <a:spcPct val="140000"/>
              </a:lnSpc>
              <a:buNone/>
            </a:pPr>
            <a:r>
              <a:rPr lang="en-US" sz="1600" dirty="0">
                <a:solidFill>
                  <a:srgbClr val="E2E8F0"/>
                </a:solidFill>
                <a:latin typeface="Calibri" pitchFamily="34" charset="0"/>
                <a:ea typeface="Calibri" pitchFamily="34" charset="-122"/>
                <a:cs typeface="Calibri" pitchFamily="34" charset="-120"/>
              </a:rPr>
              <a:t>Modelul foloseste cele 2 coloane noi</a:t>
            </a:r>
            <a:endParaRPr lang="en-US" sz="1600" dirty="0"/>
          </a:p>
        </p:txBody>
      </p:sp>
      <p:pic>
        <p:nvPicPr>
          <p:cNvPr id="15" name="Image 0" descr="/sessions/vibrant-elegant-pasteur/mnt/Disertatie_AI_Platform/reports/figures/fig_fe_cerc_ore_animated.gif">    </p:cNvPr>
          <p:cNvPicPr>
            <a:picLocks noChangeAspect="1"/>
          </p:cNvPicPr>
          <p:nvPr/>
        </p:nvPicPr>
        <p:blipFill>
          <a:blip r:embed="rId1"/>
          <a:srcRect l="0" r="0" t="0" b="0"/>
          <a:stretch/>
        </p:blipFill>
        <p:spPr>
          <a:xfrm>
            <a:off x="6400800" y="1828800"/>
            <a:ext cx="5303520" cy="4389120"/>
          </a:xfrm>
          <a:prstGeom prst="rect">
            <a:avLst/>
          </a:prstGeom>
        </p:spPr>
      </p:pic>
      <p:sp>
        <p:nvSpPr>
          <p:cNvPr id="16" name="Text 13"/>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17" name="Text 14"/>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15 / 28</a:t>
            </a:r>
            <a:endParaRPr lang="en-US" sz="1100" dirty="0"/>
          </a:p>
        </p:txBody>
      </p:sp>
    </p:spTree>
  </p:cSld>
  <p:transition xmlns:p="http://schemas.openxmlformats.org/presentationml/2006/main" spd="med">
    <p:fade/>
  </p:transition>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51025"/>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818CF8">
              <a:alpha val="15000"/>
            </a:srgbClr>
          </a:solidFill>
          <a:ln w="12700">
            <a:solidFill>
              <a:srgbClr val="818CF8">
                <a:alpha val="15000"/>
              </a:srgbClr>
            </a:solidFill>
            <a:prstDash val="solid"/>
          </a:ln>
        </p:spPr>
      </p:sp>
      <p:sp>
        <p:nvSpPr>
          <p:cNvPr id="3" name="Shape 1"/>
          <p:cNvSpPr/>
          <p:nvPr/>
        </p:nvSpPr>
        <p:spPr>
          <a:xfrm>
            <a:off x="10515600" y="5212080"/>
            <a:ext cx="3200400" cy="3200400"/>
          </a:xfrm>
          <a:prstGeom prst="ellipse">
            <a:avLst/>
          </a:prstGeom>
          <a:solidFill>
            <a:srgbClr val="F472B6">
              <a:alpha val="12000"/>
            </a:srgbClr>
          </a:solidFill>
          <a:ln w="12700">
            <a:solidFill>
              <a:srgbClr val="F472B6">
                <a:alpha val="12000"/>
              </a:srgbClr>
            </a:solidFill>
            <a:prstDash val="solid"/>
          </a:ln>
        </p:spPr>
      </p:sp>
      <p:sp>
        <p:nvSpPr>
          <p:cNvPr id="4" name="Shape 2"/>
          <p:cNvSpPr/>
          <p:nvPr/>
        </p:nvSpPr>
        <p:spPr>
          <a:xfrm>
            <a:off x="0" y="0"/>
            <a:ext cx="12161520" cy="164592"/>
          </a:xfrm>
          <a:prstGeom prst="rect">
            <a:avLst/>
          </a:prstGeom>
          <a:solidFill>
            <a:srgbClr val="FBBF24"/>
          </a:solidFill>
          <a:ln w="12700">
            <a:solidFill>
              <a:srgbClr val="FBBF24"/>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FBBF24"/>
                </a:solidFill>
                <a:latin typeface="Calibri" pitchFamily="34" charset="0"/>
                <a:ea typeface="Calibri" pitchFamily="34" charset="-122"/>
                <a:cs typeface="Calibri" pitchFamily="34" charset="-120"/>
              </a:rPr>
              <a:t>TEHNICA 1 / REZULTATUL</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Impactul tehnicii pe model</a:t>
            </a:r>
            <a:endParaRPr lang="en-US" sz="3600" dirty="0"/>
          </a:p>
        </p:txBody>
      </p:sp>
      <p:sp>
        <p:nvSpPr>
          <p:cNvPr id="7" name="Shape 5"/>
          <p:cNvSpPr/>
          <p:nvPr/>
        </p:nvSpPr>
        <p:spPr>
          <a:xfrm>
            <a:off x="548640" y="1691640"/>
            <a:ext cx="1645920" cy="54864"/>
          </a:xfrm>
          <a:prstGeom prst="rect">
            <a:avLst/>
          </a:prstGeom>
          <a:solidFill>
            <a:srgbClr val="F472B6"/>
          </a:solidFill>
          <a:ln w="12700">
            <a:solidFill>
              <a:srgbClr val="F472B6"/>
            </a:solidFill>
            <a:prstDash val="solid"/>
          </a:ln>
        </p:spPr>
      </p:sp>
      <p:sp>
        <p:nvSpPr>
          <p:cNvPr id="8" name="Text 6"/>
          <p:cNvSpPr/>
          <p:nvPr/>
        </p:nvSpPr>
        <p:spPr>
          <a:xfrm>
            <a:off x="548640" y="1874520"/>
            <a:ext cx="11064240" cy="457200"/>
          </a:xfrm>
          <a:prstGeom prst="rect">
            <a:avLst/>
          </a:prstGeom>
          <a:noFill/>
          <a:ln/>
        </p:spPr>
        <p:txBody>
          <a:bodyPr wrap="square" rtlCol="0" anchor="ctr"/>
          <a:lstStyle/>
          <a:p>
            <a:pPr indent="0" marL="0">
              <a:buNone/>
            </a:pPr>
            <a:r>
              <a:rPr lang="en-US" sz="1900" i="1" dirty="0">
                <a:solidFill>
                  <a:srgbClr val="E2E8F0"/>
                </a:solidFill>
                <a:latin typeface="Calibri" pitchFamily="34" charset="0"/>
                <a:ea typeface="Calibri" pitchFamily="34" charset="-122"/>
                <a:cs typeface="Calibri" pitchFamily="34" charset="-120"/>
              </a:rPr>
              <a:t>Cum se schimba comportamentul modelului dupa encoding ciclic?</a:t>
            </a:r>
            <a:endParaRPr lang="en-US" sz="1900" dirty="0"/>
          </a:p>
        </p:txBody>
      </p:sp>
      <p:sp>
        <p:nvSpPr>
          <p:cNvPr id="9" name="Shape 7"/>
          <p:cNvSpPr/>
          <p:nvPr/>
        </p:nvSpPr>
        <p:spPr>
          <a:xfrm>
            <a:off x="548640" y="2606040"/>
            <a:ext cx="11064240" cy="914400"/>
          </a:xfrm>
          <a:prstGeom prst="rect">
            <a:avLst/>
          </a:prstGeom>
          <a:solidFill>
            <a:srgbClr val="1E1A3A"/>
          </a:solidFill>
          <a:ln w="12700">
            <a:solidFill>
              <a:srgbClr val="1E1A3A"/>
            </a:solidFill>
            <a:prstDash val="solid"/>
          </a:ln>
        </p:spPr>
      </p:sp>
      <p:sp>
        <p:nvSpPr>
          <p:cNvPr id="10" name="Shape 8"/>
          <p:cNvSpPr/>
          <p:nvPr/>
        </p:nvSpPr>
        <p:spPr>
          <a:xfrm>
            <a:off x="548640" y="2606040"/>
            <a:ext cx="137160" cy="914400"/>
          </a:xfrm>
          <a:prstGeom prst="rect">
            <a:avLst/>
          </a:prstGeom>
          <a:solidFill>
            <a:srgbClr val="34D399"/>
          </a:solidFill>
          <a:ln w="12700">
            <a:solidFill>
              <a:srgbClr val="34D399"/>
            </a:solidFill>
            <a:prstDash val="solid"/>
          </a:ln>
        </p:spPr>
      </p:sp>
      <p:sp>
        <p:nvSpPr>
          <p:cNvPr id="11" name="Text 9"/>
          <p:cNvSpPr/>
          <p:nvPr/>
        </p:nvSpPr>
        <p:spPr>
          <a:xfrm>
            <a:off x="777240" y="2697480"/>
            <a:ext cx="10607040" cy="777240"/>
          </a:xfrm>
          <a:prstGeom prst="rect">
            <a:avLst/>
          </a:prstGeom>
          <a:noFill/>
          <a:ln/>
        </p:spPr>
        <p:txBody>
          <a:bodyPr wrap="square" rtlCol="0" anchor="t"/>
          <a:lstStyle/>
          <a:p>
            <a:pPr indent="0" marL="0">
              <a:lnSpc>
                <a:spcPct val="125000"/>
              </a:lnSpc>
              <a:buNone/>
            </a:pPr>
            <a:r>
              <a:rPr lang="en-US" sz="1900" b="1" dirty="0">
                <a:solidFill>
                  <a:srgbClr val="34D399"/>
                </a:solidFill>
                <a:latin typeface="Calibri" pitchFamily="34" charset="0"/>
                <a:ea typeface="Calibri" pitchFamily="34" charset="-122"/>
                <a:cs typeface="Calibri" pitchFamily="34" charset="-120"/>
              </a:rPr>
              <a:t>Distanta ora 23 - ora 0  </a:t>
            </a:r>
            <a:pPr indent="0" marL="0">
              <a:lnSpc>
                <a:spcPct val="125000"/>
              </a:lnSpc>
              <a:buNone/>
            </a:pPr>
            <a:r>
              <a:rPr lang="en-US" sz="1600" dirty="0">
                <a:solidFill>
                  <a:srgbClr val="E2E8F0"/>
                </a:solidFill>
                <a:latin typeface="Calibri" pitchFamily="34" charset="0"/>
                <a:ea typeface="Calibri" pitchFamily="34" charset="-122"/>
                <a:cs typeface="Calibri" pitchFamily="34" charset="-120"/>
              </a:rPr>
              <a:t>De la 23 unitati (liniar) la 0.27 unitati (cerc). Modelul vede orele ca fiind FIZIC vecine, exact cum sunt in realitate.</a:t>
            </a:r>
            <a:endParaRPr lang="en-US" sz="1900" dirty="0"/>
          </a:p>
        </p:txBody>
      </p:sp>
      <p:sp>
        <p:nvSpPr>
          <p:cNvPr id="12" name="Shape 10"/>
          <p:cNvSpPr/>
          <p:nvPr/>
        </p:nvSpPr>
        <p:spPr>
          <a:xfrm>
            <a:off x="548640" y="3657600"/>
            <a:ext cx="11064240" cy="914400"/>
          </a:xfrm>
          <a:prstGeom prst="rect">
            <a:avLst/>
          </a:prstGeom>
          <a:solidFill>
            <a:srgbClr val="1E1A3A"/>
          </a:solidFill>
          <a:ln w="12700">
            <a:solidFill>
              <a:srgbClr val="1E1A3A"/>
            </a:solidFill>
            <a:prstDash val="solid"/>
          </a:ln>
        </p:spPr>
      </p:sp>
      <p:sp>
        <p:nvSpPr>
          <p:cNvPr id="13" name="Shape 11"/>
          <p:cNvSpPr/>
          <p:nvPr/>
        </p:nvSpPr>
        <p:spPr>
          <a:xfrm>
            <a:off x="548640" y="3657600"/>
            <a:ext cx="137160" cy="914400"/>
          </a:xfrm>
          <a:prstGeom prst="rect">
            <a:avLst/>
          </a:prstGeom>
          <a:solidFill>
            <a:srgbClr val="818CF8"/>
          </a:solidFill>
          <a:ln w="12700">
            <a:solidFill>
              <a:srgbClr val="818CF8"/>
            </a:solidFill>
            <a:prstDash val="solid"/>
          </a:ln>
        </p:spPr>
      </p:sp>
      <p:sp>
        <p:nvSpPr>
          <p:cNvPr id="14" name="Text 12"/>
          <p:cNvSpPr/>
          <p:nvPr/>
        </p:nvSpPr>
        <p:spPr>
          <a:xfrm>
            <a:off x="777240" y="3749040"/>
            <a:ext cx="10607040" cy="777240"/>
          </a:xfrm>
          <a:prstGeom prst="rect">
            <a:avLst/>
          </a:prstGeom>
          <a:noFill/>
          <a:ln/>
        </p:spPr>
        <p:txBody>
          <a:bodyPr wrap="square" rtlCol="0" anchor="t"/>
          <a:lstStyle/>
          <a:p>
            <a:pPr indent="0" marL="0">
              <a:lnSpc>
                <a:spcPct val="125000"/>
              </a:lnSpc>
              <a:buNone/>
            </a:pPr>
            <a:r>
              <a:rPr lang="en-US" sz="1900" b="1" dirty="0">
                <a:solidFill>
                  <a:srgbClr val="818CF8"/>
                </a:solidFill>
                <a:latin typeface="Calibri" pitchFamily="34" charset="0"/>
                <a:ea typeface="Calibri" pitchFamily="34" charset="-122"/>
                <a:cs typeface="Calibri" pitchFamily="34" charset="-120"/>
              </a:rPr>
              <a:t>Invatare mai rapida  </a:t>
            </a:r>
            <a:pPr indent="0" marL="0">
              <a:lnSpc>
                <a:spcPct val="125000"/>
              </a:lnSpc>
              <a:buNone/>
            </a:pPr>
            <a:r>
              <a:rPr lang="en-US" sz="1600" dirty="0">
                <a:solidFill>
                  <a:srgbClr val="E2E8F0"/>
                </a:solidFill>
                <a:latin typeface="Calibri" pitchFamily="34" charset="0"/>
                <a:ea typeface="Calibri" pitchFamily="34" charset="-122"/>
                <a:cs typeface="Calibri" pitchFamily="34" charset="-120"/>
              </a:rPr>
              <a:t>Modelul nu mai pierde efort incercand sa explice o discontinuitate inexistenta. Convergenta este mai rapida, eroarea finala mai mica.</a:t>
            </a:r>
            <a:endParaRPr lang="en-US" sz="1900" dirty="0"/>
          </a:p>
        </p:txBody>
      </p:sp>
      <p:sp>
        <p:nvSpPr>
          <p:cNvPr id="15" name="Shape 13"/>
          <p:cNvSpPr/>
          <p:nvPr/>
        </p:nvSpPr>
        <p:spPr>
          <a:xfrm>
            <a:off x="548640" y="4709160"/>
            <a:ext cx="11064240" cy="914400"/>
          </a:xfrm>
          <a:prstGeom prst="rect">
            <a:avLst/>
          </a:prstGeom>
          <a:solidFill>
            <a:srgbClr val="1E1A3A"/>
          </a:solidFill>
          <a:ln w="12700">
            <a:solidFill>
              <a:srgbClr val="1E1A3A"/>
            </a:solidFill>
            <a:prstDash val="solid"/>
          </a:ln>
        </p:spPr>
      </p:sp>
      <p:sp>
        <p:nvSpPr>
          <p:cNvPr id="16" name="Shape 14"/>
          <p:cNvSpPr/>
          <p:nvPr/>
        </p:nvSpPr>
        <p:spPr>
          <a:xfrm>
            <a:off x="548640" y="4709160"/>
            <a:ext cx="137160" cy="914400"/>
          </a:xfrm>
          <a:prstGeom prst="rect">
            <a:avLst/>
          </a:prstGeom>
          <a:solidFill>
            <a:srgbClr val="F472B6"/>
          </a:solidFill>
          <a:ln w="12700">
            <a:solidFill>
              <a:srgbClr val="F472B6"/>
            </a:solidFill>
            <a:prstDash val="solid"/>
          </a:ln>
        </p:spPr>
      </p:sp>
      <p:sp>
        <p:nvSpPr>
          <p:cNvPr id="17" name="Text 15"/>
          <p:cNvSpPr/>
          <p:nvPr/>
        </p:nvSpPr>
        <p:spPr>
          <a:xfrm>
            <a:off x="777240" y="4800600"/>
            <a:ext cx="10607040" cy="777240"/>
          </a:xfrm>
          <a:prstGeom prst="rect">
            <a:avLst/>
          </a:prstGeom>
          <a:noFill/>
          <a:ln/>
        </p:spPr>
        <p:txBody>
          <a:bodyPr wrap="square" rtlCol="0" anchor="t"/>
          <a:lstStyle/>
          <a:p>
            <a:pPr indent="0" marL="0">
              <a:lnSpc>
                <a:spcPct val="125000"/>
              </a:lnSpc>
              <a:buNone/>
            </a:pPr>
            <a:r>
              <a:rPr lang="en-US" sz="1900" b="1" dirty="0">
                <a:solidFill>
                  <a:srgbClr val="F472B6"/>
                </a:solidFill>
                <a:latin typeface="Calibri" pitchFamily="34" charset="0"/>
                <a:ea typeface="Calibri" pitchFamily="34" charset="-122"/>
                <a:cs typeface="Calibri" pitchFamily="34" charset="-120"/>
              </a:rPr>
              <a:t>Universal aplicabil  </a:t>
            </a:r>
            <a:pPr indent="0" marL="0">
              <a:lnSpc>
                <a:spcPct val="125000"/>
              </a:lnSpc>
              <a:buNone/>
            </a:pPr>
            <a:r>
              <a:rPr lang="en-US" sz="1600" dirty="0">
                <a:solidFill>
                  <a:srgbClr val="E2E8F0"/>
                </a:solidFill>
                <a:latin typeface="Calibri" pitchFamily="34" charset="0"/>
                <a:ea typeface="Calibri" pitchFamily="34" charset="-122"/>
                <a:cs typeface="Calibri" pitchFamily="34" charset="-120"/>
              </a:rPr>
              <a:t>Aceeasi tehnica functioneaza pentru orice variabila ciclica: ziua saptamanii (0-6), luna anului (1-12), ziua din an (1-365).</a:t>
            </a:r>
            <a:endParaRPr lang="en-US" sz="1900" dirty="0"/>
          </a:p>
        </p:txBody>
      </p:sp>
      <p:sp>
        <p:nvSpPr>
          <p:cNvPr id="18" name="Shape 16"/>
          <p:cNvSpPr/>
          <p:nvPr/>
        </p:nvSpPr>
        <p:spPr>
          <a:xfrm>
            <a:off x="548640" y="5943600"/>
            <a:ext cx="11064240" cy="411480"/>
          </a:xfrm>
          <a:prstGeom prst="rect">
            <a:avLst/>
          </a:prstGeom>
          <a:solidFill>
            <a:srgbClr val="FBBF24"/>
          </a:solidFill>
          <a:ln w="12700">
            <a:solidFill>
              <a:srgbClr val="FBBF24"/>
            </a:solidFill>
            <a:prstDash val="solid"/>
          </a:ln>
        </p:spPr>
      </p:sp>
      <p:sp>
        <p:nvSpPr>
          <p:cNvPr id="19" name="Text 17"/>
          <p:cNvSpPr/>
          <p:nvPr/>
        </p:nvSpPr>
        <p:spPr>
          <a:xfrm>
            <a:off x="548640" y="5943600"/>
            <a:ext cx="11064240" cy="411480"/>
          </a:xfrm>
          <a:prstGeom prst="rect">
            <a:avLst/>
          </a:prstGeom>
          <a:noFill/>
          <a:ln/>
        </p:spPr>
        <p:txBody>
          <a:bodyPr wrap="square" rtlCol="0" anchor="ctr"/>
          <a:lstStyle/>
          <a:p>
            <a:pPr algn="ctr" indent="0" marL="0">
              <a:buNone/>
            </a:pPr>
            <a:r>
              <a:rPr lang="en-US" sz="1600" b="1" i="1" dirty="0">
                <a:solidFill>
                  <a:srgbClr val="151025"/>
                </a:solidFill>
                <a:latin typeface="Calibri" pitchFamily="34" charset="0"/>
                <a:ea typeface="Calibri" pitchFamily="34" charset="-122"/>
                <a:cs typeface="Calibri" pitchFamily="34" charset="-120"/>
              </a:rPr>
              <a:t>Concluzia tehnicii 1: timpul ciclic se reprezinta natural pe cerc, nu pe linie dreapta.</a:t>
            </a:r>
            <a:endParaRPr lang="en-US" sz="1600" dirty="0"/>
          </a:p>
        </p:txBody>
      </p:sp>
      <p:sp>
        <p:nvSpPr>
          <p:cNvPr id="20" name="Text 18"/>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21" name="Text 19"/>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16 / 28</a:t>
            </a:r>
            <a:endParaRPr lang="en-US" sz="1100" dirty="0"/>
          </a:p>
        </p:txBody>
      </p:sp>
    </p:spTree>
  </p:cSld>
  <p:transition xmlns:p="http://schemas.openxmlformats.org/presentationml/2006/main" spd="med">
    <p:fade/>
  </p:transition>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51025"/>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818CF8">
              <a:alpha val="15000"/>
            </a:srgbClr>
          </a:solidFill>
          <a:ln w="12700">
            <a:solidFill>
              <a:srgbClr val="818CF8">
                <a:alpha val="15000"/>
              </a:srgbClr>
            </a:solidFill>
            <a:prstDash val="solid"/>
          </a:ln>
        </p:spPr>
      </p:sp>
      <p:sp>
        <p:nvSpPr>
          <p:cNvPr id="3" name="Shape 1"/>
          <p:cNvSpPr/>
          <p:nvPr/>
        </p:nvSpPr>
        <p:spPr>
          <a:xfrm>
            <a:off x="10515600" y="5212080"/>
            <a:ext cx="3200400" cy="3200400"/>
          </a:xfrm>
          <a:prstGeom prst="ellipse">
            <a:avLst/>
          </a:prstGeom>
          <a:solidFill>
            <a:srgbClr val="F472B6">
              <a:alpha val="12000"/>
            </a:srgbClr>
          </a:solidFill>
          <a:ln w="12700">
            <a:solidFill>
              <a:srgbClr val="F472B6">
                <a:alpha val="12000"/>
              </a:srgbClr>
            </a:solidFill>
            <a:prstDash val="solid"/>
          </a:ln>
        </p:spPr>
      </p:sp>
      <p:sp>
        <p:nvSpPr>
          <p:cNvPr id="4" name="Shape 2"/>
          <p:cNvSpPr/>
          <p:nvPr/>
        </p:nvSpPr>
        <p:spPr>
          <a:xfrm>
            <a:off x="0" y="0"/>
            <a:ext cx="12161520" cy="164592"/>
          </a:xfrm>
          <a:prstGeom prst="rect">
            <a:avLst/>
          </a:prstGeom>
          <a:solidFill>
            <a:srgbClr val="FBBF24"/>
          </a:solidFill>
          <a:ln w="12700">
            <a:solidFill>
              <a:srgbClr val="FBBF24"/>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FBBF24"/>
                </a:solidFill>
                <a:latin typeface="Calibri" pitchFamily="34" charset="0"/>
                <a:ea typeface="Calibri" pitchFamily="34" charset="-122"/>
                <a:cs typeface="Calibri" pitchFamily="34" charset="-120"/>
              </a:rPr>
              <a:t>TEHNICA 2 / ANALOGIE</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O conversatie sau zgomot radio?</a:t>
            </a:r>
            <a:endParaRPr lang="en-US" sz="3600" dirty="0"/>
          </a:p>
        </p:txBody>
      </p:sp>
      <p:sp>
        <p:nvSpPr>
          <p:cNvPr id="7" name="Shape 5"/>
          <p:cNvSpPr/>
          <p:nvPr/>
        </p:nvSpPr>
        <p:spPr>
          <a:xfrm>
            <a:off x="548640" y="1691640"/>
            <a:ext cx="1645920" cy="54864"/>
          </a:xfrm>
          <a:prstGeom prst="rect">
            <a:avLst/>
          </a:prstGeom>
          <a:solidFill>
            <a:srgbClr val="F472B6"/>
          </a:solidFill>
          <a:ln w="12700">
            <a:solidFill>
              <a:srgbClr val="F472B6"/>
            </a:solidFill>
            <a:prstDash val="solid"/>
          </a:ln>
        </p:spPr>
      </p:sp>
      <p:sp>
        <p:nvSpPr>
          <p:cNvPr id="8" name="Text 6"/>
          <p:cNvSpPr/>
          <p:nvPr/>
        </p:nvSpPr>
        <p:spPr>
          <a:xfrm>
            <a:off x="548640" y="1920240"/>
            <a:ext cx="11064240" cy="548640"/>
          </a:xfrm>
          <a:prstGeom prst="rect">
            <a:avLst/>
          </a:prstGeom>
          <a:noFill/>
          <a:ln/>
        </p:spPr>
        <p:txBody>
          <a:bodyPr wrap="square" rtlCol="0" anchor="ctr"/>
          <a:lstStyle/>
          <a:p>
            <a:pPr indent="0" marL="0">
              <a:buNone/>
            </a:pPr>
            <a:r>
              <a:rPr lang="en-US" sz="1900" i="1" dirty="0">
                <a:solidFill>
                  <a:srgbClr val="E2E8F0"/>
                </a:solidFill>
                <a:latin typeface="Calibri" pitchFamily="34" charset="0"/>
                <a:ea typeface="Calibri" pitchFamily="34" charset="-122"/>
                <a:cs typeface="Calibri" pitchFamily="34" charset="-120"/>
              </a:rPr>
              <a:t>Imagineaza-ti doua scenarii in care asculti un sunet pe parcursul timpului:</a:t>
            </a:r>
            <a:endParaRPr lang="en-US" sz="1900" dirty="0"/>
          </a:p>
        </p:txBody>
      </p:sp>
      <p:sp>
        <p:nvSpPr>
          <p:cNvPr id="9" name="Shape 7"/>
          <p:cNvSpPr/>
          <p:nvPr/>
        </p:nvSpPr>
        <p:spPr>
          <a:xfrm>
            <a:off x="548640" y="2697480"/>
            <a:ext cx="5486400" cy="3657600"/>
          </a:xfrm>
          <a:prstGeom prst="rect">
            <a:avLst/>
          </a:prstGeom>
          <a:solidFill>
            <a:srgbClr val="1E1A3A"/>
          </a:solidFill>
          <a:ln w="12700">
            <a:solidFill>
              <a:srgbClr val="1E1A3A"/>
            </a:solidFill>
            <a:prstDash val="solid"/>
          </a:ln>
        </p:spPr>
      </p:sp>
      <p:sp>
        <p:nvSpPr>
          <p:cNvPr id="10" name="Shape 8"/>
          <p:cNvSpPr/>
          <p:nvPr/>
        </p:nvSpPr>
        <p:spPr>
          <a:xfrm>
            <a:off x="548640" y="2697480"/>
            <a:ext cx="137160" cy="3657600"/>
          </a:xfrm>
          <a:prstGeom prst="rect">
            <a:avLst/>
          </a:prstGeom>
          <a:solidFill>
            <a:srgbClr val="F472B6"/>
          </a:solidFill>
          <a:ln w="12700">
            <a:solidFill>
              <a:srgbClr val="F472B6"/>
            </a:solidFill>
            <a:prstDash val="solid"/>
          </a:ln>
        </p:spPr>
      </p:sp>
      <p:sp>
        <p:nvSpPr>
          <p:cNvPr id="11" name="Text 9"/>
          <p:cNvSpPr/>
          <p:nvPr/>
        </p:nvSpPr>
        <p:spPr>
          <a:xfrm>
            <a:off x="777240" y="2788920"/>
            <a:ext cx="5257800" cy="457200"/>
          </a:xfrm>
          <a:prstGeom prst="rect">
            <a:avLst/>
          </a:prstGeom>
          <a:noFill/>
          <a:ln/>
        </p:spPr>
        <p:txBody>
          <a:bodyPr wrap="square" rtlCol="0" anchor="ctr"/>
          <a:lstStyle/>
          <a:p>
            <a:pPr indent="0" marL="0">
              <a:buNone/>
            </a:pPr>
            <a:r>
              <a:rPr lang="en-US" sz="2100" b="1" dirty="0">
                <a:solidFill>
                  <a:srgbClr val="F472B6"/>
                </a:solidFill>
                <a:latin typeface="Cambria" pitchFamily="34" charset="0"/>
                <a:ea typeface="Cambria" pitchFamily="34" charset="-122"/>
                <a:cs typeface="Cambria" pitchFamily="34" charset="-120"/>
              </a:rPr>
              <a:t>Zgomot radio static</a:t>
            </a:r>
            <a:endParaRPr lang="en-US" sz="2100" dirty="0"/>
          </a:p>
        </p:txBody>
      </p:sp>
      <p:sp>
        <p:nvSpPr>
          <p:cNvPr id="12" name="Text 10"/>
          <p:cNvSpPr/>
          <p:nvPr/>
        </p:nvSpPr>
        <p:spPr>
          <a:xfrm>
            <a:off x="868680" y="3337560"/>
            <a:ext cx="5074920" cy="2926080"/>
          </a:xfrm>
          <a:prstGeom prst="rect">
            <a:avLst/>
          </a:prstGeom>
          <a:noFill/>
          <a:ln/>
        </p:spPr>
        <p:txBody>
          <a:bodyPr wrap="square" rtlCol="0" anchor="t"/>
          <a:lstStyle/>
          <a:p>
            <a:pPr indent="0" marL="0">
              <a:lnSpc>
                <a:spcPct val="130000"/>
              </a:lnSpc>
              <a:buNone/>
            </a:pPr>
            <a:r>
              <a:rPr lang="en-US" sz="1700" dirty="0">
                <a:solidFill>
                  <a:srgbClr val="E2E8F0"/>
                </a:solidFill>
                <a:latin typeface="Calibri" pitchFamily="34" charset="0"/>
                <a:ea typeface="Calibri" pitchFamily="34" charset="-122"/>
                <a:cs typeface="Calibri" pitchFamily="34" charset="-120"/>
              </a:rPr>
              <a:t>Sunetul de la o secunda la alta este </a:t>
            </a:r>
            <a:pPr indent="0" marL="0">
              <a:lnSpc>
                <a:spcPct val="130000"/>
              </a:lnSpc>
              <a:buNone/>
            </a:pPr>
            <a:r>
              <a:rPr lang="en-US" sz="1700" b="1" dirty="0">
                <a:solidFill>
                  <a:srgbClr val="FFFFFF"/>
                </a:solidFill>
                <a:latin typeface="Calibri" pitchFamily="34" charset="0"/>
                <a:ea typeface="Calibri" pitchFamily="34" charset="-122"/>
                <a:cs typeface="Calibri" pitchFamily="34" charset="-120"/>
              </a:rPr>
              <a:t>complet diferit, haotic</a:t>
            </a:r>
            <a:pPr indent="0" marL="0">
              <a:lnSpc>
                <a:spcPct val="130000"/>
              </a:lnSpc>
              <a:buNone/>
            </a:pPr>
            <a:r>
              <a:rPr lang="en-US" sz="1700" dirty="0">
                <a:solidFill>
                  <a:srgbClr val="E2E8F0"/>
                </a:solidFill>
                <a:latin typeface="Calibri" pitchFamily="34" charset="0"/>
                <a:ea typeface="Calibri" pitchFamily="34" charset="-122"/>
                <a:cs typeface="Calibri" pitchFamily="34" charset="-120"/>
              </a:rPr>
              <a:t>.
</a:t>
            </a:r>
            <a:pPr indent="0" marL="0">
              <a:lnSpc>
                <a:spcPct val="130000"/>
              </a:lnSpc>
              <a:buNone/>
            </a:pPr>
            <a:r>
              <a:rPr lang="en-US" sz="1700" dirty="0">
                <a:solidFill>
                  <a:srgbClr val="E2E8F0"/>
                </a:solidFill>
                <a:latin typeface="Calibri" pitchFamily="34" charset="0"/>
                <a:ea typeface="Calibri" pitchFamily="34" charset="-122"/>
                <a:cs typeface="Calibri" pitchFamily="34" charset="-120"/>
              </a:rPr>
              <a:t>Trecutul nu spune nimic despre viitor — fiecare moment este independent.
</a:t>
            </a:r>
            <a:pPr indent="0" marL="0">
              <a:lnSpc>
                <a:spcPct val="130000"/>
              </a:lnSpc>
              <a:buNone/>
            </a:pPr>
            <a:r>
              <a:rPr lang="en-US" sz="1700" dirty="0">
                <a:solidFill>
                  <a:srgbClr val="E2E8F0"/>
                </a:solidFill>
                <a:latin typeface="Calibri" pitchFamily="34" charset="0"/>
                <a:ea typeface="Calibri" pitchFamily="34" charset="-122"/>
                <a:cs typeface="Calibri" pitchFamily="34" charset="-120"/>
              </a:rPr>
              <a:t>Aici corelatia intre valorile consecutive este </a:t>
            </a:r>
            <a:pPr indent="0" marL="0">
              <a:lnSpc>
                <a:spcPct val="130000"/>
              </a:lnSpc>
              <a:buNone/>
            </a:pPr>
            <a:r>
              <a:rPr lang="en-US" sz="1700" b="1" dirty="0">
                <a:solidFill>
                  <a:srgbClr val="F472B6"/>
                </a:solidFill>
                <a:latin typeface="Calibri" pitchFamily="34" charset="0"/>
                <a:ea typeface="Calibri" pitchFamily="34" charset="-122"/>
                <a:cs typeface="Calibri" pitchFamily="34" charset="-120"/>
              </a:rPr>
              <a:t>aproape zero</a:t>
            </a:r>
            <a:pPr indent="0" marL="0">
              <a:lnSpc>
                <a:spcPct val="130000"/>
              </a:lnSpc>
              <a:buNone/>
            </a:pPr>
            <a:r>
              <a:rPr lang="en-US" sz="1700" dirty="0">
                <a:solidFill>
                  <a:srgbClr val="E2E8F0"/>
                </a:solidFill>
                <a:latin typeface="Calibri" pitchFamily="34" charset="0"/>
                <a:ea typeface="Calibri" pitchFamily="34" charset="-122"/>
                <a:cs typeface="Calibri" pitchFamily="34" charset="-120"/>
              </a:rPr>
              <a:t>.</a:t>
            </a:r>
            <a:endParaRPr lang="en-US" sz="1700" dirty="0"/>
          </a:p>
        </p:txBody>
      </p:sp>
      <p:sp>
        <p:nvSpPr>
          <p:cNvPr id="13" name="Shape 11"/>
          <p:cNvSpPr/>
          <p:nvPr/>
        </p:nvSpPr>
        <p:spPr>
          <a:xfrm>
            <a:off x="6126480" y="2697480"/>
            <a:ext cx="5486400" cy="3657600"/>
          </a:xfrm>
          <a:prstGeom prst="rect">
            <a:avLst/>
          </a:prstGeom>
          <a:solidFill>
            <a:srgbClr val="1E1A3A"/>
          </a:solidFill>
          <a:ln w="12700">
            <a:solidFill>
              <a:srgbClr val="1E1A3A"/>
            </a:solidFill>
            <a:prstDash val="solid"/>
          </a:ln>
        </p:spPr>
      </p:sp>
      <p:sp>
        <p:nvSpPr>
          <p:cNvPr id="14" name="Shape 12"/>
          <p:cNvSpPr/>
          <p:nvPr/>
        </p:nvSpPr>
        <p:spPr>
          <a:xfrm>
            <a:off x="6126480" y="2697480"/>
            <a:ext cx="137160" cy="3657600"/>
          </a:xfrm>
          <a:prstGeom prst="rect">
            <a:avLst/>
          </a:prstGeom>
          <a:solidFill>
            <a:srgbClr val="34D399"/>
          </a:solidFill>
          <a:ln w="12700">
            <a:solidFill>
              <a:srgbClr val="34D399"/>
            </a:solidFill>
            <a:prstDash val="solid"/>
          </a:ln>
        </p:spPr>
      </p:sp>
      <p:sp>
        <p:nvSpPr>
          <p:cNvPr id="15" name="Text 13"/>
          <p:cNvSpPr/>
          <p:nvPr/>
        </p:nvSpPr>
        <p:spPr>
          <a:xfrm>
            <a:off x="6355080" y="2788920"/>
            <a:ext cx="5257800" cy="457200"/>
          </a:xfrm>
          <a:prstGeom prst="rect">
            <a:avLst/>
          </a:prstGeom>
          <a:noFill/>
          <a:ln/>
        </p:spPr>
        <p:txBody>
          <a:bodyPr wrap="square" rtlCol="0" anchor="ctr"/>
          <a:lstStyle/>
          <a:p>
            <a:pPr indent="0" marL="0">
              <a:buNone/>
            </a:pPr>
            <a:r>
              <a:rPr lang="en-US" sz="2100" b="1" dirty="0">
                <a:solidFill>
                  <a:srgbClr val="34D399"/>
                </a:solidFill>
                <a:latin typeface="Cambria" pitchFamily="34" charset="0"/>
                <a:ea typeface="Cambria" pitchFamily="34" charset="-122"/>
                <a:cs typeface="Cambria" pitchFamily="34" charset="-120"/>
              </a:rPr>
              <a:t>O conversatie</a:t>
            </a:r>
            <a:endParaRPr lang="en-US" sz="2100" dirty="0"/>
          </a:p>
        </p:txBody>
      </p:sp>
      <p:sp>
        <p:nvSpPr>
          <p:cNvPr id="16" name="Text 14"/>
          <p:cNvSpPr/>
          <p:nvPr/>
        </p:nvSpPr>
        <p:spPr>
          <a:xfrm>
            <a:off x="6446520" y="3337560"/>
            <a:ext cx="5074920" cy="2926080"/>
          </a:xfrm>
          <a:prstGeom prst="rect">
            <a:avLst/>
          </a:prstGeom>
          <a:noFill/>
          <a:ln/>
        </p:spPr>
        <p:txBody>
          <a:bodyPr wrap="square" rtlCol="0" anchor="t"/>
          <a:lstStyle/>
          <a:p>
            <a:pPr indent="0" marL="0">
              <a:lnSpc>
                <a:spcPct val="130000"/>
              </a:lnSpc>
              <a:buNone/>
            </a:pPr>
            <a:r>
              <a:rPr lang="en-US" sz="1700" dirty="0">
                <a:solidFill>
                  <a:srgbClr val="E2E8F0"/>
                </a:solidFill>
                <a:latin typeface="Calibri" pitchFamily="34" charset="0"/>
                <a:ea typeface="Calibri" pitchFamily="34" charset="-122"/>
                <a:cs typeface="Calibri" pitchFamily="34" charset="-120"/>
              </a:rPr>
              <a:t>Fiecare propozitie </a:t>
            </a:r>
            <a:pPr indent="0" marL="0">
              <a:lnSpc>
                <a:spcPct val="130000"/>
              </a:lnSpc>
              <a:buNone/>
            </a:pPr>
            <a:r>
              <a:rPr lang="en-US" sz="1700" b="1" dirty="0">
                <a:solidFill>
                  <a:srgbClr val="FFFFFF"/>
                </a:solidFill>
                <a:latin typeface="Calibri" pitchFamily="34" charset="0"/>
                <a:ea typeface="Calibri" pitchFamily="34" charset="-122"/>
                <a:cs typeface="Calibri" pitchFamily="34" charset="-120"/>
              </a:rPr>
              <a:t>continua logic</a:t>
            </a:r>
            <a:pPr indent="0" marL="0">
              <a:lnSpc>
                <a:spcPct val="130000"/>
              </a:lnSpc>
              <a:buNone/>
            </a:pPr>
            <a:r>
              <a:rPr lang="en-US" sz="1700" dirty="0">
                <a:solidFill>
                  <a:srgbClr val="E2E8F0"/>
                </a:solidFill>
                <a:latin typeface="Calibri" pitchFamily="34" charset="0"/>
                <a:ea typeface="Calibri" pitchFamily="34" charset="-122"/>
                <a:cs typeface="Calibri" pitchFamily="34" charset="-120"/>
              </a:rPr>
              <a:t> de la propozitia precedenta.
</a:t>
            </a:r>
            <a:pPr indent="0" marL="0">
              <a:lnSpc>
                <a:spcPct val="130000"/>
              </a:lnSpc>
              <a:buNone/>
            </a:pPr>
            <a:r>
              <a:rPr lang="en-US" sz="1700" dirty="0">
                <a:solidFill>
                  <a:srgbClr val="E2E8F0"/>
                </a:solidFill>
                <a:latin typeface="Calibri" pitchFamily="34" charset="0"/>
                <a:ea typeface="Calibri" pitchFamily="34" charset="-122"/>
                <a:cs typeface="Calibri" pitchFamily="34" charset="-120"/>
              </a:rPr>
              <a:t>Daca ai auzit ultimul cuvant, ai un </a:t>
            </a:r>
            <a:pPr indent="0" marL="0">
              <a:lnSpc>
                <a:spcPct val="130000"/>
              </a:lnSpc>
              <a:buNone/>
            </a:pPr>
            <a:r>
              <a:rPr lang="en-US" sz="1700" b="1" dirty="0">
                <a:solidFill>
                  <a:srgbClr val="FFFFFF"/>
                </a:solidFill>
                <a:latin typeface="Calibri" pitchFamily="34" charset="0"/>
                <a:ea typeface="Calibri" pitchFamily="34" charset="-122"/>
                <a:cs typeface="Calibri" pitchFamily="34" charset="-120"/>
              </a:rPr>
              <a:t>indiciu puternic</a:t>
            </a:r>
            <a:pPr indent="0" marL="0">
              <a:lnSpc>
                <a:spcPct val="130000"/>
              </a:lnSpc>
              <a:buNone/>
            </a:pPr>
            <a:r>
              <a:rPr lang="en-US" sz="1700" dirty="0">
                <a:solidFill>
                  <a:srgbClr val="E2E8F0"/>
                </a:solidFill>
                <a:latin typeface="Calibri" pitchFamily="34" charset="0"/>
                <a:ea typeface="Calibri" pitchFamily="34" charset="-122"/>
                <a:cs typeface="Calibri" pitchFamily="34" charset="-120"/>
              </a:rPr>
              <a:t> ce urmeaza.
</a:t>
            </a:r>
            <a:pPr indent="0" marL="0">
              <a:lnSpc>
                <a:spcPct val="130000"/>
              </a:lnSpc>
              <a:buNone/>
            </a:pPr>
            <a:r>
              <a:rPr lang="en-US" sz="1700" dirty="0">
                <a:solidFill>
                  <a:srgbClr val="E2E8F0"/>
                </a:solidFill>
                <a:latin typeface="Calibri" pitchFamily="34" charset="0"/>
                <a:ea typeface="Calibri" pitchFamily="34" charset="-122"/>
                <a:cs typeface="Calibri" pitchFamily="34" charset="-120"/>
              </a:rPr>
              <a:t>Aici corelatia intre cuvinte consecutive este </a:t>
            </a:r>
            <a:pPr indent="0" marL="0">
              <a:lnSpc>
                <a:spcPct val="130000"/>
              </a:lnSpc>
              <a:buNone/>
            </a:pPr>
            <a:r>
              <a:rPr lang="en-US" sz="1700" b="1" dirty="0">
                <a:solidFill>
                  <a:srgbClr val="34D399"/>
                </a:solidFill>
                <a:latin typeface="Calibri" pitchFamily="34" charset="0"/>
                <a:ea typeface="Calibri" pitchFamily="34" charset="-122"/>
                <a:cs typeface="Calibri" pitchFamily="34" charset="-120"/>
              </a:rPr>
              <a:t>aproape perfecta</a:t>
            </a:r>
            <a:pPr indent="0" marL="0">
              <a:lnSpc>
                <a:spcPct val="130000"/>
              </a:lnSpc>
              <a:buNone/>
            </a:pPr>
            <a:r>
              <a:rPr lang="en-US" sz="1700" dirty="0">
                <a:solidFill>
                  <a:srgbClr val="E2E8F0"/>
                </a:solidFill>
                <a:latin typeface="Calibri" pitchFamily="34" charset="0"/>
                <a:ea typeface="Calibri" pitchFamily="34" charset="-122"/>
                <a:cs typeface="Calibri" pitchFamily="34" charset="-120"/>
              </a:rPr>
              <a:t>.</a:t>
            </a:r>
            <a:endParaRPr lang="en-US" sz="1700" dirty="0"/>
          </a:p>
        </p:txBody>
      </p:sp>
      <p:sp>
        <p:nvSpPr>
          <p:cNvPr id="17" name="Text 15"/>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18" name="Text 16"/>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17 / 28</a:t>
            </a:r>
            <a:endParaRPr lang="en-US" sz="1100" dirty="0"/>
          </a:p>
        </p:txBody>
      </p:sp>
    </p:spTree>
  </p:cSld>
  <p:transition xmlns:p="http://schemas.openxmlformats.org/presentationml/2006/main" spd="med">
    <p:fade/>
  </p:transition>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51025"/>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818CF8">
              <a:alpha val="15000"/>
            </a:srgbClr>
          </a:solidFill>
          <a:ln w="12700">
            <a:solidFill>
              <a:srgbClr val="818CF8">
                <a:alpha val="15000"/>
              </a:srgbClr>
            </a:solidFill>
            <a:prstDash val="solid"/>
          </a:ln>
        </p:spPr>
      </p:sp>
      <p:sp>
        <p:nvSpPr>
          <p:cNvPr id="3" name="Shape 1"/>
          <p:cNvSpPr/>
          <p:nvPr/>
        </p:nvSpPr>
        <p:spPr>
          <a:xfrm>
            <a:off x="10515600" y="5212080"/>
            <a:ext cx="3200400" cy="3200400"/>
          </a:xfrm>
          <a:prstGeom prst="ellipse">
            <a:avLst/>
          </a:prstGeom>
          <a:solidFill>
            <a:srgbClr val="F472B6">
              <a:alpha val="12000"/>
            </a:srgbClr>
          </a:solidFill>
          <a:ln w="12700">
            <a:solidFill>
              <a:srgbClr val="F472B6">
                <a:alpha val="12000"/>
              </a:srgbClr>
            </a:solidFill>
            <a:prstDash val="solid"/>
          </a:ln>
        </p:spPr>
      </p:sp>
      <p:sp>
        <p:nvSpPr>
          <p:cNvPr id="4" name="Shape 2"/>
          <p:cNvSpPr/>
          <p:nvPr/>
        </p:nvSpPr>
        <p:spPr>
          <a:xfrm>
            <a:off x="0" y="0"/>
            <a:ext cx="12161520" cy="164592"/>
          </a:xfrm>
          <a:prstGeom prst="rect">
            <a:avLst/>
          </a:prstGeom>
          <a:solidFill>
            <a:srgbClr val="FBBF24"/>
          </a:solidFill>
          <a:ln w="12700">
            <a:solidFill>
              <a:srgbClr val="FBBF24"/>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FBBF24"/>
                </a:solidFill>
                <a:latin typeface="Calibri" pitchFamily="34" charset="0"/>
                <a:ea typeface="Calibri" pitchFamily="34" charset="-122"/>
                <a:cs typeface="Calibri" pitchFamily="34" charset="-120"/>
              </a:rPr>
              <a:t>TEHNICA 2 / FORMULA</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Modelul matematic AR(1)</a:t>
            </a:r>
            <a:endParaRPr lang="en-US" sz="3600" dirty="0"/>
          </a:p>
        </p:txBody>
      </p:sp>
      <p:sp>
        <p:nvSpPr>
          <p:cNvPr id="7" name="Shape 5"/>
          <p:cNvSpPr/>
          <p:nvPr/>
        </p:nvSpPr>
        <p:spPr>
          <a:xfrm>
            <a:off x="548640" y="1691640"/>
            <a:ext cx="1645920" cy="54864"/>
          </a:xfrm>
          <a:prstGeom prst="rect">
            <a:avLst/>
          </a:prstGeom>
          <a:solidFill>
            <a:srgbClr val="F472B6"/>
          </a:solidFill>
          <a:ln w="12700">
            <a:solidFill>
              <a:srgbClr val="F472B6"/>
            </a:solidFill>
            <a:prstDash val="solid"/>
          </a:ln>
        </p:spPr>
      </p:sp>
      <p:sp>
        <p:nvSpPr>
          <p:cNvPr id="8" name="Text 6"/>
          <p:cNvSpPr/>
          <p:nvPr/>
        </p:nvSpPr>
        <p:spPr>
          <a:xfrm>
            <a:off x="548640" y="1828800"/>
            <a:ext cx="11064240" cy="457200"/>
          </a:xfrm>
          <a:prstGeom prst="rect">
            <a:avLst/>
          </a:prstGeom>
          <a:noFill/>
          <a:ln/>
        </p:spPr>
        <p:txBody>
          <a:bodyPr wrap="square" rtlCol="0" anchor="ctr"/>
          <a:lstStyle/>
          <a:p>
            <a:pPr indent="0" marL="0">
              <a:buNone/>
            </a:pPr>
            <a:r>
              <a:rPr lang="en-US" sz="1900" i="1" dirty="0">
                <a:solidFill>
                  <a:srgbClr val="E2E8F0"/>
                </a:solidFill>
                <a:latin typeface="Calibri" pitchFamily="34" charset="0"/>
                <a:ea typeface="Calibri" pitchFamily="34" charset="-122"/>
                <a:cs typeface="Calibri" pitchFamily="34" charset="-120"/>
              </a:rPr>
              <a:t>Cel mai simplu model autoregresiv leaga valoarea curenta de valoarea anterioara:</a:t>
            </a:r>
            <a:endParaRPr lang="en-US" sz="1900" dirty="0"/>
          </a:p>
        </p:txBody>
      </p:sp>
      <p:sp>
        <p:nvSpPr>
          <p:cNvPr id="9" name="Shape 7"/>
          <p:cNvSpPr/>
          <p:nvPr/>
        </p:nvSpPr>
        <p:spPr>
          <a:xfrm>
            <a:off x="548640" y="2423160"/>
            <a:ext cx="5486400" cy="1280160"/>
          </a:xfrm>
          <a:prstGeom prst="rect">
            <a:avLst/>
          </a:prstGeom>
          <a:solidFill>
            <a:srgbClr val="1E1A3A"/>
          </a:solidFill>
          <a:ln w="25400">
            <a:solidFill>
              <a:srgbClr val="FBBF24"/>
            </a:solidFill>
            <a:prstDash val="solid"/>
          </a:ln>
        </p:spPr>
      </p:sp>
      <p:sp>
        <p:nvSpPr>
          <p:cNvPr id="10" name="Text 8"/>
          <p:cNvSpPr/>
          <p:nvPr/>
        </p:nvSpPr>
        <p:spPr>
          <a:xfrm>
            <a:off x="548640" y="2423160"/>
            <a:ext cx="5486400" cy="1280160"/>
          </a:xfrm>
          <a:prstGeom prst="rect">
            <a:avLst/>
          </a:prstGeom>
          <a:noFill/>
          <a:ln/>
        </p:spPr>
        <p:txBody>
          <a:bodyPr wrap="square"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y(t) = c + φ · y(t−1) + ε</a:t>
            </a:r>
            <a:endParaRPr lang="en-US" sz="2800" dirty="0"/>
          </a:p>
        </p:txBody>
      </p:sp>
      <p:sp>
        <p:nvSpPr>
          <p:cNvPr id="11" name="Text 9"/>
          <p:cNvSpPr/>
          <p:nvPr/>
        </p:nvSpPr>
        <p:spPr>
          <a:xfrm>
            <a:off x="777240" y="3840480"/>
            <a:ext cx="5257800" cy="411480"/>
          </a:xfrm>
          <a:prstGeom prst="rect">
            <a:avLst/>
          </a:prstGeom>
          <a:noFill/>
          <a:ln/>
        </p:spPr>
        <p:txBody>
          <a:bodyPr wrap="square" rtlCol="0" anchor="ctr"/>
          <a:lstStyle/>
          <a:p>
            <a:pPr indent="0" marL="0">
              <a:buNone/>
            </a:pPr>
            <a:r>
              <a:rPr lang="en-US" sz="1600" b="1" dirty="0">
                <a:solidFill>
                  <a:srgbClr val="FBBF24"/>
                </a:solidFill>
                <a:latin typeface="Cambria" pitchFamily="34" charset="0"/>
                <a:ea typeface="Cambria" pitchFamily="34" charset="-122"/>
                <a:cs typeface="Cambria" pitchFamily="34" charset="-120"/>
              </a:rPr>
              <a:t>y(t)</a:t>
            </a:r>
            <a:pPr indent="0" marL="0">
              <a:buNone/>
            </a:pPr>
            <a:r>
              <a:rPr lang="en-US" sz="1500" dirty="0">
                <a:solidFill>
                  <a:srgbClr val="E2E8F0"/>
                </a:solidFill>
                <a:latin typeface="Calibri" pitchFamily="34" charset="0"/>
                <a:ea typeface="Calibri" pitchFamily="34" charset="-122"/>
                <a:cs typeface="Calibri" pitchFamily="34" charset="-120"/>
              </a:rPr>
              <a:t>   =   valoarea curenta (ce vrem sa prezicem)</a:t>
            </a:r>
            <a:endParaRPr lang="en-US" sz="1600" dirty="0"/>
          </a:p>
        </p:txBody>
      </p:sp>
      <p:sp>
        <p:nvSpPr>
          <p:cNvPr id="12" name="Text 10"/>
          <p:cNvSpPr/>
          <p:nvPr/>
        </p:nvSpPr>
        <p:spPr>
          <a:xfrm>
            <a:off x="777240" y="4297680"/>
            <a:ext cx="5257800" cy="411480"/>
          </a:xfrm>
          <a:prstGeom prst="rect">
            <a:avLst/>
          </a:prstGeom>
          <a:noFill/>
          <a:ln/>
        </p:spPr>
        <p:txBody>
          <a:bodyPr wrap="square" rtlCol="0" anchor="ctr"/>
          <a:lstStyle/>
          <a:p>
            <a:pPr indent="0" marL="0">
              <a:buNone/>
            </a:pPr>
            <a:r>
              <a:rPr lang="en-US" sz="1600" b="1" dirty="0">
                <a:solidFill>
                  <a:srgbClr val="FBBF24"/>
                </a:solidFill>
                <a:latin typeface="Cambria" pitchFamily="34" charset="0"/>
                <a:ea typeface="Cambria" pitchFamily="34" charset="-122"/>
                <a:cs typeface="Cambria" pitchFamily="34" charset="-120"/>
              </a:rPr>
              <a:t>y(t-1)</a:t>
            </a:r>
            <a:pPr indent="0" marL="0">
              <a:buNone/>
            </a:pPr>
            <a:r>
              <a:rPr lang="en-US" sz="1500" dirty="0">
                <a:solidFill>
                  <a:srgbClr val="E2E8F0"/>
                </a:solidFill>
                <a:latin typeface="Calibri" pitchFamily="34" charset="0"/>
                <a:ea typeface="Calibri" pitchFamily="34" charset="-122"/>
                <a:cs typeface="Calibri" pitchFamily="34" charset="-120"/>
              </a:rPr>
              <a:t>   =   valoarea anterioara (cunoscuta)</a:t>
            </a:r>
            <a:endParaRPr lang="en-US" sz="1600" dirty="0"/>
          </a:p>
        </p:txBody>
      </p:sp>
      <p:sp>
        <p:nvSpPr>
          <p:cNvPr id="13" name="Text 11"/>
          <p:cNvSpPr/>
          <p:nvPr/>
        </p:nvSpPr>
        <p:spPr>
          <a:xfrm>
            <a:off x="777240" y="4754880"/>
            <a:ext cx="5257800" cy="411480"/>
          </a:xfrm>
          <a:prstGeom prst="rect">
            <a:avLst/>
          </a:prstGeom>
          <a:noFill/>
          <a:ln/>
        </p:spPr>
        <p:txBody>
          <a:bodyPr wrap="square" rtlCol="0" anchor="ctr"/>
          <a:lstStyle/>
          <a:p>
            <a:pPr indent="0" marL="0">
              <a:buNone/>
            </a:pPr>
            <a:r>
              <a:rPr lang="en-US" sz="1600" b="1" dirty="0">
                <a:solidFill>
                  <a:srgbClr val="FBBF24"/>
                </a:solidFill>
                <a:latin typeface="Cambria" pitchFamily="34" charset="0"/>
                <a:ea typeface="Cambria" pitchFamily="34" charset="-122"/>
                <a:cs typeface="Cambria" pitchFamily="34" charset="-120"/>
              </a:rPr>
              <a:t>φ (phi)</a:t>
            </a:r>
            <a:pPr indent="0" marL="0">
              <a:buNone/>
            </a:pPr>
            <a:r>
              <a:rPr lang="en-US" sz="1500" dirty="0">
                <a:solidFill>
                  <a:srgbClr val="E2E8F0"/>
                </a:solidFill>
                <a:latin typeface="Calibri" pitchFamily="34" charset="0"/>
                <a:ea typeface="Calibri" pitchFamily="34" charset="-122"/>
                <a:cs typeface="Calibri" pitchFamily="34" charset="-120"/>
              </a:rPr>
              <a:t>   =   coeficientul de autoregresivitate</a:t>
            </a:r>
            <a:endParaRPr lang="en-US" sz="1600" dirty="0"/>
          </a:p>
        </p:txBody>
      </p:sp>
      <p:sp>
        <p:nvSpPr>
          <p:cNvPr id="14" name="Text 12"/>
          <p:cNvSpPr/>
          <p:nvPr/>
        </p:nvSpPr>
        <p:spPr>
          <a:xfrm>
            <a:off x="777240" y="5212080"/>
            <a:ext cx="5257800" cy="411480"/>
          </a:xfrm>
          <a:prstGeom prst="rect">
            <a:avLst/>
          </a:prstGeom>
          <a:noFill/>
          <a:ln/>
        </p:spPr>
        <p:txBody>
          <a:bodyPr wrap="square" rtlCol="0" anchor="ctr"/>
          <a:lstStyle/>
          <a:p>
            <a:pPr indent="0" marL="0">
              <a:buNone/>
            </a:pPr>
            <a:r>
              <a:rPr lang="en-US" sz="1600" b="1" dirty="0">
                <a:solidFill>
                  <a:srgbClr val="FBBF24"/>
                </a:solidFill>
                <a:latin typeface="Cambria" pitchFamily="34" charset="0"/>
                <a:ea typeface="Cambria" pitchFamily="34" charset="-122"/>
                <a:cs typeface="Cambria" pitchFamily="34" charset="-120"/>
              </a:rPr>
              <a:t>c, ε</a:t>
            </a:r>
            <a:pPr indent="0" marL="0">
              <a:buNone/>
            </a:pPr>
            <a:r>
              <a:rPr lang="en-US" sz="1500" dirty="0">
                <a:solidFill>
                  <a:srgbClr val="E2E8F0"/>
                </a:solidFill>
                <a:latin typeface="Calibri" pitchFamily="34" charset="0"/>
                <a:ea typeface="Calibri" pitchFamily="34" charset="-122"/>
                <a:cs typeface="Calibri" pitchFamily="34" charset="-120"/>
              </a:rPr>
              <a:t>   =   constanta si zgomot aleator</a:t>
            </a:r>
            <a:endParaRPr lang="en-US" sz="1600" dirty="0"/>
          </a:p>
        </p:txBody>
      </p:sp>
      <p:sp>
        <p:nvSpPr>
          <p:cNvPr id="15" name="Shape 13"/>
          <p:cNvSpPr/>
          <p:nvPr/>
        </p:nvSpPr>
        <p:spPr>
          <a:xfrm>
            <a:off x="6400800" y="2423160"/>
            <a:ext cx="5303520" cy="3703320"/>
          </a:xfrm>
          <a:prstGeom prst="rect">
            <a:avLst/>
          </a:prstGeom>
          <a:solidFill>
            <a:srgbClr val="1E1A3A"/>
          </a:solidFill>
          <a:ln w="12700">
            <a:solidFill>
              <a:srgbClr val="1E1A3A"/>
            </a:solidFill>
            <a:prstDash val="solid"/>
          </a:ln>
        </p:spPr>
      </p:sp>
      <p:sp>
        <p:nvSpPr>
          <p:cNvPr id="16" name="Shape 14"/>
          <p:cNvSpPr/>
          <p:nvPr/>
        </p:nvSpPr>
        <p:spPr>
          <a:xfrm>
            <a:off x="6400800" y="2423160"/>
            <a:ext cx="137160" cy="3703320"/>
          </a:xfrm>
          <a:prstGeom prst="rect">
            <a:avLst/>
          </a:prstGeom>
          <a:solidFill>
            <a:srgbClr val="818CF8"/>
          </a:solidFill>
          <a:ln w="12700">
            <a:solidFill>
              <a:srgbClr val="818CF8"/>
            </a:solidFill>
            <a:prstDash val="solid"/>
          </a:ln>
        </p:spPr>
      </p:sp>
      <p:sp>
        <p:nvSpPr>
          <p:cNvPr id="17" name="Text 15"/>
          <p:cNvSpPr/>
          <p:nvPr/>
        </p:nvSpPr>
        <p:spPr>
          <a:xfrm>
            <a:off x="6629400" y="2514600"/>
            <a:ext cx="5029200" cy="411480"/>
          </a:xfrm>
          <a:prstGeom prst="rect">
            <a:avLst/>
          </a:prstGeom>
          <a:noFill/>
          <a:ln/>
        </p:spPr>
        <p:txBody>
          <a:bodyPr wrap="square" rtlCol="0" anchor="ctr"/>
          <a:lstStyle/>
          <a:p>
            <a:pPr indent="0" marL="0">
              <a:buNone/>
            </a:pPr>
            <a:r>
              <a:rPr lang="en-US" sz="2000" b="1" dirty="0">
                <a:solidFill>
                  <a:srgbClr val="818CF8"/>
                </a:solidFill>
                <a:latin typeface="Cambria" pitchFamily="34" charset="0"/>
                <a:ea typeface="Cambria" pitchFamily="34" charset="-122"/>
                <a:cs typeface="Cambria" pitchFamily="34" charset="-120"/>
              </a:rPr>
              <a:t>Cum interpretam φ?</a:t>
            </a:r>
            <a:endParaRPr lang="en-US" sz="2000" dirty="0"/>
          </a:p>
        </p:txBody>
      </p:sp>
      <p:sp>
        <p:nvSpPr>
          <p:cNvPr id="18" name="Text 16"/>
          <p:cNvSpPr/>
          <p:nvPr/>
        </p:nvSpPr>
        <p:spPr>
          <a:xfrm>
            <a:off x="6629400" y="3017520"/>
            <a:ext cx="4937760" cy="3017520"/>
          </a:xfrm>
          <a:prstGeom prst="rect">
            <a:avLst/>
          </a:prstGeom>
          <a:noFill/>
          <a:ln/>
        </p:spPr>
        <p:txBody>
          <a:bodyPr wrap="square" rtlCol="0" anchor="t"/>
          <a:lstStyle/>
          <a:p>
            <a:pPr indent="0" marL="0">
              <a:lnSpc>
                <a:spcPct val="120000"/>
              </a:lnSpc>
              <a:buNone/>
            </a:pPr>
            <a:r>
              <a:rPr lang="en-US" sz="1700" b="1" dirty="0">
                <a:solidFill>
                  <a:srgbClr val="34D399"/>
                </a:solidFill>
                <a:latin typeface="Calibri" pitchFamily="34" charset="0"/>
                <a:ea typeface="Calibri" pitchFamily="34" charset="-122"/>
                <a:cs typeface="Calibri" pitchFamily="34" charset="-120"/>
              </a:rPr>
              <a:t>φ ≈ 1: </a:t>
            </a:r>
            <a:pPr indent="0" marL="0">
              <a:lnSpc>
                <a:spcPct val="120000"/>
              </a:lnSpc>
              <a:buNone/>
            </a:pPr>
            <a:r>
              <a:rPr lang="en-US" sz="1600" dirty="0">
                <a:solidFill>
                  <a:srgbClr val="E2E8F0"/>
                </a:solidFill>
                <a:latin typeface="Calibri" pitchFamily="34" charset="0"/>
                <a:ea typeface="Calibri" pitchFamily="34" charset="-122"/>
                <a:cs typeface="Calibri" pitchFamily="34" charset="-120"/>
              </a:rPr>
              <a:t>autoregresivitate puternica
</a:t>
            </a:r>
            <a:pPr indent="0" marL="0">
              <a:lnSpc>
                <a:spcPct val="120000"/>
              </a:lnSpc>
              <a:buNone/>
            </a:pPr>
            <a:r>
              <a:rPr lang="en-US" sz="1400" i="1" dirty="0">
                <a:solidFill>
                  <a:srgbClr val="94A3B8"/>
                </a:solidFill>
                <a:latin typeface="Calibri" pitchFamily="34" charset="0"/>
                <a:ea typeface="Calibri" pitchFamily="34" charset="-122"/>
                <a:cs typeface="Calibri" pitchFamily="34" charset="-120"/>
              </a:rPr>
              <a:t>Conversatie — trecutul prezice perfect.
</a:t>
            </a:r>
            <a:pPr indent="0" marL="0">
              <a:lnSpc>
                <a:spcPct val="120000"/>
              </a:lnSpc>
              <a:buNone/>
            </a:pPr>
            <a:r>
              <a:rPr lang="en-US" sz="1700" b="1" dirty="0">
                <a:solidFill>
                  <a:srgbClr val="FBBF24"/>
                </a:solidFill>
                <a:latin typeface="Calibri" pitchFamily="34" charset="0"/>
                <a:ea typeface="Calibri" pitchFamily="34" charset="-122"/>
                <a:cs typeface="Calibri" pitchFamily="34" charset="-120"/>
              </a:rPr>
              <a:t>φ ≈ 0.5: </a:t>
            </a:r>
            <a:pPr indent="0" marL="0">
              <a:lnSpc>
                <a:spcPct val="120000"/>
              </a:lnSpc>
              <a:buNone/>
            </a:pPr>
            <a:r>
              <a:rPr lang="en-US" sz="1600" dirty="0">
                <a:solidFill>
                  <a:srgbClr val="E2E8F0"/>
                </a:solidFill>
                <a:latin typeface="Calibri" pitchFamily="34" charset="0"/>
                <a:ea typeface="Calibri" pitchFamily="34" charset="-122"/>
                <a:cs typeface="Calibri" pitchFamily="34" charset="-120"/>
              </a:rPr>
              <a:t>autoregresivitate moderata
</a:t>
            </a:r>
            <a:pPr indent="0" marL="0">
              <a:lnSpc>
                <a:spcPct val="120000"/>
              </a:lnSpc>
              <a:buNone/>
            </a:pPr>
            <a:r>
              <a:rPr lang="en-US" sz="1400" i="1" dirty="0">
                <a:solidFill>
                  <a:srgbClr val="94A3B8"/>
                </a:solidFill>
                <a:latin typeface="Calibri" pitchFamily="34" charset="0"/>
                <a:ea typeface="Calibri" pitchFamily="34" charset="-122"/>
                <a:cs typeface="Calibri" pitchFamily="34" charset="-120"/>
              </a:rPr>
              <a:t>Trecutul ajuta, dar nu suficient.
</a:t>
            </a:r>
            <a:pPr indent="0" marL="0">
              <a:lnSpc>
                <a:spcPct val="120000"/>
              </a:lnSpc>
              <a:buNone/>
            </a:pPr>
            <a:r>
              <a:rPr lang="en-US" sz="1700" b="1" dirty="0">
                <a:solidFill>
                  <a:srgbClr val="F472B6"/>
                </a:solidFill>
                <a:latin typeface="Calibri" pitchFamily="34" charset="0"/>
                <a:ea typeface="Calibri" pitchFamily="34" charset="-122"/>
                <a:cs typeface="Calibri" pitchFamily="34" charset="-120"/>
              </a:rPr>
              <a:t>φ ≈ 0: </a:t>
            </a:r>
            <a:pPr indent="0" marL="0">
              <a:lnSpc>
                <a:spcPct val="120000"/>
              </a:lnSpc>
              <a:buNone/>
            </a:pPr>
            <a:r>
              <a:rPr lang="en-US" sz="1600" dirty="0">
                <a:solidFill>
                  <a:srgbClr val="E2E8F0"/>
                </a:solidFill>
                <a:latin typeface="Calibri" pitchFamily="34" charset="0"/>
                <a:ea typeface="Calibri" pitchFamily="34" charset="-122"/>
                <a:cs typeface="Calibri" pitchFamily="34" charset="-120"/>
              </a:rPr>
              <a:t>zgomot pur
</a:t>
            </a:r>
            <a:pPr indent="0" marL="0">
              <a:lnSpc>
                <a:spcPct val="120000"/>
              </a:lnSpc>
              <a:buNone/>
            </a:pPr>
            <a:r>
              <a:rPr lang="en-US" sz="1400" i="1" dirty="0">
                <a:solidFill>
                  <a:srgbClr val="94A3B8"/>
                </a:solidFill>
                <a:latin typeface="Calibri" pitchFamily="34" charset="0"/>
                <a:ea typeface="Calibri" pitchFamily="34" charset="-122"/>
                <a:cs typeface="Calibri" pitchFamily="34" charset="-120"/>
              </a:rPr>
              <a:t>Zgomot radio - trecutul inutil.</a:t>
            </a:r>
            <a:endParaRPr lang="en-US" sz="1700" dirty="0"/>
          </a:p>
        </p:txBody>
      </p:sp>
      <p:sp>
        <p:nvSpPr>
          <p:cNvPr id="19" name="Text 17"/>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20" name="Text 18"/>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18 / 28</a:t>
            </a:r>
            <a:endParaRPr lang="en-US" sz="1100" dirty="0"/>
          </a:p>
        </p:txBody>
      </p:sp>
    </p:spTree>
  </p:cSld>
  <p:transition xmlns:p="http://schemas.openxmlformats.org/presentationml/2006/main" spd="med">
    <p:fade/>
  </p:transition>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51025"/>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818CF8">
              <a:alpha val="15000"/>
            </a:srgbClr>
          </a:solidFill>
          <a:ln w="12700">
            <a:solidFill>
              <a:srgbClr val="818CF8">
                <a:alpha val="15000"/>
              </a:srgbClr>
            </a:solidFill>
            <a:prstDash val="solid"/>
          </a:ln>
        </p:spPr>
      </p:sp>
      <p:sp>
        <p:nvSpPr>
          <p:cNvPr id="3" name="Shape 1"/>
          <p:cNvSpPr/>
          <p:nvPr/>
        </p:nvSpPr>
        <p:spPr>
          <a:xfrm>
            <a:off x="10515600" y="5212080"/>
            <a:ext cx="3200400" cy="3200400"/>
          </a:xfrm>
          <a:prstGeom prst="ellipse">
            <a:avLst/>
          </a:prstGeom>
          <a:solidFill>
            <a:srgbClr val="F472B6">
              <a:alpha val="12000"/>
            </a:srgbClr>
          </a:solidFill>
          <a:ln w="12700">
            <a:solidFill>
              <a:srgbClr val="F472B6">
                <a:alpha val="12000"/>
              </a:srgbClr>
            </a:solidFill>
            <a:prstDash val="solid"/>
          </a:ln>
        </p:spPr>
      </p:sp>
      <p:sp>
        <p:nvSpPr>
          <p:cNvPr id="4" name="Shape 2"/>
          <p:cNvSpPr/>
          <p:nvPr/>
        </p:nvSpPr>
        <p:spPr>
          <a:xfrm>
            <a:off x="0" y="0"/>
            <a:ext cx="12161520" cy="164592"/>
          </a:xfrm>
          <a:prstGeom prst="rect">
            <a:avLst/>
          </a:prstGeom>
          <a:solidFill>
            <a:srgbClr val="FBBF24"/>
          </a:solidFill>
          <a:ln w="12700">
            <a:solidFill>
              <a:srgbClr val="FBBF24"/>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FBBF24"/>
                </a:solidFill>
                <a:latin typeface="Calibri" pitchFamily="34" charset="0"/>
                <a:ea typeface="Calibri" pitchFamily="34" charset="-122"/>
                <a:cs typeface="Calibri" pitchFamily="34" charset="-120"/>
              </a:rPr>
              <a:t>TEHNICA 2 / IMPLEMENTARE</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Aplicarea: lag features</a:t>
            </a:r>
            <a:endParaRPr lang="en-US" sz="3600" dirty="0"/>
          </a:p>
        </p:txBody>
      </p:sp>
      <p:sp>
        <p:nvSpPr>
          <p:cNvPr id="7" name="Shape 5"/>
          <p:cNvSpPr/>
          <p:nvPr/>
        </p:nvSpPr>
        <p:spPr>
          <a:xfrm>
            <a:off x="548640" y="1691640"/>
            <a:ext cx="1645920" cy="54864"/>
          </a:xfrm>
          <a:prstGeom prst="rect">
            <a:avLst/>
          </a:prstGeom>
          <a:solidFill>
            <a:srgbClr val="F472B6"/>
          </a:solidFill>
          <a:ln w="12700">
            <a:solidFill>
              <a:srgbClr val="F472B6"/>
            </a:solidFill>
            <a:prstDash val="solid"/>
          </a:ln>
        </p:spPr>
      </p:sp>
      <p:sp>
        <p:nvSpPr>
          <p:cNvPr id="8" name="Text 6"/>
          <p:cNvSpPr/>
          <p:nvPr/>
        </p:nvSpPr>
        <p:spPr>
          <a:xfrm>
            <a:off x="548640" y="1828800"/>
            <a:ext cx="11064240" cy="457200"/>
          </a:xfrm>
          <a:prstGeom prst="rect">
            <a:avLst/>
          </a:prstGeom>
          <a:noFill/>
          <a:ln/>
        </p:spPr>
        <p:txBody>
          <a:bodyPr wrap="square" rtlCol="0" anchor="ctr"/>
          <a:lstStyle/>
          <a:p>
            <a:pPr indent="0" marL="0">
              <a:buNone/>
            </a:pPr>
            <a:r>
              <a:rPr lang="en-US" sz="1900" i="1" dirty="0">
                <a:solidFill>
                  <a:srgbClr val="E2E8F0"/>
                </a:solidFill>
                <a:latin typeface="Calibri" pitchFamily="34" charset="0"/>
                <a:ea typeface="Calibri" pitchFamily="34" charset="-122"/>
                <a:cs typeface="Calibri" pitchFamily="34" charset="-120"/>
              </a:rPr>
              <a:t>Cum aplicam autoregresivitatea in practica? Adaugam coloane noi cu valori decalate.</a:t>
            </a:r>
            <a:endParaRPr lang="en-US" sz="1900" dirty="0"/>
          </a:p>
        </p:txBody>
      </p:sp>
      <p:sp>
        <p:nvSpPr>
          <p:cNvPr id="9" name="Shape 7"/>
          <p:cNvSpPr/>
          <p:nvPr/>
        </p:nvSpPr>
        <p:spPr>
          <a:xfrm>
            <a:off x="548640" y="2423160"/>
            <a:ext cx="5669280" cy="2331720"/>
          </a:xfrm>
          <a:prstGeom prst="rect">
            <a:avLst/>
          </a:prstGeom>
          <a:solidFill>
            <a:srgbClr val="1E1A3A"/>
          </a:solidFill>
          <a:ln w="25400">
            <a:solidFill>
              <a:srgbClr val="F472B6"/>
            </a:solidFill>
            <a:prstDash val="solid"/>
          </a:ln>
        </p:spPr>
      </p:sp>
      <p:sp>
        <p:nvSpPr>
          <p:cNvPr id="10" name="Text 8"/>
          <p:cNvSpPr/>
          <p:nvPr/>
        </p:nvSpPr>
        <p:spPr>
          <a:xfrm>
            <a:off x="777240" y="2514600"/>
            <a:ext cx="5440680" cy="365760"/>
          </a:xfrm>
          <a:prstGeom prst="rect">
            <a:avLst/>
          </a:prstGeom>
          <a:noFill/>
          <a:ln/>
        </p:spPr>
        <p:txBody>
          <a:bodyPr wrap="square" rtlCol="0" anchor="ctr"/>
          <a:lstStyle/>
          <a:p>
            <a:pPr indent="0" marL="0">
              <a:buNone/>
            </a:pPr>
            <a:r>
              <a:rPr lang="en-US" sz="1700" b="1" dirty="0">
                <a:solidFill>
                  <a:srgbClr val="F472B6"/>
                </a:solidFill>
                <a:latin typeface="Calibri" pitchFamily="34" charset="0"/>
                <a:ea typeface="Calibri" pitchFamily="34" charset="-122"/>
                <a:cs typeface="Calibri" pitchFamily="34" charset="-120"/>
              </a:rPr>
              <a:t>Cod Python (pandas)</a:t>
            </a:r>
            <a:endParaRPr lang="en-US" sz="1700" dirty="0"/>
          </a:p>
        </p:txBody>
      </p:sp>
      <p:sp>
        <p:nvSpPr>
          <p:cNvPr id="11" name="Shape 9"/>
          <p:cNvSpPr/>
          <p:nvPr/>
        </p:nvSpPr>
        <p:spPr>
          <a:xfrm>
            <a:off x="777240" y="2926080"/>
            <a:ext cx="5440680" cy="1737360"/>
          </a:xfrm>
          <a:prstGeom prst="rect">
            <a:avLst/>
          </a:prstGeom>
          <a:solidFill>
            <a:srgbClr val="151025"/>
          </a:solidFill>
          <a:ln w="12700">
            <a:solidFill>
              <a:srgbClr val="151025"/>
            </a:solidFill>
            <a:prstDash val="solid"/>
          </a:ln>
        </p:spPr>
      </p:sp>
      <p:sp>
        <p:nvSpPr>
          <p:cNvPr id="12" name="Text 10"/>
          <p:cNvSpPr/>
          <p:nvPr/>
        </p:nvSpPr>
        <p:spPr>
          <a:xfrm>
            <a:off x="960120" y="3108960"/>
            <a:ext cx="5074920" cy="1417320"/>
          </a:xfrm>
          <a:prstGeom prst="rect">
            <a:avLst/>
          </a:prstGeom>
          <a:noFill/>
          <a:ln/>
        </p:spPr>
        <p:txBody>
          <a:bodyPr wrap="square" rtlCol="0" anchor="ctr"/>
          <a:lstStyle/>
          <a:p>
            <a:pPr indent="0" marL="0">
              <a:buNone/>
            </a:pPr>
            <a:r>
              <a:rPr lang="en-US" sz="1700" dirty="0">
                <a:solidFill>
                  <a:srgbClr val="FFFFFF"/>
                </a:solidFill>
                <a:latin typeface="Consolas" pitchFamily="34" charset="0"/>
                <a:ea typeface="Consolas" pitchFamily="34" charset="-122"/>
                <a:cs typeface="Consolas" pitchFamily="34" charset="-120"/>
              </a:rPr>
              <a:t>df['lag_1']   = df['pret'].shift(1)
</a:t>
            </a:r>
            <a:pPr indent="0" marL="0">
              <a:buNone/>
            </a:pPr>
            <a:r>
              <a:rPr lang="en-US" sz="1700" dirty="0">
                <a:solidFill>
                  <a:srgbClr val="FFFFFF"/>
                </a:solidFill>
                <a:latin typeface="Consolas" pitchFamily="34" charset="0"/>
                <a:ea typeface="Consolas" pitchFamily="34" charset="-122"/>
                <a:cs typeface="Consolas" pitchFamily="34" charset="-120"/>
              </a:rPr>
              <a:t>df['lag_24']  = df['pret'].shift(24)
</a:t>
            </a:r>
            <a:pPr indent="0" marL="0">
              <a:buNone/>
            </a:pPr>
            <a:r>
              <a:rPr lang="en-US" sz="1700" dirty="0">
                <a:solidFill>
                  <a:srgbClr val="FFFFFF"/>
                </a:solidFill>
                <a:latin typeface="Consolas" pitchFamily="34" charset="0"/>
                <a:ea typeface="Consolas" pitchFamily="34" charset="-122"/>
                <a:cs typeface="Consolas" pitchFamily="34" charset="-120"/>
              </a:rPr>
              <a:t>df['lag_168'] = df['pret'].shift(168)</a:t>
            </a:r>
            <a:endParaRPr lang="en-US" sz="1700" dirty="0"/>
          </a:p>
        </p:txBody>
      </p:sp>
      <p:sp>
        <p:nvSpPr>
          <p:cNvPr id="13" name="Shape 11"/>
          <p:cNvSpPr/>
          <p:nvPr/>
        </p:nvSpPr>
        <p:spPr>
          <a:xfrm>
            <a:off x="6400800" y="2423160"/>
            <a:ext cx="5303520" cy="777240"/>
          </a:xfrm>
          <a:prstGeom prst="rect">
            <a:avLst/>
          </a:prstGeom>
          <a:solidFill>
            <a:srgbClr val="1E1A3A"/>
          </a:solidFill>
          <a:ln w="12700">
            <a:solidFill>
              <a:srgbClr val="1E1A3A"/>
            </a:solidFill>
            <a:prstDash val="solid"/>
          </a:ln>
        </p:spPr>
      </p:sp>
      <p:sp>
        <p:nvSpPr>
          <p:cNvPr id="14" name="Shape 12"/>
          <p:cNvSpPr/>
          <p:nvPr/>
        </p:nvSpPr>
        <p:spPr>
          <a:xfrm>
            <a:off x="6400800" y="2423160"/>
            <a:ext cx="137160" cy="777240"/>
          </a:xfrm>
          <a:prstGeom prst="rect">
            <a:avLst/>
          </a:prstGeom>
          <a:solidFill>
            <a:srgbClr val="818CF8"/>
          </a:solidFill>
          <a:ln w="12700">
            <a:solidFill>
              <a:srgbClr val="818CF8"/>
            </a:solidFill>
            <a:prstDash val="solid"/>
          </a:ln>
        </p:spPr>
      </p:sp>
      <p:sp>
        <p:nvSpPr>
          <p:cNvPr id="15" name="Text 13"/>
          <p:cNvSpPr/>
          <p:nvPr/>
        </p:nvSpPr>
        <p:spPr>
          <a:xfrm>
            <a:off x="6629400" y="2487168"/>
            <a:ext cx="5029200" cy="685800"/>
          </a:xfrm>
          <a:prstGeom prst="rect">
            <a:avLst/>
          </a:prstGeom>
          <a:noFill/>
          <a:ln/>
        </p:spPr>
        <p:txBody>
          <a:bodyPr wrap="square" rtlCol="0" anchor="t"/>
          <a:lstStyle/>
          <a:p>
            <a:pPr indent="0" marL="0">
              <a:lnSpc>
                <a:spcPct val="115000"/>
              </a:lnSpc>
              <a:buNone/>
            </a:pPr>
            <a:r>
              <a:rPr lang="en-US" sz="1600" b="1" dirty="0">
                <a:solidFill>
                  <a:srgbClr val="818CF8"/>
                </a:solidFill>
                <a:latin typeface="Consolas" pitchFamily="34" charset="0"/>
                <a:ea typeface="Consolas" pitchFamily="34" charset="-122"/>
                <a:cs typeface="Consolas" pitchFamily="34" charset="-120"/>
              </a:rPr>
              <a:t>lag_1</a:t>
            </a:r>
            <a:pPr indent="0" marL="0">
              <a:lnSpc>
                <a:spcPct val="115000"/>
              </a:lnSpc>
              <a:buNone/>
            </a:pPr>
            <a:r>
              <a:rPr lang="en-US" sz="1400" dirty="0">
                <a:solidFill>
                  <a:srgbClr val="94A3B8"/>
                </a:solidFill>
                <a:latin typeface="Calibri" pitchFamily="34" charset="0"/>
                <a:ea typeface="Calibri" pitchFamily="34" charset="-122"/>
                <a:cs typeface="Calibri" pitchFamily="34" charset="-120"/>
              </a:rPr>
              <a:t>  •  </a:t>
            </a:r>
            <a:pPr indent="0" marL="0">
              <a:lnSpc>
                <a:spcPct val="115000"/>
              </a:lnSpc>
              <a:buNone/>
            </a:pPr>
            <a:r>
              <a:rPr lang="en-US" sz="1400" b="1" dirty="0">
                <a:solidFill>
                  <a:srgbClr val="E2E8F0"/>
                </a:solidFill>
                <a:latin typeface="Calibri" pitchFamily="34" charset="0"/>
                <a:ea typeface="Calibri" pitchFamily="34" charset="-122"/>
                <a:cs typeface="Calibri" pitchFamily="34" charset="-120"/>
              </a:rPr>
              <a:t>Valoarea acum 1 ora
</a:t>
            </a:r>
            <a:pPr indent="0" marL="0">
              <a:lnSpc>
                <a:spcPct val="115000"/>
              </a:lnSpc>
              <a:buNone/>
            </a:pPr>
            <a:r>
              <a:rPr lang="en-US" sz="1200" i="1" dirty="0">
                <a:solidFill>
                  <a:srgbClr val="94A3B8"/>
                </a:solidFill>
                <a:latin typeface="Calibri" pitchFamily="34" charset="0"/>
                <a:ea typeface="Calibri" pitchFamily="34" charset="-122"/>
                <a:cs typeface="Calibri" pitchFamily="34" charset="-120"/>
              </a:rPr>
              <a:t>Memorie scurta - cea mai informativa</a:t>
            </a:r>
            <a:endParaRPr lang="en-US" sz="1600" dirty="0"/>
          </a:p>
        </p:txBody>
      </p:sp>
      <p:sp>
        <p:nvSpPr>
          <p:cNvPr id="16" name="Shape 14"/>
          <p:cNvSpPr/>
          <p:nvPr/>
        </p:nvSpPr>
        <p:spPr>
          <a:xfrm>
            <a:off x="6400800" y="3246120"/>
            <a:ext cx="5303520" cy="777240"/>
          </a:xfrm>
          <a:prstGeom prst="rect">
            <a:avLst/>
          </a:prstGeom>
          <a:solidFill>
            <a:srgbClr val="1E1A3A"/>
          </a:solidFill>
          <a:ln w="12700">
            <a:solidFill>
              <a:srgbClr val="1E1A3A"/>
            </a:solidFill>
            <a:prstDash val="solid"/>
          </a:ln>
        </p:spPr>
      </p:sp>
      <p:sp>
        <p:nvSpPr>
          <p:cNvPr id="17" name="Shape 15"/>
          <p:cNvSpPr/>
          <p:nvPr/>
        </p:nvSpPr>
        <p:spPr>
          <a:xfrm>
            <a:off x="6400800" y="3246120"/>
            <a:ext cx="137160" cy="777240"/>
          </a:xfrm>
          <a:prstGeom prst="rect">
            <a:avLst/>
          </a:prstGeom>
          <a:solidFill>
            <a:srgbClr val="F472B6"/>
          </a:solidFill>
          <a:ln w="12700">
            <a:solidFill>
              <a:srgbClr val="F472B6"/>
            </a:solidFill>
            <a:prstDash val="solid"/>
          </a:ln>
        </p:spPr>
      </p:sp>
      <p:sp>
        <p:nvSpPr>
          <p:cNvPr id="18" name="Text 16"/>
          <p:cNvSpPr/>
          <p:nvPr/>
        </p:nvSpPr>
        <p:spPr>
          <a:xfrm>
            <a:off x="6629400" y="3310128"/>
            <a:ext cx="5029200" cy="685800"/>
          </a:xfrm>
          <a:prstGeom prst="rect">
            <a:avLst/>
          </a:prstGeom>
          <a:noFill/>
          <a:ln/>
        </p:spPr>
        <p:txBody>
          <a:bodyPr wrap="square" rtlCol="0" anchor="t"/>
          <a:lstStyle/>
          <a:p>
            <a:pPr indent="0" marL="0">
              <a:lnSpc>
                <a:spcPct val="115000"/>
              </a:lnSpc>
              <a:buNone/>
            </a:pPr>
            <a:r>
              <a:rPr lang="en-US" sz="1600" b="1" dirty="0">
                <a:solidFill>
                  <a:srgbClr val="F472B6"/>
                </a:solidFill>
                <a:latin typeface="Consolas" pitchFamily="34" charset="0"/>
                <a:ea typeface="Consolas" pitchFamily="34" charset="-122"/>
                <a:cs typeface="Consolas" pitchFamily="34" charset="-120"/>
              </a:rPr>
              <a:t>lag_24</a:t>
            </a:r>
            <a:pPr indent="0" marL="0">
              <a:lnSpc>
                <a:spcPct val="115000"/>
              </a:lnSpc>
              <a:buNone/>
            </a:pPr>
            <a:r>
              <a:rPr lang="en-US" sz="1400" dirty="0">
                <a:solidFill>
                  <a:srgbClr val="94A3B8"/>
                </a:solidFill>
                <a:latin typeface="Calibri" pitchFamily="34" charset="0"/>
                <a:ea typeface="Calibri" pitchFamily="34" charset="-122"/>
                <a:cs typeface="Calibri" pitchFamily="34" charset="-120"/>
              </a:rPr>
              <a:t>  •  </a:t>
            </a:r>
            <a:pPr indent="0" marL="0">
              <a:lnSpc>
                <a:spcPct val="115000"/>
              </a:lnSpc>
              <a:buNone/>
            </a:pPr>
            <a:r>
              <a:rPr lang="en-US" sz="1400" b="1" dirty="0">
                <a:solidFill>
                  <a:srgbClr val="E2E8F0"/>
                </a:solidFill>
                <a:latin typeface="Calibri" pitchFamily="34" charset="0"/>
                <a:ea typeface="Calibri" pitchFamily="34" charset="-122"/>
                <a:cs typeface="Calibri" pitchFamily="34" charset="-120"/>
              </a:rPr>
              <a:t>Valoarea acum 24 ore
</a:t>
            </a:r>
            <a:pPr indent="0" marL="0">
              <a:lnSpc>
                <a:spcPct val="115000"/>
              </a:lnSpc>
              <a:buNone/>
            </a:pPr>
            <a:r>
              <a:rPr lang="en-US" sz="1200" i="1" dirty="0">
                <a:solidFill>
                  <a:srgbClr val="94A3B8"/>
                </a:solidFill>
                <a:latin typeface="Calibri" pitchFamily="34" charset="0"/>
                <a:ea typeface="Calibri" pitchFamily="34" charset="-122"/>
                <a:cs typeface="Calibri" pitchFamily="34" charset="-120"/>
              </a:rPr>
              <a:t>Ritm zilnic - acelasi moment ieri</a:t>
            </a:r>
            <a:endParaRPr lang="en-US" sz="1600" dirty="0"/>
          </a:p>
        </p:txBody>
      </p:sp>
      <p:sp>
        <p:nvSpPr>
          <p:cNvPr id="19" name="Shape 17"/>
          <p:cNvSpPr/>
          <p:nvPr/>
        </p:nvSpPr>
        <p:spPr>
          <a:xfrm>
            <a:off x="6400800" y="4069080"/>
            <a:ext cx="5303520" cy="777240"/>
          </a:xfrm>
          <a:prstGeom prst="rect">
            <a:avLst/>
          </a:prstGeom>
          <a:solidFill>
            <a:srgbClr val="1E1A3A"/>
          </a:solidFill>
          <a:ln w="12700">
            <a:solidFill>
              <a:srgbClr val="1E1A3A"/>
            </a:solidFill>
            <a:prstDash val="solid"/>
          </a:ln>
        </p:spPr>
      </p:sp>
      <p:sp>
        <p:nvSpPr>
          <p:cNvPr id="20" name="Shape 18"/>
          <p:cNvSpPr/>
          <p:nvPr/>
        </p:nvSpPr>
        <p:spPr>
          <a:xfrm>
            <a:off x="6400800" y="4069080"/>
            <a:ext cx="137160" cy="777240"/>
          </a:xfrm>
          <a:prstGeom prst="rect">
            <a:avLst/>
          </a:prstGeom>
          <a:solidFill>
            <a:srgbClr val="FBBF24"/>
          </a:solidFill>
          <a:ln w="12700">
            <a:solidFill>
              <a:srgbClr val="FBBF24"/>
            </a:solidFill>
            <a:prstDash val="solid"/>
          </a:ln>
        </p:spPr>
      </p:sp>
      <p:sp>
        <p:nvSpPr>
          <p:cNvPr id="21" name="Text 19"/>
          <p:cNvSpPr/>
          <p:nvPr/>
        </p:nvSpPr>
        <p:spPr>
          <a:xfrm>
            <a:off x="6629400" y="4133088"/>
            <a:ext cx="5029200" cy="685800"/>
          </a:xfrm>
          <a:prstGeom prst="rect">
            <a:avLst/>
          </a:prstGeom>
          <a:noFill/>
          <a:ln/>
        </p:spPr>
        <p:txBody>
          <a:bodyPr wrap="square" rtlCol="0" anchor="t"/>
          <a:lstStyle/>
          <a:p>
            <a:pPr indent="0" marL="0">
              <a:lnSpc>
                <a:spcPct val="115000"/>
              </a:lnSpc>
              <a:buNone/>
            </a:pPr>
            <a:r>
              <a:rPr lang="en-US" sz="1600" b="1" dirty="0">
                <a:solidFill>
                  <a:srgbClr val="FBBF24"/>
                </a:solidFill>
                <a:latin typeface="Consolas" pitchFamily="34" charset="0"/>
                <a:ea typeface="Consolas" pitchFamily="34" charset="-122"/>
                <a:cs typeface="Consolas" pitchFamily="34" charset="-120"/>
              </a:rPr>
              <a:t>lag_168</a:t>
            </a:r>
            <a:pPr indent="0" marL="0">
              <a:lnSpc>
                <a:spcPct val="115000"/>
              </a:lnSpc>
              <a:buNone/>
            </a:pPr>
            <a:r>
              <a:rPr lang="en-US" sz="1400" dirty="0">
                <a:solidFill>
                  <a:srgbClr val="94A3B8"/>
                </a:solidFill>
                <a:latin typeface="Calibri" pitchFamily="34" charset="0"/>
                <a:ea typeface="Calibri" pitchFamily="34" charset="-122"/>
                <a:cs typeface="Calibri" pitchFamily="34" charset="-120"/>
              </a:rPr>
              <a:t>  •  </a:t>
            </a:r>
            <a:pPr indent="0" marL="0">
              <a:lnSpc>
                <a:spcPct val="115000"/>
              </a:lnSpc>
              <a:buNone/>
            </a:pPr>
            <a:r>
              <a:rPr lang="en-US" sz="1400" b="1" dirty="0">
                <a:solidFill>
                  <a:srgbClr val="E2E8F0"/>
                </a:solidFill>
                <a:latin typeface="Calibri" pitchFamily="34" charset="0"/>
                <a:ea typeface="Calibri" pitchFamily="34" charset="-122"/>
                <a:cs typeface="Calibri" pitchFamily="34" charset="-120"/>
              </a:rPr>
              <a:t>Valoarea acum 168 ore
</a:t>
            </a:r>
            <a:pPr indent="0" marL="0">
              <a:lnSpc>
                <a:spcPct val="115000"/>
              </a:lnSpc>
              <a:buNone/>
            </a:pPr>
            <a:r>
              <a:rPr lang="en-US" sz="1200" i="1" dirty="0">
                <a:solidFill>
                  <a:srgbClr val="94A3B8"/>
                </a:solidFill>
                <a:latin typeface="Calibri" pitchFamily="34" charset="0"/>
                <a:ea typeface="Calibri" pitchFamily="34" charset="-122"/>
                <a:cs typeface="Calibri" pitchFamily="34" charset="-120"/>
              </a:rPr>
              <a:t>Ritm saptamanal - aceeasi zi saptamana trecuta</a:t>
            </a:r>
            <a:endParaRPr lang="en-US" sz="1600" dirty="0"/>
          </a:p>
        </p:txBody>
      </p:sp>
      <p:sp>
        <p:nvSpPr>
          <p:cNvPr id="22" name="Shape 20"/>
          <p:cNvSpPr/>
          <p:nvPr/>
        </p:nvSpPr>
        <p:spPr>
          <a:xfrm>
            <a:off x="548640" y="5074920"/>
            <a:ext cx="11064240" cy="1234440"/>
          </a:xfrm>
          <a:prstGeom prst="rect">
            <a:avLst/>
          </a:prstGeom>
          <a:solidFill>
            <a:srgbClr val="1E1A3A"/>
          </a:solidFill>
          <a:ln w="12700">
            <a:solidFill>
              <a:srgbClr val="1E1A3A"/>
            </a:solidFill>
            <a:prstDash val="solid"/>
          </a:ln>
        </p:spPr>
      </p:sp>
      <p:sp>
        <p:nvSpPr>
          <p:cNvPr id="23" name="Shape 21"/>
          <p:cNvSpPr/>
          <p:nvPr/>
        </p:nvSpPr>
        <p:spPr>
          <a:xfrm>
            <a:off x="548640" y="5074920"/>
            <a:ext cx="137160" cy="1234440"/>
          </a:xfrm>
          <a:prstGeom prst="rect">
            <a:avLst/>
          </a:prstGeom>
          <a:solidFill>
            <a:srgbClr val="34D399"/>
          </a:solidFill>
          <a:ln w="12700">
            <a:solidFill>
              <a:srgbClr val="34D399"/>
            </a:solidFill>
            <a:prstDash val="solid"/>
          </a:ln>
        </p:spPr>
      </p:sp>
      <p:sp>
        <p:nvSpPr>
          <p:cNvPr id="24" name="Text 22"/>
          <p:cNvSpPr/>
          <p:nvPr/>
        </p:nvSpPr>
        <p:spPr>
          <a:xfrm>
            <a:off x="777240" y="5166360"/>
            <a:ext cx="10607040" cy="1097280"/>
          </a:xfrm>
          <a:prstGeom prst="rect">
            <a:avLst/>
          </a:prstGeom>
          <a:noFill/>
          <a:ln/>
        </p:spPr>
        <p:txBody>
          <a:bodyPr wrap="square" rtlCol="0" anchor="t"/>
          <a:lstStyle/>
          <a:p>
            <a:pPr indent="0" marL="0">
              <a:lnSpc>
                <a:spcPct val="125000"/>
              </a:lnSpc>
              <a:buNone/>
            </a:pPr>
            <a:r>
              <a:rPr lang="en-US" sz="1900" b="1" dirty="0">
                <a:solidFill>
                  <a:srgbClr val="34D399"/>
                </a:solidFill>
                <a:latin typeface="Calibri" pitchFamily="34" charset="0"/>
                <a:ea typeface="Calibri" pitchFamily="34" charset="-122"/>
                <a:cs typeface="Calibri" pitchFamily="34" charset="-120"/>
              </a:rPr>
              <a:t>Descoperirea cheie a lucrarii
</a:t>
            </a:r>
            <a:pPr indent="0" marL="0">
              <a:lnSpc>
                <a:spcPct val="125000"/>
              </a:lnSpc>
              <a:buNone/>
            </a:pPr>
            <a:r>
              <a:rPr lang="en-US" sz="1600" dirty="0">
                <a:solidFill>
                  <a:srgbClr val="E2E8F0"/>
                </a:solidFill>
                <a:latin typeface="Calibri" pitchFamily="34" charset="0"/>
                <a:ea typeface="Calibri" pitchFamily="34" charset="-122"/>
                <a:cs typeface="Calibri" pitchFamily="34" charset="-120"/>
              </a:rPr>
              <a:t>Pe modelul XGBoost antrenat pe consumul SUA: </a:t>
            </a:r>
            <a:pPr indent="0" marL="0">
              <a:lnSpc>
                <a:spcPct val="125000"/>
              </a:lnSpc>
              <a:buNone/>
            </a:pPr>
            <a:r>
              <a:rPr lang="en-US" sz="1600" b="1" dirty="0">
                <a:solidFill>
                  <a:srgbClr val="FFFFFF"/>
                </a:solidFill>
                <a:latin typeface="Calibri" pitchFamily="34" charset="0"/>
                <a:ea typeface="Calibri" pitchFamily="34" charset="-122"/>
                <a:cs typeface="Calibri" pitchFamily="34" charset="-120"/>
              </a:rPr>
              <a:t>lag_1 explica peste 90% din decizia modelului</a:t>
            </a:r>
            <a:pPr indent="0" marL="0">
              <a:lnSpc>
                <a:spcPct val="125000"/>
              </a:lnSpc>
              <a:buNone/>
            </a:pPr>
            <a:r>
              <a:rPr lang="en-US" sz="1600" dirty="0">
                <a:solidFill>
                  <a:srgbClr val="E2E8F0"/>
                </a:solidFill>
                <a:latin typeface="Calibri" pitchFamily="34" charset="0"/>
                <a:ea typeface="Calibri" pitchFamily="34" charset="-122"/>
                <a:cs typeface="Calibri" pitchFamily="34" charset="-120"/>
              </a:rPr>
              <a:t>. Toate celelalte 28 de features explica restul de 10%.</a:t>
            </a:r>
            <a:endParaRPr lang="en-US" sz="1900" dirty="0"/>
          </a:p>
        </p:txBody>
      </p:sp>
      <p:sp>
        <p:nvSpPr>
          <p:cNvPr id="25" name="Text 23"/>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26" name="Text 24"/>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19 / 28</a:t>
            </a:r>
            <a:endParaRPr lang="en-US" sz="1100" dirty="0"/>
          </a:p>
        </p:txBody>
      </p:sp>
    </p:spTree>
  </p:cSld>
  <p:transition xmlns:p="http://schemas.openxmlformats.org/presentationml/2006/main" spd="med">
    <p:fade/>
  </p:transition>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51025"/>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818CF8">
              <a:alpha val="15000"/>
            </a:srgbClr>
          </a:solidFill>
          <a:ln w="12700">
            <a:solidFill>
              <a:srgbClr val="818CF8">
                <a:alpha val="15000"/>
              </a:srgbClr>
            </a:solidFill>
            <a:prstDash val="solid"/>
          </a:ln>
        </p:spPr>
      </p:sp>
      <p:sp>
        <p:nvSpPr>
          <p:cNvPr id="3" name="Shape 1"/>
          <p:cNvSpPr/>
          <p:nvPr/>
        </p:nvSpPr>
        <p:spPr>
          <a:xfrm>
            <a:off x="10515600" y="5212080"/>
            <a:ext cx="3200400" cy="3200400"/>
          </a:xfrm>
          <a:prstGeom prst="ellipse">
            <a:avLst/>
          </a:prstGeom>
          <a:solidFill>
            <a:srgbClr val="F472B6">
              <a:alpha val="12000"/>
            </a:srgbClr>
          </a:solidFill>
          <a:ln w="12700">
            <a:solidFill>
              <a:srgbClr val="F472B6">
                <a:alpha val="12000"/>
              </a:srgbClr>
            </a:solidFill>
            <a:prstDash val="solid"/>
          </a:ln>
        </p:spPr>
      </p:sp>
      <p:sp>
        <p:nvSpPr>
          <p:cNvPr id="4" name="Shape 2"/>
          <p:cNvSpPr/>
          <p:nvPr/>
        </p:nvSpPr>
        <p:spPr>
          <a:xfrm>
            <a:off x="0" y="0"/>
            <a:ext cx="12161520" cy="164592"/>
          </a:xfrm>
          <a:prstGeom prst="rect">
            <a:avLst/>
          </a:prstGeom>
          <a:solidFill>
            <a:srgbClr val="FBBF24"/>
          </a:solidFill>
          <a:ln w="12700">
            <a:solidFill>
              <a:srgbClr val="FBBF24"/>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FBBF24"/>
                </a:solidFill>
                <a:latin typeface="Calibri" pitchFamily="34" charset="0"/>
                <a:ea typeface="Calibri" pitchFamily="34" charset="-122"/>
                <a:cs typeface="Calibri" pitchFamily="34" charset="-120"/>
              </a:rPr>
              <a:t>TEHNICA 2 / VIZUALIZARE 1/2</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Vedem autoregresivitatea in serie</a:t>
            </a:r>
            <a:endParaRPr lang="en-US" sz="3600" dirty="0"/>
          </a:p>
        </p:txBody>
      </p:sp>
      <p:sp>
        <p:nvSpPr>
          <p:cNvPr id="7" name="Shape 5"/>
          <p:cNvSpPr/>
          <p:nvPr/>
        </p:nvSpPr>
        <p:spPr>
          <a:xfrm>
            <a:off x="548640" y="1691640"/>
            <a:ext cx="1645920" cy="54864"/>
          </a:xfrm>
          <a:prstGeom prst="rect">
            <a:avLst/>
          </a:prstGeom>
          <a:solidFill>
            <a:srgbClr val="F472B6"/>
          </a:solidFill>
          <a:ln w="12700">
            <a:solidFill>
              <a:srgbClr val="F472B6"/>
            </a:solidFill>
            <a:prstDash val="solid"/>
          </a:ln>
        </p:spPr>
      </p:sp>
      <p:pic>
        <p:nvPicPr>
          <p:cNvPr id="8" name="Image 0" descr="/sessions/vibrant-elegant-pasteur/mnt/Disertatie_AI_Platform/reports/figures/fig_fe_ar_series_animated.gif">    </p:cNvPr>
          <p:cNvPicPr>
            <a:picLocks noChangeAspect="1"/>
          </p:cNvPicPr>
          <p:nvPr/>
        </p:nvPicPr>
        <p:blipFill>
          <a:blip r:embed="rId1"/>
          <a:srcRect l="0" r="0" t="0" b="0"/>
          <a:stretch/>
        </p:blipFill>
        <p:spPr>
          <a:xfrm>
            <a:off x="365760" y="1828800"/>
            <a:ext cx="7772400" cy="4114800"/>
          </a:xfrm>
          <a:prstGeom prst="rect">
            <a:avLst/>
          </a:prstGeom>
        </p:spPr>
      </p:pic>
      <p:sp>
        <p:nvSpPr>
          <p:cNvPr id="9" name="Shape 6"/>
          <p:cNvSpPr/>
          <p:nvPr/>
        </p:nvSpPr>
        <p:spPr>
          <a:xfrm>
            <a:off x="8412480" y="1828800"/>
            <a:ext cx="3291840" cy="4114800"/>
          </a:xfrm>
          <a:prstGeom prst="rect">
            <a:avLst/>
          </a:prstGeom>
          <a:solidFill>
            <a:srgbClr val="1E1A3A"/>
          </a:solidFill>
          <a:ln w="12700">
            <a:solidFill>
              <a:srgbClr val="1E1A3A"/>
            </a:solidFill>
            <a:prstDash val="solid"/>
          </a:ln>
        </p:spPr>
      </p:sp>
      <p:sp>
        <p:nvSpPr>
          <p:cNvPr id="10" name="Shape 7"/>
          <p:cNvSpPr/>
          <p:nvPr/>
        </p:nvSpPr>
        <p:spPr>
          <a:xfrm>
            <a:off x="8412480" y="1828800"/>
            <a:ext cx="137160" cy="4114800"/>
          </a:xfrm>
          <a:prstGeom prst="rect">
            <a:avLst/>
          </a:prstGeom>
          <a:solidFill>
            <a:srgbClr val="F472B6"/>
          </a:solidFill>
          <a:ln w="12700">
            <a:solidFill>
              <a:srgbClr val="F472B6"/>
            </a:solidFill>
            <a:prstDash val="solid"/>
          </a:ln>
        </p:spPr>
      </p:sp>
      <p:sp>
        <p:nvSpPr>
          <p:cNvPr id="11" name="Text 8"/>
          <p:cNvSpPr/>
          <p:nvPr/>
        </p:nvSpPr>
        <p:spPr>
          <a:xfrm>
            <a:off x="8641080" y="1920240"/>
            <a:ext cx="3063240" cy="411480"/>
          </a:xfrm>
          <a:prstGeom prst="rect">
            <a:avLst/>
          </a:prstGeom>
          <a:noFill/>
          <a:ln/>
        </p:spPr>
        <p:txBody>
          <a:bodyPr wrap="square" rtlCol="0" anchor="ctr"/>
          <a:lstStyle/>
          <a:p>
            <a:pPr indent="0" marL="0">
              <a:buNone/>
            </a:pPr>
            <a:r>
              <a:rPr lang="en-US" sz="1700" b="1" dirty="0">
                <a:solidFill>
                  <a:srgbClr val="F472B6"/>
                </a:solidFill>
                <a:latin typeface="Cambria" pitchFamily="34" charset="0"/>
                <a:ea typeface="Cambria" pitchFamily="34" charset="-122"/>
                <a:cs typeface="Cambria" pitchFamily="34" charset="-120"/>
              </a:rPr>
              <a:t>Ce vezi in animatie?</a:t>
            </a:r>
            <a:endParaRPr lang="en-US" sz="1700" dirty="0"/>
          </a:p>
        </p:txBody>
      </p:sp>
      <p:sp>
        <p:nvSpPr>
          <p:cNvPr id="12" name="Text 9"/>
          <p:cNvSpPr/>
          <p:nvPr/>
        </p:nvSpPr>
        <p:spPr>
          <a:xfrm>
            <a:off x="8686800" y="2423160"/>
            <a:ext cx="3017520" cy="3383280"/>
          </a:xfrm>
          <a:prstGeom prst="rect">
            <a:avLst/>
          </a:prstGeom>
          <a:noFill/>
          <a:ln/>
        </p:spPr>
        <p:txBody>
          <a:bodyPr wrap="square" rtlCol="0" anchor="t"/>
          <a:lstStyle/>
          <a:p>
            <a:pPr indent="0" marL="0">
              <a:lnSpc>
                <a:spcPct val="125000"/>
              </a:lnSpc>
              <a:buNone/>
            </a:pPr>
            <a:r>
              <a:rPr lang="en-US" sz="1300" dirty="0">
                <a:solidFill>
                  <a:srgbClr val="E2E8F0"/>
                </a:solidFill>
                <a:latin typeface="Calibri" pitchFamily="34" charset="0"/>
                <a:ea typeface="Calibri" pitchFamily="34" charset="-122"/>
                <a:cs typeface="Calibri" pitchFamily="34" charset="-120"/>
              </a:rPr>
              <a:t>Coeficientul φ </a:t>
            </a:r>
            <a:pPr indent="0" marL="0">
              <a:lnSpc>
                <a:spcPct val="125000"/>
              </a:lnSpc>
              <a:buNone/>
            </a:pPr>
            <a:r>
              <a:rPr lang="en-US" sz="1300" b="1" dirty="0">
                <a:solidFill>
                  <a:srgbClr val="FFFFFF"/>
                </a:solidFill>
                <a:latin typeface="Calibri" pitchFamily="34" charset="0"/>
                <a:ea typeface="Calibri" pitchFamily="34" charset="-122"/>
                <a:cs typeface="Calibri" pitchFamily="34" charset="-120"/>
              </a:rPr>
              <a:t>creste de la 0 la 1</a:t>
            </a:r>
            <a:pPr indent="0" marL="0">
              <a:lnSpc>
                <a:spcPct val="125000"/>
              </a:lnSpc>
              <a:buNone/>
            </a:pPr>
            <a:r>
              <a:rPr lang="en-US" sz="1300" dirty="0">
                <a:solidFill>
                  <a:srgbClr val="E2E8F0"/>
                </a:solidFill>
                <a:latin typeface="Calibri" pitchFamily="34" charset="0"/>
                <a:ea typeface="Calibri" pitchFamily="34" charset="-122"/>
                <a:cs typeface="Calibri" pitchFamily="34" charset="-120"/>
              </a:rPr>
              <a:t>.
</a:t>
            </a:r>
            <a:pPr indent="0" marL="0">
              <a:lnSpc>
                <a:spcPct val="125000"/>
              </a:lnSpc>
              <a:buNone/>
            </a:pPr>
            <a:r>
              <a:rPr lang="en-US" sz="1300" dirty="0">
                <a:solidFill>
                  <a:srgbClr val="E2E8F0"/>
                </a:solidFill>
                <a:latin typeface="Calibri" pitchFamily="34" charset="0"/>
                <a:ea typeface="Calibri" pitchFamily="34" charset="-122"/>
                <a:cs typeface="Calibri" pitchFamily="34" charset="-120"/>
              </a:rPr>
              <a:t>La φ mic — seria sare </a:t>
            </a:r>
            <a:pPr indent="0" marL="0">
              <a:lnSpc>
                <a:spcPct val="125000"/>
              </a:lnSpc>
              <a:buNone/>
            </a:pPr>
            <a:r>
              <a:rPr lang="en-US" sz="1300" b="1" dirty="0">
                <a:solidFill>
                  <a:srgbClr val="F472B6"/>
                </a:solidFill>
                <a:latin typeface="Calibri" pitchFamily="34" charset="0"/>
                <a:ea typeface="Calibri" pitchFamily="34" charset="-122"/>
                <a:cs typeface="Calibri" pitchFamily="34" charset="-120"/>
              </a:rPr>
              <a:t>haotic</a:t>
            </a:r>
            <a:pPr indent="0" marL="0">
              <a:lnSpc>
                <a:spcPct val="125000"/>
              </a:lnSpc>
              <a:buNone/>
            </a:pPr>
            <a:r>
              <a:rPr lang="en-US" sz="1300" dirty="0">
                <a:solidFill>
                  <a:srgbClr val="E2E8F0"/>
                </a:solidFill>
                <a:latin typeface="Calibri" pitchFamily="34" charset="0"/>
                <a:ea typeface="Calibri" pitchFamily="34" charset="-122"/>
                <a:cs typeface="Calibri" pitchFamily="34" charset="-120"/>
              </a:rPr>
              <a:t> (zgomot).
</a:t>
            </a:r>
            <a:pPr indent="0" marL="0">
              <a:lnSpc>
                <a:spcPct val="125000"/>
              </a:lnSpc>
              <a:buNone/>
            </a:pPr>
            <a:r>
              <a:rPr lang="en-US" sz="1300" dirty="0">
                <a:solidFill>
                  <a:srgbClr val="E2E8F0"/>
                </a:solidFill>
                <a:latin typeface="Calibri" pitchFamily="34" charset="0"/>
                <a:ea typeface="Calibri" pitchFamily="34" charset="-122"/>
                <a:cs typeface="Calibri" pitchFamily="34" charset="-120"/>
              </a:rPr>
              <a:t>La φ mare — valoarea curenta </a:t>
            </a:r>
            <a:pPr indent="0" marL="0">
              <a:lnSpc>
                <a:spcPct val="125000"/>
              </a:lnSpc>
              <a:buNone/>
            </a:pPr>
            <a:r>
              <a:rPr lang="en-US" sz="1300" b="1" dirty="0">
                <a:solidFill>
                  <a:srgbClr val="34D399"/>
                </a:solidFill>
                <a:latin typeface="Calibri" pitchFamily="34" charset="0"/>
                <a:ea typeface="Calibri" pitchFamily="34" charset="-122"/>
                <a:cs typeface="Calibri" pitchFamily="34" charset="-120"/>
              </a:rPr>
              <a:t>urmareste lin</a:t>
            </a:r>
            <a:pPr indent="0" marL="0">
              <a:lnSpc>
                <a:spcPct val="125000"/>
              </a:lnSpc>
              <a:buNone/>
            </a:pPr>
            <a:r>
              <a:rPr lang="en-US" sz="1300" dirty="0">
                <a:solidFill>
                  <a:srgbClr val="E2E8F0"/>
                </a:solidFill>
                <a:latin typeface="Calibri" pitchFamily="34" charset="0"/>
                <a:ea typeface="Calibri" pitchFamily="34" charset="-122"/>
                <a:cs typeface="Calibri" pitchFamily="34" charset="-120"/>
              </a:rPr>
              <a:t> valoarea anterioara.
</a:t>
            </a:r>
            <a:pPr indent="0" marL="0">
              <a:lnSpc>
                <a:spcPct val="125000"/>
              </a:lnSpc>
              <a:buNone/>
            </a:pPr>
            <a:r>
              <a:rPr lang="en-US" sz="1300" i="1" dirty="0">
                <a:solidFill>
                  <a:srgbClr val="E2E8F0"/>
                </a:solidFill>
                <a:latin typeface="Calibri" pitchFamily="34" charset="0"/>
                <a:ea typeface="Calibri" pitchFamily="34" charset="-122"/>
                <a:cs typeface="Calibri" pitchFamily="34" charset="-120"/>
              </a:rPr>
              <a:t>Datele energetice sunt aici — φ ≈ 0.99.</a:t>
            </a:r>
            <a:endParaRPr lang="en-US" sz="1300" dirty="0"/>
          </a:p>
        </p:txBody>
      </p:sp>
      <p:sp>
        <p:nvSpPr>
          <p:cNvPr id="13" name="Shape 10"/>
          <p:cNvSpPr/>
          <p:nvPr/>
        </p:nvSpPr>
        <p:spPr>
          <a:xfrm>
            <a:off x="548640" y="6126480"/>
            <a:ext cx="11064240" cy="164592"/>
          </a:xfrm>
          <a:prstGeom prst="rect">
            <a:avLst/>
          </a:prstGeom>
          <a:solidFill>
            <a:srgbClr val="FBBF24"/>
          </a:solidFill>
          <a:ln w="12700">
            <a:solidFill>
              <a:srgbClr val="FBBF24"/>
            </a:solidFill>
            <a:prstDash val="solid"/>
          </a:ln>
        </p:spPr>
      </p:sp>
      <p:sp>
        <p:nvSpPr>
          <p:cNvPr id="14" name="Text 11"/>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15" name="Text 12"/>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20 / 28</a:t>
            </a:r>
            <a:endParaRPr lang="en-US" sz="1100" dirty="0"/>
          </a:p>
        </p:txBody>
      </p:sp>
    </p:spTree>
  </p:cSld>
  <p:transition xmlns:p="http://schemas.openxmlformats.org/presentationml/2006/main" spd="med">
    <p:fade/>
  </p:transition>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51025"/>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818CF8">
              <a:alpha val="15000"/>
            </a:srgbClr>
          </a:solidFill>
          <a:ln w="12700">
            <a:solidFill>
              <a:srgbClr val="818CF8">
                <a:alpha val="15000"/>
              </a:srgbClr>
            </a:solidFill>
            <a:prstDash val="solid"/>
          </a:ln>
        </p:spPr>
      </p:sp>
      <p:sp>
        <p:nvSpPr>
          <p:cNvPr id="3" name="Shape 1"/>
          <p:cNvSpPr/>
          <p:nvPr/>
        </p:nvSpPr>
        <p:spPr>
          <a:xfrm>
            <a:off x="10515600" y="5212080"/>
            <a:ext cx="3200400" cy="3200400"/>
          </a:xfrm>
          <a:prstGeom prst="ellipse">
            <a:avLst/>
          </a:prstGeom>
          <a:solidFill>
            <a:srgbClr val="F472B6">
              <a:alpha val="12000"/>
            </a:srgbClr>
          </a:solidFill>
          <a:ln w="12700">
            <a:solidFill>
              <a:srgbClr val="F472B6">
                <a:alpha val="12000"/>
              </a:srgbClr>
            </a:solidFill>
            <a:prstDash val="solid"/>
          </a:ln>
        </p:spPr>
      </p:sp>
      <p:sp>
        <p:nvSpPr>
          <p:cNvPr id="4" name="Shape 2"/>
          <p:cNvSpPr/>
          <p:nvPr/>
        </p:nvSpPr>
        <p:spPr>
          <a:xfrm>
            <a:off x="0" y="0"/>
            <a:ext cx="12161520" cy="164592"/>
          </a:xfrm>
          <a:prstGeom prst="rect">
            <a:avLst/>
          </a:prstGeom>
          <a:solidFill>
            <a:srgbClr val="FBBF24"/>
          </a:solidFill>
          <a:ln w="12700">
            <a:solidFill>
              <a:srgbClr val="FBBF24"/>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FBBF24"/>
                </a:solidFill>
                <a:latin typeface="Calibri" pitchFamily="34" charset="0"/>
                <a:ea typeface="Calibri" pitchFamily="34" charset="-122"/>
                <a:cs typeface="Calibri" pitchFamily="34" charset="-120"/>
              </a:rPr>
              <a:t>TEHNICA 2 / VIZUALIZARE 2/2</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Vedem autoregresivitatea in scatter</a:t>
            </a:r>
            <a:endParaRPr lang="en-US" sz="3600" dirty="0"/>
          </a:p>
        </p:txBody>
      </p:sp>
      <p:sp>
        <p:nvSpPr>
          <p:cNvPr id="7" name="Shape 5"/>
          <p:cNvSpPr/>
          <p:nvPr/>
        </p:nvSpPr>
        <p:spPr>
          <a:xfrm>
            <a:off x="548640" y="1691640"/>
            <a:ext cx="1645920" cy="54864"/>
          </a:xfrm>
          <a:prstGeom prst="rect">
            <a:avLst/>
          </a:prstGeom>
          <a:solidFill>
            <a:srgbClr val="F472B6"/>
          </a:solidFill>
          <a:ln w="12700">
            <a:solidFill>
              <a:srgbClr val="F472B6"/>
            </a:solidFill>
            <a:prstDash val="solid"/>
          </a:ln>
        </p:spPr>
      </p:sp>
      <p:pic>
        <p:nvPicPr>
          <p:cNvPr id="8" name="Image 0" descr="/sessions/vibrant-elegant-pasteur/mnt/Disertatie_AI_Platform/reports/figures/fig_fe_ar_scatter_animated.gif">    </p:cNvPr>
          <p:cNvPicPr>
            <a:picLocks noChangeAspect="1"/>
          </p:cNvPicPr>
          <p:nvPr/>
        </p:nvPicPr>
        <p:blipFill>
          <a:blip r:embed="rId1"/>
          <a:srcRect l="0" r="0" t="0" b="0"/>
          <a:stretch/>
        </p:blipFill>
        <p:spPr>
          <a:xfrm>
            <a:off x="365760" y="1783080"/>
            <a:ext cx="7772400" cy="4297680"/>
          </a:xfrm>
          <a:prstGeom prst="rect">
            <a:avLst/>
          </a:prstGeom>
        </p:spPr>
      </p:pic>
      <p:sp>
        <p:nvSpPr>
          <p:cNvPr id="9" name="Shape 6"/>
          <p:cNvSpPr/>
          <p:nvPr/>
        </p:nvSpPr>
        <p:spPr>
          <a:xfrm>
            <a:off x="8412480" y="1783080"/>
            <a:ext cx="3291840" cy="4297680"/>
          </a:xfrm>
          <a:prstGeom prst="rect">
            <a:avLst/>
          </a:prstGeom>
          <a:solidFill>
            <a:srgbClr val="1E1A3A"/>
          </a:solidFill>
          <a:ln w="12700">
            <a:solidFill>
              <a:srgbClr val="1E1A3A"/>
            </a:solidFill>
            <a:prstDash val="solid"/>
          </a:ln>
        </p:spPr>
      </p:sp>
      <p:sp>
        <p:nvSpPr>
          <p:cNvPr id="10" name="Shape 7"/>
          <p:cNvSpPr/>
          <p:nvPr/>
        </p:nvSpPr>
        <p:spPr>
          <a:xfrm>
            <a:off x="8412480" y="1783080"/>
            <a:ext cx="137160" cy="4297680"/>
          </a:xfrm>
          <a:prstGeom prst="rect">
            <a:avLst/>
          </a:prstGeom>
          <a:solidFill>
            <a:srgbClr val="818CF8"/>
          </a:solidFill>
          <a:ln w="12700">
            <a:solidFill>
              <a:srgbClr val="818CF8"/>
            </a:solidFill>
            <a:prstDash val="solid"/>
          </a:ln>
        </p:spPr>
      </p:sp>
      <p:sp>
        <p:nvSpPr>
          <p:cNvPr id="11" name="Text 8"/>
          <p:cNvSpPr/>
          <p:nvPr/>
        </p:nvSpPr>
        <p:spPr>
          <a:xfrm>
            <a:off x="8641080" y="1874520"/>
            <a:ext cx="3063240" cy="411480"/>
          </a:xfrm>
          <a:prstGeom prst="rect">
            <a:avLst/>
          </a:prstGeom>
          <a:noFill/>
          <a:ln/>
        </p:spPr>
        <p:txBody>
          <a:bodyPr wrap="square" rtlCol="0" anchor="ctr"/>
          <a:lstStyle/>
          <a:p>
            <a:pPr indent="0" marL="0">
              <a:buNone/>
            </a:pPr>
            <a:r>
              <a:rPr lang="en-US" sz="1700" b="1" dirty="0">
                <a:solidFill>
                  <a:srgbClr val="818CF8"/>
                </a:solidFill>
                <a:latin typeface="Cambria" pitchFamily="34" charset="0"/>
                <a:ea typeface="Cambria" pitchFamily="34" charset="-122"/>
                <a:cs typeface="Cambria" pitchFamily="34" charset="-120"/>
              </a:rPr>
              <a:t>Ce vezi in animatie?</a:t>
            </a:r>
            <a:endParaRPr lang="en-US" sz="1700" dirty="0"/>
          </a:p>
        </p:txBody>
      </p:sp>
      <p:sp>
        <p:nvSpPr>
          <p:cNvPr id="12" name="Text 9"/>
          <p:cNvSpPr/>
          <p:nvPr/>
        </p:nvSpPr>
        <p:spPr>
          <a:xfrm>
            <a:off x="8686800" y="2377440"/>
            <a:ext cx="3017520" cy="3657600"/>
          </a:xfrm>
          <a:prstGeom prst="rect">
            <a:avLst/>
          </a:prstGeom>
          <a:noFill/>
          <a:ln/>
        </p:spPr>
        <p:txBody>
          <a:bodyPr wrap="square" rtlCol="0" anchor="t"/>
          <a:lstStyle/>
          <a:p>
            <a:pPr indent="0" marL="0">
              <a:lnSpc>
                <a:spcPct val="125000"/>
              </a:lnSpc>
              <a:buNone/>
            </a:pPr>
            <a:r>
              <a:rPr lang="en-US" sz="1300" dirty="0">
                <a:solidFill>
                  <a:srgbClr val="E2E8F0"/>
                </a:solidFill>
                <a:latin typeface="Calibri" pitchFamily="34" charset="0"/>
                <a:ea typeface="Calibri" pitchFamily="34" charset="-122"/>
                <a:cs typeface="Calibri" pitchFamily="34" charset="-120"/>
              </a:rPr>
              <a:t>Punctele scatter: </a:t>
            </a:r>
            <a:pPr indent="0" marL="0">
              <a:lnSpc>
                <a:spcPct val="125000"/>
              </a:lnSpc>
              <a:buNone/>
            </a:pPr>
            <a:r>
              <a:rPr lang="en-US" sz="1300" b="1" dirty="0">
                <a:solidFill>
                  <a:srgbClr val="FFFFFF"/>
                </a:solidFill>
                <a:latin typeface="Calibri" pitchFamily="34" charset="0"/>
                <a:ea typeface="Calibri" pitchFamily="34" charset="-122"/>
                <a:cs typeface="Calibri" pitchFamily="34" charset="-120"/>
              </a:rPr>
              <a:t>y(t-1) pe X, y(t) pe Y</a:t>
            </a:r>
            <a:pPr indent="0" marL="0">
              <a:lnSpc>
                <a:spcPct val="125000"/>
              </a:lnSpc>
              <a:buNone/>
            </a:pPr>
            <a:r>
              <a:rPr lang="en-US" sz="1300" dirty="0">
                <a:solidFill>
                  <a:srgbClr val="E2E8F0"/>
                </a:solidFill>
                <a:latin typeface="Calibri" pitchFamily="34" charset="0"/>
                <a:ea typeface="Calibri" pitchFamily="34" charset="-122"/>
                <a:cs typeface="Calibri" pitchFamily="34" charset="-120"/>
              </a:rPr>
              <a:t>.
</a:t>
            </a:r>
            <a:pPr indent="0" marL="0">
              <a:lnSpc>
                <a:spcPct val="125000"/>
              </a:lnSpc>
              <a:buNone/>
            </a:pPr>
            <a:r>
              <a:rPr lang="en-US" sz="1300" dirty="0">
                <a:solidFill>
                  <a:srgbClr val="E2E8F0"/>
                </a:solidFill>
                <a:latin typeface="Calibri" pitchFamily="34" charset="0"/>
                <a:ea typeface="Calibri" pitchFamily="34" charset="-122"/>
                <a:cs typeface="Calibri" pitchFamily="34" charset="-120"/>
              </a:rPr>
              <a:t>Linia rosie: </a:t>
            </a:r>
            <a:pPr indent="0" marL="0">
              <a:lnSpc>
                <a:spcPct val="125000"/>
              </a:lnSpc>
              <a:buNone/>
            </a:pPr>
            <a:r>
              <a:rPr lang="en-US" sz="1300" b="1" dirty="0">
                <a:solidFill>
                  <a:srgbClr val="F472B6"/>
                </a:solidFill>
                <a:latin typeface="Calibri" pitchFamily="34" charset="0"/>
                <a:ea typeface="Calibri" pitchFamily="34" charset="-122"/>
                <a:cs typeface="Calibri" pitchFamily="34" charset="-120"/>
              </a:rPr>
              <a:t>y = x (diagonala perfecta)</a:t>
            </a:r>
            <a:pPr indent="0" marL="0">
              <a:lnSpc>
                <a:spcPct val="125000"/>
              </a:lnSpc>
              <a:buNone/>
            </a:pPr>
            <a:r>
              <a:rPr lang="en-US" sz="1300" dirty="0">
                <a:solidFill>
                  <a:srgbClr val="E2E8F0"/>
                </a:solidFill>
                <a:latin typeface="Calibri" pitchFamily="34" charset="0"/>
                <a:ea typeface="Calibri" pitchFamily="34" charset="-122"/>
                <a:cs typeface="Calibri" pitchFamily="34" charset="-120"/>
              </a:rPr>
              <a:t>.
</a:t>
            </a:r>
            <a:pPr indent="0" marL="0">
              <a:lnSpc>
                <a:spcPct val="125000"/>
              </a:lnSpc>
              <a:buNone/>
            </a:pPr>
            <a:r>
              <a:rPr lang="en-US" sz="1300" dirty="0">
                <a:solidFill>
                  <a:srgbClr val="E2E8F0"/>
                </a:solidFill>
                <a:latin typeface="Calibri" pitchFamily="34" charset="0"/>
                <a:ea typeface="Calibri" pitchFamily="34" charset="-122"/>
                <a:cs typeface="Calibri" pitchFamily="34" charset="-120"/>
              </a:rPr>
              <a:t>La φ mic — punctele formeaza </a:t>
            </a:r>
            <a:pPr indent="0" marL="0">
              <a:lnSpc>
                <a:spcPct val="125000"/>
              </a:lnSpc>
              <a:buNone/>
            </a:pPr>
            <a:r>
              <a:rPr lang="en-US" sz="1300" b="1" dirty="0">
                <a:solidFill>
                  <a:srgbClr val="F472B6"/>
                </a:solidFill>
                <a:latin typeface="Calibri" pitchFamily="34" charset="0"/>
                <a:ea typeface="Calibri" pitchFamily="34" charset="-122"/>
                <a:cs typeface="Calibri" pitchFamily="34" charset="-120"/>
              </a:rPr>
              <a:t>nor difuz</a:t>
            </a:r>
            <a:pPr indent="0" marL="0">
              <a:lnSpc>
                <a:spcPct val="125000"/>
              </a:lnSpc>
              <a:buNone/>
            </a:pPr>
            <a:r>
              <a:rPr lang="en-US" sz="1300" dirty="0">
                <a:solidFill>
                  <a:srgbClr val="E2E8F0"/>
                </a:solidFill>
                <a:latin typeface="Calibri" pitchFamily="34" charset="0"/>
                <a:ea typeface="Calibri" pitchFamily="34" charset="-122"/>
                <a:cs typeface="Calibri" pitchFamily="34" charset="-120"/>
              </a:rPr>
              <a:t>.
</a:t>
            </a:r>
            <a:pPr indent="0" marL="0">
              <a:lnSpc>
                <a:spcPct val="125000"/>
              </a:lnSpc>
              <a:buNone/>
            </a:pPr>
            <a:r>
              <a:rPr lang="en-US" sz="1300" dirty="0">
                <a:solidFill>
                  <a:srgbClr val="E2E8F0"/>
                </a:solidFill>
                <a:latin typeface="Calibri" pitchFamily="34" charset="0"/>
                <a:ea typeface="Calibri" pitchFamily="34" charset="-122"/>
                <a:cs typeface="Calibri" pitchFamily="34" charset="-120"/>
              </a:rPr>
              <a:t>La φ mare — punctele </a:t>
            </a:r>
            <a:pPr indent="0" marL="0">
              <a:lnSpc>
                <a:spcPct val="125000"/>
              </a:lnSpc>
              <a:buNone/>
            </a:pPr>
            <a:r>
              <a:rPr lang="en-US" sz="1300" b="1" dirty="0">
                <a:solidFill>
                  <a:srgbClr val="34D399"/>
                </a:solidFill>
                <a:latin typeface="Calibri" pitchFamily="34" charset="0"/>
                <a:ea typeface="Calibri" pitchFamily="34" charset="-122"/>
                <a:cs typeface="Calibri" pitchFamily="34" charset="-120"/>
              </a:rPr>
              <a:t>se aliniaza pe diagonala</a:t>
            </a:r>
            <a:pPr indent="0" marL="0">
              <a:lnSpc>
                <a:spcPct val="125000"/>
              </a:lnSpc>
              <a:buNone/>
            </a:pPr>
            <a:r>
              <a:rPr lang="en-US" sz="1300" dirty="0">
                <a:solidFill>
                  <a:srgbClr val="E2E8F0"/>
                </a:solidFill>
                <a:latin typeface="Calibri" pitchFamily="34" charset="0"/>
                <a:ea typeface="Calibri" pitchFamily="34" charset="-122"/>
                <a:cs typeface="Calibri" pitchFamily="34" charset="-120"/>
              </a:rPr>
              <a:t>.
</a:t>
            </a:r>
            <a:pPr indent="0" marL="0">
              <a:lnSpc>
                <a:spcPct val="125000"/>
              </a:lnSpc>
              <a:buNone/>
            </a:pPr>
            <a:r>
              <a:rPr lang="en-US" sz="1300" i="1" dirty="0">
                <a:solidFill>
                  <a:srgbClr val="E2E8F0"/>
                </a:solidFill>
                <a:latin typeface="Calibri" pitchFamily="34" charset="0"/>
                <a:ea typeface="Calibri" pitchFamily="34" charset="-122"/>
                <a:cs typeface="Calibri" pitchFamily="34" charset="-120"/>
              </a:rPr>
              <a:t>Corelatia masoara cat de aproape sunt punctele de diagonala.</a:t>
            </a:r>
            <a:endParaRPr lang="en-US" sz="1300" dirty="0"/>
          </a:p>
        </p:txBody>
      </p:sp>
      <p:sp>
        <p:nvSpPr>
          <p:cNvPr id="13" name="Text 10"/>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14" name="Text 11"/>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21 / 28</a:t>
            </a:r>
            <a:endParaRPr lang="en-US" sz="1100" dirty="0"/>
          </a:p>
        </p:txBody>
      </p:sp>
    </p:spTree>
  </p:cSld>
  <p:transition xmlns:p="http://schemas.openxmlformats.org/presentationml/2006/main" spd="med">
    <p:fade/>
  </p:transition>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51025"/>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818CF8">
              <a:alpha val="15000"/>
            </a:srgbClr>
          </a:solidFill>
          <a:ln w="12700">
            <a:solidFill>
              <a:srgbClr val="818CF8">
                <a:alpha val="15000"/>
              </a:srgbClr>
            </a:solidFill>
            <a:prstDash val="solid"/>
          </a:ln>
        </p:spPr>
      </p:sp>
      <p:sp>
        <p:nvSpPr>
          <p:cNvPr id="3" name="Shape 1"/>
          <p:cNvSpPr/>
          <p:nvPr/>
        </p:nvSpPr>
        <p:spPr>
          <a:xfrm>
            <a:off x="10515600" y="5212080"/>
            <a:ext cx="3200400" cy="3200400"/>
          </a:xfrm>
          <a:prstGeom prst="ellipse">
            <a:avLst/>
          </a:prstGeom>
          <a:solidFill>
            <a:srgbClr val="F472B6">
              <a:alpha val="12000"/>
            </a:srgbClr>
          </a:solidFill>
          <a:ln w="12700">
            <a:solidFill>
              <a:srgbClr val="F472B6">
                <a:alpha val="12000"/>
              </a:srgbClr>
            </a:solidFill>
            <a:prstDash val="solid"/>
          </a:ln>
        </p:spPr>
      </p:sp>
      <p:sp>
        <p:nvSpPr>
          <p:cNvPr id="4" name="Shape 2"/>
          <p:cNvSpPr/>
          <p:nvPr/>
        </p:nvSpPr>
        <p:spPr>
          <a:xfrm>
            <a:off x="0" y="0"/>
            <a:ext cx="12161520" cy="164592"/>
          </a:xfrm>
          <a:prstGeom prst="rect">
            <a:avLst/>
          </a:prstGeom>
          <a:solidFill>
            <a:srgbClr val="FBBF24"/>
          </a:solidFill>
          <a:ln w="12700">
            <a:solidFill>
              <a:srgbClr val="FBBF24"/>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FBBF24"/>
                </a:solidFill>
                <a:latin typeface="Calibri" pitchFamily="34" charset="0"/>
                <a:ea typeface="Calibri" pitchFamily="34" charset="-122"/>
                <a:cs typeface="Calibri" pitchFamily="34" charset="-120"/>
              </a:rPr>
              <a:t>TEHNICA 3 / ANALOGIE</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Cum masoara doctorul febra?</a:t>
            </a:r>
            <a:endParaRPr lang="en-US" sz="3600" dirty="0"/>
          </a:p>
        </p:txBody>
      </p:sp>
      <p:sp>
        <p:nvSpPr>
          <p:cNvPr id="7" name="Shape 5"/>
          <p:cNvSpPr/>
          <p:nvPr/>
        </p:nvSpPr>
        <p:spPr>
          <a:xfrm>
            <a:off x="548640" y="1691640"/>
            <a:ext cx="1645920" cy="54864"/>
          </a:xfrm>
          <a:prstGeom prst="rect">
            <a:avLst/>
          </a:prstGeom>
          <a:solidFill>
            <a:srgbClr val="F472B6"/>
          </a:solidFill>
          <a:ln w="12700">
            <a:solidFill>
              <a:srgbClr val="F472B6"/>
            </a:solidFill>
            <a:prstDash val="solid"/>
          </a:ln>
        </p:spPr>
      </p:sp>
      <p:sp>
        <p:nvSpPr>
          <p:cNvPr id="8" name="Text 6"/>
          <p:cNvSpPr/>
          <p:nvPr/>
        </p:nvSpPr>
        <p:spPr>
          <a:xfrm>
            <a:off x="548640" y="1920240"/>
            <a:ext cx="11064240" cy="548640"/>
          </a:xfrm>
          <a:prstGeom prst="rect">
            <a:avLst/>
          </a:prstGeom>
          <a:noFill/>
          <a:ln/>
        </p:spPr>
        <p:txBody>
          <a:bodyPr wrap="square" rtlCol="0" anchor="ctr"/>
          <a:lstStyle/>
          <a:p>
            <a:pPr indent="0" marL="0">
              <a:buNone/>
            </a:pPr>
            <a:r>
              <a:rPr lang="en-US" sz="1900" i="1" dirty="0">
                <a:solidFill>
                  <a:srgbClr val="E2E8F0"/>
                </a:solidFill>
                <a:latin typeface="Calibri" pitchFamily="34" charset="0"/>
                <a:ea typeface="Calibri" pitchFamily="34" charset="-122"/>
                <a:cs typeface="Calibri" pitchFamily="34" charset="-120"/>
              </a:rPr>
              <a:t>Analogie din viata medicala: cand un doctor vrea sa stie temperatura ta reala...</a:t>
            </a:r>
            <a:endParaRPr lang="en-US" sz="1900" dirty="0"/>
          </a:p>
        </p:txBody>
      </p:sp>
      <p:sp>
        <p:nvSpPr>
          <p:cNvPr id="9" name="Shape 7"/>
          <p:cNvSpPr/>
          <p:nvPr/>
        </p:nvSpPr>
        <p:spPr>
          <a:xfrm>
            <a:off x="548640" y="2697480"/>
            <a:ext cx="5486400" cy="3657600"/>
          </a:xfrm>
          <a:prstGeom prst="rect">
            <a:avLst/>
          </a:prstGeom>
          <a:solidFill>
            <a:srgbClr val="1E1A3A"/>
          </a:solidFill>
          <a:ln w="12700">
            <a:solidFill>
              <a:srgbClr val="1E1A3A"/>
            </a:solidFill>
            <a:prstDash val="solid"/>
          </a:ln>
        </p:spPr>
      </p:sp>
      <p:sp>
        <p:nvSpPr>
          <p:cNvPr id="10" name="Shape 8"/>
          <p:cNvSpPr/>
          <p:nvPr/>
        </p:nvSpPr>
        <p:spPr>
          <a:xfrm>
            <a:off x="548640" y="2697480"/>
            <a:ext cx="137160" cy="3657600"/>
          </a:xfrm>
          <a:prstGeom prst="rect">
            <a:avLst/>
          </a:prstGeom>
          <a:solidFill>
            <a:srgbClr val="F472B6"/>
          </a:solidFill>
          <a:ln w="12700">
            <a:solidFill>
              <a:srgbClr val="F472B6"/>
            </a:solidFill>
            <a:prstDash val="solid"/>
          </a:ln>
        </p:spPr>
      </p:sp>
      <p:sp>
        <p:nvSpPr>
          <p:cNvPr id="11" name="Text 9"/>
          <p:cNvSpPr/>
          <p:nvPr/>
        </p:nvSpPr>
        <p:spPr>
          <a:xfrm>
            <a:off x="777240" y="2788920"/>
            <a:ext cx="5257800" cy="457200"/>
          </a:xfrm>
          <a:prstGeom prst="rect">
            <a:avLst/>
          </a:prstGeom>
          <a:noFill/>
          <a:ln/>
        </p:spPr>
        <p:txBody>
          <a:bodyPr wrap="square" rtlCol="0" anchor="ctr"/>
          <a:lstStyle/>
          <a:p>
            <a:pPr indent="0" marL="0">
              <a:buNone/>
            </a:pPr>
            <a:r>
              <a:rPr lang="en-US" sz="1900" b="1" dirty="0">
                <a:solidFill>
                  <a:srgbClr val="F472B6"/>
                </a:solidFill>
                <a:latin typeface="Cambria" pitchFamily="34" charset="0"/>
                <a:ea typeface="Cambria" pitchFamily="34" charset="-122"/>
                <a:cs typeface="Cambria" pitchFamily="34" charset="-120"/>
              </a:rPr>
              <a:t>Masuratoare unica (lag pur)</a:t>
            </a:r>
            <a:endParaRPr lang="en-US" sz="1900" dirty="0"/>
          </a:p>
        </p:txBody>
      </p:sp>
      <p:sp>
        <p:nvSpPr>
          <p:cNvPr id="12" name="Text 10"/>
          <p:cNvSpPr/>
          <p:nvPr/>
        </p:nvSpPr>
        <p:spPr>
          <a:xfrm>
            <a:off x="868680" y="3337560"/>
            <a:ext cx="5074920" cy="2926080"/>
          </a:xfrm>
          <a:prstGeom prst="rect">
            <a:avLst/>
          </a:prstGeom>
          <a:noFill/>
          <a:ln/>
        </p:spPr>
        <p:txBody>
          <a:bodyPr wrap="square" rtlCol="0" anchor="t"/>
          <a:lstStyle/>
          <a:p>
            <a:pPr indent="0" marL="0">
              <a:lnSpc>
                <a:spcPct val="130000"/>
              </a:lnSpc>
              <a:buNone/>
            </a:pPr>
            <a:r>
              <a:rPr lang="en-US" sz="1600" dirty="0">
                <a:solidFill>
                  <a:srgbClr val="E2E8F0"/>
                </a:solidFill>
                <a:latin typeface="Calibri" pitchFamily="34" charset="0"/>
                <a:ea typeface="Calibri" pitchFamily="34" charset="-122"/>
                <a:cs typeface="Calibri" pitchFamily="34" charset="-120"/>
              </a:rPr>
              <a:t>O singura citire a termometrului poate fi </a:t>
            </a:r>
            <a:pPr indent="0" marL="0">
              <a:lnSpc>
                <a:spcPct val="130000"/>
              </a:lnSpc>
              <a:buNone/>
            </a:pPr>
            <a:r>
              <a:rPr lang="en-US" sz="1600" b="1" dirty="0">
                <a:solidFill>
                  <a:srgbClr val="FFFFFF"/>
                </a:solidFill>
                <a:latin typeface="Calibri" pitchFamily="34" charset="0"/>
                <a:ea typeface="Calibri" pitchFamily="34" charset="-122"/>
                <a:cs typeface="Calibri" pitchFamily="34" charset="-120"/>
              </a:rPr>
              <a:t>afectata de o anomalie</a:t>
            </a:r>
            <a:pPr indent="0" marL="0">
              <a:lnSpc>
                <a:spcPct val="130000"/>
              </a:lnSpc>
              <a:buNone/>
            </a:pPr>
            <a:r>
              <a:rPr lang="en-US" sz="1600" dirty="0">
                <a:solidFill>
                  <a:srgbClr val="E2E8F0"/>
                </a:solidFill>
                <a:latin typeface="Calibri" pitchFamily="34" charset="0"/>
                <a:ea typeface="Calibri" pitchFamily="34" charset="-122"/>
                <a:cs typeface="Calibri" pitchFamily="34" charset="-120"/>
              </a:rPr>
              <a:t>:
</a:t>
            </a:r>
            <a:pPr indent="0" marL="0">
              <a:lnSpc>
                <a:spcPct val="130000"/>
              </a:lnSpc>
              <a:buNone/>
            </a:pPr>
            <a:r>
              <a:rPr lang="en-US" sz="1400" dirty="0">
                <a:solidFill>
                  <a:srgbClr val="CBD5E1"/>
                </a:solidFill>
                <a:latin typeface="Calibri" pitchFamily="34" charset="0"/>
                <a:ea typeface="Calibri" pitchFamily="34" charset="-122"/>
                <a:cs typeface="Calibri" pitchFamily="34" charset="-120"/>
              </a:rPr>
              <a:t>  • ai facut efort fizic
</a:t>
            </a:r>
            <a:pPr indent="0" marL="0">
              <a:lnSpc>
                <a:spcPct val="130000"/>
              </a:lnSpc>
              <a:buNone/>
            </a:pPr>
            <a:r>
              <a:rPr lang="en-US" sz="1400" dirty="0">
                <a:solidFill>
                  <a:srgbClr val="CBD5E1"/>
                </a:solidFill>
                <a:latin typeface="Calibri" pitchFamily="34" charset="0"/>
                <a:ea typeface="Calibri" pitchFamily="34" charset="-122"/>
                <a:cs typeface="Calibri" pitchFamily="34" charset="-120"/>
              </a:rPr>
              <a:t>  • tocmai ai baut ceai cald
</a:t>
            </a:r>
            <a:pPr indent="0" marL="0">
              <a:lnSpc>
                <a:spcPct val="130000"/>
              </a:lnSpc>
              <a:buNone/>
            </a:pPr>
            <a:r>
              <a:rPr lang="en-US" sz="1400" dirty="0">
                <a:solidFill>
                  <a:srgbClr val="CBD5E1"/>
                </a:solidFill>
                <a:latin typeface="Calibri" pitchFamily="34" charset="0"/>
                <a:ea typeface="Calibri" pitchFamily="34" charset="-122"/>
                <a:cs typeface="Calibri" pitchFamily="34" charset="-120"/>
              </a:rPr>
              <a:t>  • eroare a aparatului
</a:t>
            </a:r>
            <a:pPr indent="0" marL="0">
              <a:lnSpc>
                <a:spcPct val="130000"/>
              </a:lnSpc>
              <a:buNone/>
            </a:pPr>
            <a:r>
              <a:rPr lang="en-US" sz="1600" dirty="0">
                <a:solidFill>
                  <a:srgbClr val="E2E8F0"/>
                </a:solidFill>
                <a:latin typeface="Calibri" pitchFamily="34" charset="0"/>
                <a:ea typeface="Calibri" pitchFamily="34" charset="-122"/>
                <a:cs typeface="Calibri" pitchFamily="34" charset="-120"/>
              </a:rPr>
              <a:t>Te poate face sa crezi ca ai febra cand de fapt esti bine.</a:t>
            </a:r>
            <a:endParaRPr lang="en-US" sz="1600" dirty="0"/>
          </a:p>
        </p:txBody>
      </p:sp>
      <p:sp>
        <p:nvSpPr>
          <p:cNvPr id="13" name="Shape 11"/>
          <p:cNvSpPr/>
          <p:nvPr/>
        </p:nvSpPr>
        <p:spPr>
          <a:xfrm>
            <a:off x="6126480" y="2697480"/>
            <a:ext cx="5486400" cy="3657600"/>
          </a:xfrm>
          <a:prstGeom prst="rect">
            <a:avLst/>
          </a:prstGeom>
          <a:solidFill>
            <a:srgbClr val="1E1A3A"/>
          </a:solidFill>
          <a:ln w="12700">
            <a:solidFill>
              <a:srgbClr val="1E1A3A"/>
            </a:solidFill>
            <a:prstDash val="solid"/>
          </a:ln>
        </p:spPr>
      </p:sp>
      <p:sp>
        <p:nvSpPr>
          <p:cNvPr id="14" name="Shape 12"/>
          <p:cNvSpPr/>
          <p:nvPr/>
        </p:nvSpPr>
        <p:spPr>
          <a:xfrm>
            <a:off x="6126480" y="2697480"/>
            <a:ext cx="137160" cy="3657600"/>
          </a:xfrm>
          <a:prstGeom prst="rect">
            <a:avLst/>
          </a:prstGeom>
          <a:solidFill>
            <a:srgbClr val="34D399"/>
          </a:solidFill>
          <a:ln w="12700">
            <a:solidFill>
              <a:srgbClr val="34D399"/>
            </a:solidFill>
            <a:prstDash val="solid"/>
          </a:ln>
        </p:spPr>
      </p:sp>
      <p:sp>
        <p:nvSpPr>
          <p:cNvPr id="15" name="Text 13"/>
          <p:cNvSpPr/>
          <p:nvPr/>
        </p:nvSpPr>
        <p:spPr>
          <a:xfrm>
            <a:off x="6355080" y="2788920"/>
            <a:ext cx="5257800" cy="457200"/>
          </a:xfrm>
          <a:prstGeom prst="rect">
            <a:avLst/>
          </a:prstGeom>
          <a:noFill/>
          <a:ln/>
        </p:spPr>
        <p:txBody>
          <a:bodyPr wrap="square" rtlCol="0" anchor="ctr"/>
          <a:lstStyle/>
          <a:p>
            <a:pPr indent="0" marL="0">
              <a:buNone/>
            </a:pPr>
            <a:r>
              <a:rPr lang="en-US" sz="1900" b="1" dirty="0">
                <a:solidFill>
                  <a:srgbClr val="34D399"/>
                </a:solidFill>
                <a:latin typeface="Cambria" pitchFamily="34" charset="0"/>
                <a:ea typeface="Cambria" pitchFamily="34" charset="-122"/>
                <a:cs typeface="Cambria" pitchFamily="34" charset="-120"/>
              </a:rPr>
              <a:t>Media a 5 secunde (rolling mean)</a:t>
            </a:r>
            <a:endParaRPr lang="en-US" sz="1900" dirty="0"/>
          </a:p>
        </p:txBody>
      </p:sp>
      <p:sp>
        <p:nvSpPr>
          <p:cNvPr id="16" name="Text 14"/>
          <p:cNvSpPr/>
          <p:nvPr/>
        </p:nvSpPr>
        <p:spPr>
          <a:xfrm>
            <a:off x="6446520" y="3337560"/>
            <a:ext cx="5074920" cy="2926080"/>
          </a:xfrm>
          <a:prstGeom prst="rect">
            <a:avLst/>
          </a:prstGeom>
          <a:noFill/>
          <a:ln/>
        </p:spPr>
        <p:txBody>
          <a:bodyPr wrap="square" rtlCol="0" anchor="t"/>
          <a:lstStyle/>
          <a:p>
            <a:pPr indent="0" marL="0">
              <a:lnSpc>
                <a:spcPct val="130000"/>
              </a:lnSpc>
              <a:buNone/>
            </a:pPr>
            <a:r>
              <a:rPr lang="en-US" sz="1600" dirty="0">
                <a:solidFill>
                  <a:srgbClr val="E2E8F0"/>
                </a:solidFill>
                <a:latin typeface="Calibri" pitchFamily="34" charset="0"/>
                <a:ea typeface="Calibri" pitchFamily="34" charset="-122"/>
                <a:cs typeface="Calibri" pitchFamily="34" charset="-120"/>
              </a:rPr>
              <a:t>Termometrele moderne fac </a:t>
            </a:r>
            <a:pPr indent="0" marL="0">
              <a:lnSpc>
                <a:spcPct val="130000"/>
              </a:lnSpc>
              <a:buNone/>
            </a:pPr>
            <a:r>
              <a:rPr lang="en-US" sz="1600" b="1" dirty="0">
                <a:solidFill>
                  <a:srgbClr val="FFFFFF"/>
                </a:solidFill>
                <a:latin typeface="Calibri" pitchFamily="34" charset="0"/>
                <a:ea typeface="Calibri" pitchFamily="34" charset="-122"/>
                <a:cs typeface="Calibri" pitchFamily="34" charset="-120"/>
              </a:rPr>
              <a:t>media a multor masuratori succesive</a:t>
            </a:r>
            <a:pPr indent="0" marL="0">
              <a:lnSpc>
                <a:spcPct val="130000"/>
              </a:lnSpc>
              <a:buNone/>
            </a:pPr>
            <a:r>
              <a:rPr lang="en-US" sz="1600" dirty="0">
                <a:solidFill>
                  <a:srgbClr val="E2E8F0"/>
                </a:solidFill>
                <a:latin typeface="Calibri" pitchFamily="34" charset="0"/>
                <a:ea typeface="Calibri" pitchFamily="34" charset="-122"/>
                <a:cs typeface="Calibri" pitchFamily="34" charset="-120"/>
              </a:rPr>
              <a:t>.
</a:t>
            </a:r>
            <a:pPr indent="0" marL="0">
              <a:lnSpc>
                <a:spcPct val="130000"/>
              </a:lnSpc>
              <a:buNone/>
            </a:pPr>
            <a:r>
              <a:rPr lang="en-US" sz="1600" dirty="0">
                <a:solidFill>
                  <a:srgbClr val="E2E8F0"/>
                </a:solidFill>
                <a:latin typeface="Calibri" pitchFamily="34" charset="0"/>
                <a:ea typeface="Calibri" pitchFamily="34" charset="-122"/>
                <a:cs typeface="Calibri" pitchFamily="34" charset="-120"/>
              </a:rPr>
              <a:t>Anomaliile (varfuri scurte) sunt </a:t>
            </a:r>
            <a:pPr indent="0" marL="0">
              <a:lnSpc>
                <a:spcPct val="130000"/>
              </a:lnSpc>
              <a:buNone/>
            </a:pPr>
            <a:r>
              <a:rPr lang="en-US" sz="1600" b="1" dirty="0">
                <a:solidFill>
                  <a:srgbClr val="34D399"/>
                </a:solidFill>
                <a:latin typeface="Calibri" pitchFamily="34" charset="0"/>
                <a:ea typeface="Calibri" pitchFamily="34" charset="-122"/>
                <a:cs typeface="Calibri" pitchFamily="34" charset="-120"/>
              </a:rPr>
              <a:t>diluate</a:t>
            </a:r>
            <a:pPr indent="0" marL="0">
              <a:lnSpc>
                <a:spcPct val="130000"/>
              </a:lnSpc>
              <a:buNone/>
            </a:pPr>
            <a:r>
              <a:rPr lang="en-US" sz="1600" dirty="0">
                <a:solidFill>
                  <a:srgbClr val="E2E8F0"/>
                </a:solidFill>
                <a:latin typeface="Calibri" pitchFamily="34" charset="0"/>
                <a:ea typeface="Calibri" pitchFamily="34" charset="-122"/>
                <a:cs typeface="Calibri" pitchFamily="34" charset="-120"/>
              </a:rPr>
              <a:t> in medie.
</a:t>
            </a:r>
            <a:pPr indent="0" marL="0">
              <a:lnSpc>
                <a:spcPct val="130000"/>
              </a:lnSpc>
              <a:buNone/>
            </a:pPr>
            <a:r>
              <a:rPr lang="en-US" sz="1600" dirty="0">
                <a:solidFill>
                  <a:srgbClr val="E2E8F0"/>
                </a:solidFill>
                <a:latin typeface="Calibri" pitchFamily="34" charset="0"/>
                <a:ea typeface="Calibri" pitchFamily="34" charset="-122"/>
                <a:cs typeface="Calibri" pitchFamily="34" charset="-120"/>
              </a:rPr>
              <a:t>Doctorul vede temperatura reala — </a:t>
            </a:r>
            <a:pPr indent="0" marL="0">
              <a:lnSpc>
                <a:spcPct val="130000"/>
              </a:lnSpc>
              <a:buNone/>
            </a:pPr>
            <a:r>
              <a:rPr lang="en-US" sz="1600" i="1" dirty="0">
                <a:solidFill>
                  <a:srgbClr val="FFFFFF"/>
                </a:solidFill>
                <a:latin typeface="Calibri" pitchFamily="34" charset="0"/>
                <a:ea typeface="Calibri" pitchFamily="34" charset="-122"/>
                <a:cs typeface="Calibri" pitchFamily="34" charset="-120"/>
              </a:rPr>
              <a:t>imaginea stabila a corpului tau</a:t>
            </a:r>
            <a:pPr indent="0" marL="0">
              <a:lnSpc>
                <a:spcPct val="130000"/>
              </a:lnSpc>
              <a:buNone/>
            </a:pPr>
            <a:r>
              <a:rPr lang="en-US" sz="1600" dirty="0">
                <a:solidFill>
                  <a:srgbClr val="E2E8F0"/>
                </a:solidFill>
                <a:latin typeface="Calibri" pitchFamily="34" charset="0"/>
                <a:ea typeface="Calibri" pitchFamily="34" charset="-122"/>
                <a:cs typeface="Calibri" pitchFamily="34" charset="-120"/>
              </a:rPr>
              <a:t>.</a:t>
            </a:r>
            <a:endParaRPr lang="en-US" sz="1600" dirty="0"/>
          </a:p>
        </p:txBody>
      </p:sp>
      <p:sp>
        <p:nvSpPr>
          <p:cNvPr id="17" name="Text 15"/>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18" name="Text 16"/>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22 / 28</a:t>
            </a:r>
            <a:endParaRPr lang="en-US" sz="1100" dirty="0"/>
          </a:p>
        </p:txBody>
      </p:sp>
    </p:spTree>
  </p:cSld>
  <p:transition xmlns:p="http://schemas.openxmlformats.org/presentationml/2006/main" spd="med">
    <p:fade/>
  </p:transition>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51025"/>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818CF8">
              <a:alpha val="15000"/>
            </a:srgbClr>
          </a:solidFill>
          <a:ln w="12700">
            <a:solidFill>
              <a:srgbClr val="818CF8">
                <a:alpha val="15000"/>
              </a:srgbClr>
            </a:solidFill>
            <a:prstDash val="solid"/>
          </a:ln>
        </p:spPr>
      </p:sp>
      <p:sp>
        <p:nvSpPr>
          <p:cNvPr id="3" name="Shape 1"/>
          <p:cNvSpPr/>
          <p:nvPr/>
        </p:nvSpPr>
        <p:spPr>
          <a:xfrm>
            <a:off x="10515600" y="5212080"/>
            <a:ext cx="3200400" cy="3200400"/>
          </a:xfrm>
          <a:prstGeom prst="ellipse">
            <a:avLst/>
          </a:prstGeom>
          <a:solidFill>
            <a:srgbClr val="F472B6">
              <a:alpha val="12000"/>
            </a:srgbClr>
          </a:solidFill>
          <a:ln w="12700">
            <a:solidFill>
              <a:srgbClr val="F472B6">
                <a:alpha val="12000"/>
              </a:srgbClr>
            </a:solidFill>
            <a:prstDash val="solid"/>
          </a:ln>
        </p:spPr>
      </p:sp>
      <p:sp>
        <p:nvSpPr>
          <p:cNvPr id="4" name="Shape 2"/>
          <p:cNvSpPr/>
          <p:nvPr/>
        </p:nvSpPr>
        <p:spPr>
          <a:xfrm>
            <a:off x="0" y="0"/>
            <a:ext cx="12161520" cy="164592"/>
          </a:xfrm>
          <a:prstGeom prst="rect">
            <a:avLst/>
          </a:prstGeom>
          <a:solidFill>
            <a:srgbClr val="FBBF24"/>
          </a:solidFill>
          <a:ln w="12700">
            <a:solidFill>
              <a:srgbClr val="FBBF24"/>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FBBF24"/>
                </a:solidFill>
                <a:latin typeface="Calibri" pitchFamily="34" charset="0"/>
                <a:ea typeface="Calibri" pitchFamily="34" charset="-122"/>
                <a:cs typeface="Calibri" pitchFamily="34" charset="-120"/>
              </a:rPr>
              <a:t>TEHNICA 3 / IMPLEMENTARE</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Doua statistici pe fereastra alunecatoare</a:t>
            </a:r>
            <a:endParaRPr lang="en-US" sz="3600" dirty="0"/>
          </a:p>
        </p:txBody>
      </p:sp>
      <p:sp>
        <p:nvSpPr>
          <p:cNvPr id="7" name="Shape 5"/>
          <p:cNvSpPr/>
          <p:nvPr/>
        </p:nvSpPr>
        <p:spPr>
          <a:xfrm>
            <a:off x="548640" y="1691640"/>
            <a:ext cx="1645920" cy="54864"/>
          </a:xfrm>
          <a:prstGeom prst="rect">
            <a:avLst/>
          </a:prstGeom>
          <a:solidFill>
            <a:srgbClr val="F472B6"/>
          </a:solidFill>
          <a:ln w="12700">
            <a:solidFill>
              <a:srgbClr val="F472B6"/>
            </a:solidFill>
            <a:prstDash val="solid"/>
          </a:ln>
        </p:spPr>
      </p:sp>
      <p:sp>
        <p:nvSpPr>
          <p:cNvPr id="8" name="Shape 6"/>
          <p:cNvSpPr/>
          <p:nvPr/>
        </p:nvSpPr>
        <p:spPr>
          <a:xfrm>
            <a:off x="548640" y="1828800"/>
            <a:ext cx="5486400" cy="4297680"/>
          </a:xfrm>
          <a:prstGeom prst="rect">
            <a:avLst/>
          </a:prstGeom>
          <a:solidFill>
            <a:srgbClr val="1E1A3A"/>
          </a:solidFill>
          <a:ln w="12700">
            <a:solidFill>
              <a:srgbClr val="1E1A3A"/>
            </a:solidFill>
            <a:prstDash val="solid"/>
          </a:ln>
        </p:spPr>
      </p:sp>
      <p:sp>
        <p:nvSpPr>
          <p:cNvPr id="9" name="Shape 7"/>
          <p:cNvSpPr/>
          <p:nvPr/>
        </p:nvSpPr>
        <p:spPr>
          <a:xfrm>
            <a:off x="548640" y="1828800"/>
            <a:ext cx="137160" cy="4297680"/>
          </a:xfrm>
          <a:prstGeom prst="rect">
            <a:avLst/>
          </a:prstGeom>
          <a:solidFill>
            <a:srgbClr val="818CF8"/>
          </a:solidFill>
          <a:ln w="12700">
            <a:solidFill>
              <a:srgbClr val="818CF8"/>
            </a:solidFill>
            <a:prstDash val="solid"/>
          </a:ln>
        </p:spPr>
      </p:sp>
      <p:sp>
        <p:nvSpPr>
          <p:cNvPr id="10" name="Text 8"/>
          <p:cNvSpPr/>
          <p:nvPr/>
        </p:nvSpPr>
        <p:spPr>
          <a:xfrm>
            <a:off x="777240" y="1920240"/>
            <a:ext cx="5257800" cy="457200"/>
          </a:xfrm>
          <a:prstGeom prst="rect">
            <a:avLst/>
          </a:prstGeom>
          <a:noFill/>
          <a:ln/>
        </p:spPr>
        <p:txBody>
          <a:bodyPr wrap="square" rtlCol="0" anchor="ctr"/>
          <a:lstStyle/>
          <a:p>
            <a:pPr indent="0" marL="0">
              <a:buNone/>
            </a:pPr>
            <a:r>
              <a:rPr lang="en-US" sz="2100" b="1" dirty="0">
                <a:solidFill>
                  <a:srgbClr val="818CF8"/>
                </a:solidFill>
                <a:latin typeface="Cambria" pitchFamily="34" charset="0"/>
                <a:ea typeface="Cambria" pitchFamily="34" charset="-122"/>
                <a:cs typeface="Cambria" pitchFamily="34" charset="-120"/>
              </a:rPr>
              <a:t>rolling mean — trend recent</a:t>
            </a:r>
            <a:endParaRPr lang="en-US" sz="2100" dirty="0"/>
          </a:p>
        </p:txBody>
      </p:sp>
      <p:sp>
        <p:nvSpPr>
          <p:cNvPr id="11" name="Shape 9"/>
          <p:cNvSpPr/>
          <p:nvPr/>
        </p:nvSpPr>
        <p:spPr>
          <a:xfrm>
            <a:off x="777240" y="2468880"/>
            <a:ext cx="5257800" cy="777240"/>
          </a:xfrm>
          <a:prstGeom prst="rect">
            <a:avLst/>
          </a:prstGeom>
          <a:solidFill>
            <a:srgbClr val="151025"/>
          </a:solidFill>
          <a:ln w="12700">
            <a:solidFill>
              <a:srgbClr val="151025"/>
            </a:solidFill>
            <a:prstDash val="solid"/>
          </a:ln>
        </p:spPr>
      </p:sp>
      <p:sp>
        <p:nvSpPr>
          <p:cNvPr id="12" name="Text 10"/>
          <p:cNvSpPr/>
          <p:nvPr/>
        </p:nvSpPr>
        <p:spPr>
          <a:xfrm>
            <a:off x="777240" y="2468880"/>
            <a:ext cx="5257800" cy="777240"/>
          </a:xfrm>
          <a:prstGeom prst="rect">
            <a:avLst/>
          </a:prstGeom>
          <a:noFill/>
          <a:ln/>
        </p:spPr>
        <p:txBody>
          <a:bodyPr wrap="square" rtlCol="0" anchor="ctr"/>
          <a:lstStyle/>
          <a:p>
            <a:pPr algn="ctr" indent="0" marL="0">
              <a:buNone/>
            </a:pPr>
            <a:r>
              <a:rPr lang="en-US" sz="1400" dirty="0">
                <a:solidFill>
                  <a:srgbClr val="FFFFFF"/>
                </a:solidFill>
                <a:latin typeface="Consolas" pitchFamily="34" charset="0"/>
                <a:ea typeface="Consolas" pitchFamily="34" charset="-122"/>
                <a:cs typeface="Consolas" pitchFamily="34" charset="-120"/>
              </a:rPr>
              <a:t>df['pret'].shift(1).rolling(24).mean()</a:t>
            </a:r>
            <a:endParaRPr lang="en-US" sz="1400" dirty="0"/>
          </a:p>
        </p:txBody>
      </p:sp>
      <p:sp>
        <p:nvSpPr>
          <p:cNvPr id="13" name="Text 11"/>
          <p:cNvSpPr/>
          <p:nvPr/>
        </p:nvSpPr>
        <p:spPr>
          <a:xfrm>
            <a:off x="868680" y="3383280"/>
            <a:ext cx="5074920" cy="2651760"/>
          </a:xfrm>
          <a:prstGeom prst="rect">
            <a:avLst/>
          </a:prstGeom>
          <a:noFill/>
          <a:ln/>
        </p:spPr>
        <p:txBody>
          <a:bodyPr wrap="square" rtlCol="0" anchor="t"/>
          <a:lstStyle/>
          <a:p>
            <a:pPr indent="0" marL="0">
              <a:lnSpc>
                <a:spcPct val="125000"/>
              </a:lnSpc>
              <a:buNone/>
            </a:pPr>
            <a:r>
              <a:rPr lang="en-US" sz="1700" b="1" dirty="0">
                <a:solidFill>
                  <a:srgbClr val="818CF8"/>
                </a:solidFill>
                <a:latin typeface="Calibri" pitchFamily="34" charset="0"/>
                <a:ea typeface="Calibri" pitchFamily="34" charset="-122"/>
                <a:cs typeface="Calibri" pitchFamily="34" charset="-120"/>
              </a:rPr>
              <a:t>Captureaza
</a:t>
            </a:r>
            <a:pPr indent="0" marL="0">
              <a:lnSpc>
                <a:spcPct val="125000"/>
              </a:lnSpc>
              <a:buNone/>
            </a:pPr>
            <a:r>
              <a:rPr lang="en-US" sz="1700" b="1" dirty="0">
                <a:solidFill>
                  <a:srgbClr val="FFFFFF"/>
                </a:solidFill>
                <a:latin typeface="Calibri" pitchFamily="34" charset="0"/>
                <a:ea typeface="Calibri" pitchFamily="34" charset="-122"/>
                <a:cs typeface="Calibri" pitchFamily="34" charset="-120"/>
              </a:rPr>
              <a:t>directia generala recenta</a:t>
            </a:r>
            <a:pPr indent="0" marL="0">
              <a:lnSpc>
                <a:spcPct val="125000"/>
              </a:lnSpc>
              <a:buNone/>
            </a:pPr>
            <a:r>
              <a:rPr lang="en-US" sz="1700" dirty="0">
                <a:solidFill>
                  <a:srgbClr val="E2E8F0"/>
                </a:solidFill>
                <a:latin typeface="Calibri" pitchFamily="34" charset="0"/>
                <a:ea typeface="Calibri" pitchFamily="34" charset="-122"/>
                <a:cs typeface="Calibri" pitchFamily="34" charset="-120"/>
              </a:rPr>
              <a:t>.
</a:t>
            </a:r>
            <a:pPr indent="0" marL="0">
              <a:lnSpc>
                <a:spcPct val="125000"/>
              </a:lnSpc>
              <a:buNone/>
            </a:pPr>
            <a:r>
              <a:rPr lang="en-US" sz="1600" dirty="0">
                <a:solidFill>
                  <a:srgbClr val="E2E8F0"/>
                </a:solidFill>
                <a:latin typeface="Calibri" pitchFamily="34" charset="0"/>
                <a:ea typeface="Calibri" pitchFamily="34" charset="-122"/>
                <a:cs typeface="Calibri" pitchFamily="34" charset="-120"/>
              </a:rPr>
              <a:t>Daca media ultimelor 24 ore este ridicata, pretul actual este probabil tot ridicat.
</a:t>
            </a:r>
            <a:pPr indent="0" marL="0">
              <a:lnSpc>
                <a:spcPct val="125000"/>
              </a:lnSpc>
              <a:buNone/>
            </a:pPr>
            <a:r>
              <a:rPr lang="en-US" sz="1600" i="1" dirty="0">
                <a:solidFill>
                  <a:srgbClr val="CBD5E1"/>
                </a:solidFill>
                <a:latin typeface="Calibri" pitchFamily="34" charset="0"/>
                <a:ea typeface="Calibri" pitchFamily="34" charset="-122"/>
                <a:cs typeface="Calibri" pitchFamily="34" charset="-120"/>
              </a:rPr>
              <a:t>Filtreaza zgomotul punctual.</a:t>
            </a:r>
            <a:endParaRPr lang="en-US" sz="1700" dirty="0"/>
          </a:p>
        </p:txBody>
      </p:sp>
      <p:sp>
        <p:nvSpPr>
          <p:cNvPr id="14" name="Shape 12"/>
          <p:cNvSpPr/>
          <p:nvPr/>
        </p:nvSpPr>
        <p:spPr>
          <a:xfrm>
            <a:off x="6126480" y="1828800"/>
            <a:ext cx="5486400" cy="4297680"/>
          </a:xfrm>
          <a:prstGeom prst="rect">
            <a:avLst/>
          </a:prstGeom>
          <a:solidFill>
            <a:srgbClr val="1E1A3A"/>
          </a:solidFill>
          <a:ln w="12700">
            <a:solidFill>
              <a:srgbClr val="1E1A3A"/>
            </a:solidFill>
            <a:prstDash val="solid"/>
          </a:ln>
        </p:spPr>
      </p:sp>
      <p:sp>
        <p:nvSpPr>
          <p:cNvPr id="15" name="Shape 13"/>
          <p:cNvSpPr/>
          <p:nvPr/>
        </p:nvSpPr>
        <p:spPr>
          <a:xfrm>
            <a:off x="6126480" y="1828800"/>
            <a:ext cx="137160" cy="4297680"/>
          </a:xfrm>
          <a:prstGeom prst="rect">
            <a:avLst/>
          </a:prstGeom>
          <a:solidFill>
            <a:srgbClr val="FBBF24"/>
          </a:solidFill>
          <a:ln w="12700">
            <a:solidFill>
              <a:srgbClr val="FBBF24"/>
            </a:solidFill>
            <a:prstDash val="solid"/>
          </a:ln>
        </p:spPr>
      </p:sp>
      <p:sp>
        <p:nvSpPr>
          <p:cNvPr id="16" name="Text 14"/>
          <p:cNvSpPr/>
          <p:nvPr/>
        </p:nvSpPr>
        <p:spPr>
          <a:xfrm>
            <a:off x="6355080" y="1920240"/>
            <a:ext cx="5257800" cy="457200"/>
          </a:xfrm>
          <a:prstGeom prst="rect">
            <a:avLst/>
          </a:prstGeom>
          <a:noFill/>
          <a:ln/>
        </p:spPr>
        <p:txBody>
          <a:bodyPr wrap="square" rtlCol="0" anchor="ctr"/>
          <a:lstStyle/>
          <a:p>
            <a:pPr indent="0" marL="0">
              <a:buNone/>
            </a:pPr>
            <a:r>
              <a:rPr lang="en-US" sz="2100" b="1" dirty="0">
                <a:solidFill>
                  <a:srgbClr val="FBBF24"/>
                </a:solidFill>
                <a:latin typeface="Cambria" pitchFamily="34" charset="0"/>
                <a:ea typeface="Cambria" pitchFamily="34" charset="-122"/>
                <a:cs typeface="Cambria" pitchFamily="34" charset="-120"/>
              </a:rPr>
              <a:t>rolling std — volatilitate recenta</a:t>
            </a:r>
            <a:endParaRPr lang="en-US" sz="2100" dirty="0"/>
          </a:p>
        </p:txBody>
      </p:sp>
      <p:sp>
        <p:nvSpPr>
          <p:cNvPr id="17" name="Shape 15"/>
          <p:cNvSpPr/>
          <p:nvPr/>
        </p:nvSpPr>
        <p:spPr>
          <a:xfrm>
            <a:off x="6355080" y="2468880"/>
            <a:ext cx="5257800" cy="777240"/>
          </a:xfrm>
          <a:prstGeom prst="rect">
            <a:avLst/>
          </a:prstGeom>
          <a:solidFill>
            <a:srgbClr val="151025"/>
          </a:solidFill>
          <a:ln w="12700">
            <a:solidFill>
              <a:srgbClr val="151025"/>
            </a:solidFill>
            <a:prstDash val="solid"/>
          </a:ln>
        </p:spPr>
      </p:sp>
      <p:sp>
        <p:nvSpPr>
          <p:cNvPr id="18" name="Text 16"/>
          <p:cNvSpPr/>
          <p:nvPr/>
        </p:nvSpPr>
        <p:spPr>
          <a:xfrm>
            <a:off x="6355080" y="2468880"/>
            <a:ext cx="5257800" cy="777240"/>
          </a:xfrm>
          <a:prstGeom prst="rect">
            <a:avLst/>
          </a:prstGeom>
          <a:noFill/>
          <a:ln/>
        </p:spPr>
        <p:txBody>
          <a:bodyPr wrap="square" rtlCol="0" anchor="ctr"/>
          <a:lstStyle/>
          <a:p>
            <a:pPr algn="ctr" indent="0" marL="0">
              <a:buNone/>
            </a:pPr>
            <a:r>
              <a:rPr lang="en-US" sz="1400" dirty="0">
                <a:solidFill>
                  <a:srgbClr val="FFFFFF"/>
                </a:solidFill>
                <a:latin typeface="Consolas" pitchFamily="34" charset="0"/>
                <a:ea typeface="Consolas" pitchFamily="34" charset="-122"/>
                <a:cs typeface="Consolas" pitchFamily="34" charset="-120"/>
              </a:rPr>
              <a:t>df['pret'].shift(1).rolling(24).std()</a:t>
            </a:r>
            <a:endParaRPr lang="en-US" sz="1400" dirty="0"/>
          </a:p>
        </p:txBody>
      </p:sp>
      <p:sp>
        <p:nvSpPr>
          <p:cNvPr id="19" name="Text 17"/>
          <p:cNvSpPr/>
          <p:nvPr/>
        </p:nvSpPr>
        <p:spPr>
          <a:xfrm>
            <a:off x="6446520" y="3383280"/>
            <a:ext cx="5074920" cy="2651760"/>
          </a:xfrm>
          <a:prstGeom prst="rect">
            <a:avLst/>
          </a:prstGeom>
          <a:noFill/>
          <a:ln/>
        </p:spPr>
        <p:txBody>
          <a:bodyPr wrap="square" rtlCol="0" anchor="t"/>
          <a:lstStyle/>
          <a:p>
            <a:pPr indent="0" marL="0">
              <a:lnSpc>
                <a:spcPct val="125000"/>
              </a:lnSpc>
              <a:buNone/>
            </a:pPr>
            <a:r>
              <a:rPr lang="en-US" sz="1700" b="1" dirty="0">
                <a:solidFill>
                  <a:srgbClr val="FBBF24"/>
                </a:solidFill>
                <a:latin typeface="Calibri" pitchFamily="34" charset="0"/>
                <a:ea typeface="Calibri" pitchFamily="34" charset="-122"/>
                <a:cs typeface="Calibri" pitchFamily="34" charset="-120"/>
              </a:rPr>
              <a:t>Captureaza
</a:t>
            </a:r>
            <a:pPr indent="0" marL="0">
              <a:lnSpc>
                <a:spcPct val="125000"/>
              </a:lnSpc>
              <a:buNone/>
            </a:pPr>
            <a:r>
              <a:rPr lang="en-US" sz="1700" b="1" dirty="0">
                <a:solidFill>
                  <a:srgbClr val="FFFFFF"/>
                </a:solidFill>
                <a:latin typeface="Calibri" pitchFamily="34" charset="0"/>
                <a:ea typeface="Calibri" pitchFamily="34" charset="-122"/>
                <a:cs typeface="Calibri" pitchFamily="34" charset="-120"/>
              </a:rPr>
              <a:t>cat de instabil a fost sistemul</a:t>
            </a:r>
            <a:pPr indent="0" marL="0">
              <a:lnSpc>
                <a:spcPct val="125000"/>
              </a:lnSpc>
              <a:buNone/>
            </a:pPr>
            <a:r>
              <a:rPr lang="en-US" sz="1700" dirty="0">
                <a:solidFill>
                  <a:srgbClr val="E2E8F0"/>
                </a:solidFill>
                <a:latin typeface="Calibri" pitchFamily="34" charset="0"/>
                <a:ea typeface="Calibri" pitchFamily="34" charset="-122"/>
                <a:cs typeface="Calibri" pitchFamily="34" charset="-120"/>
              </a:rPr>
              <a:t>.
</a:t>
            </a:r>
            <a:pPr indent="0" marL="0">
              <a:lnSpc>
                <a:spcPct val="125000"/>
              </a:lnSpc>
              <a:buNone/>
            </a:pPr>
            <a:r>
              <a:rPr lang="en-US" sz="1600" dirty="0">
                <a:solidFill>
                  <a:srgbClr val="E2E8F0"/>
                </a:solidFill>
                <a:latin typeface="Calibri" pitchFamily="34" charset="0"/>
                <a:ea typeface="Calibri" pitchFamily="34" charset="-122"/>
                <a:cs typeface="Calibri" pitchFamily="34" charset="-120"/>
              </a:rPr>
              <a:t>Volatilitate mare = piata sub presiune, valorile pot fluctua mult.
</a:t>
            </a:r>
            <a:pPr indent="0" marL="0">
              <a:lnSpc>
                <a:spcPct val="125000"/>
              </a:lnSpc>
              <a:buNone/>
            </a:pPr>
            <a:r>
              <a:rPr lang="en-US" sz="1600" i="1" dirty="0">
                <a:solidFill>
                  <a:srgbClr val="CBD5E1"/>
                </a:solidFill>
                <a:latin typeface="Calibri" pitchFamily="34" charset="0"/>
                <a:ea typeface="Calibri" pitchFamily="34" charset="-122"/>
                <a:cs typeface="Calibri" pitchFamily="34" charset="-120"/>
              </a:rPr>
              <a:t>Modelul stie sa fie mai prudent in perioade volatile.</a:t>
            </a:r>
            <a:endParaRPr lang="en-US" sz="1700" dirty="0"/>
          </a:p>
        </p:txBody>
      </p:sp>
      <p:sp>
        <p:nvSpPr>
          <p:cNvPr id="20" name="Text 18"/>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21" name="Text 19"/>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23 / 28</a:t>
            </a:r>
            <a:endParaRPr lang="en-US" sz="1100" dirty="0"/>
          </a:p>
        </p:txBody>
      </p:sp>
    </p:spTree>
  </p:cSld>
  <p:transition xmlns:p="http://schemas.openxmlformats.org/presentationml/2006/main" spd="med">
    <p:fade/>
  </p:transition>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51025"/>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818CF8">
              <a:alpha val="15000"/>
            </a:srgbClr>
          </a:solidFill>
          <a:ln w="12700">
            <a:solidFill>
              <a:srgbClr val="818CF8">
                <a:alpha val="15000"/>
              </a:srgbClr>
            </a:solidFill>
            <a:prstDash val="solid"/>
          </a:ln>
        </p:spPr>
      </p:sp>
      <p:sp>
        <p:nvSpPr>
          <p:cNvPr id="3" name="Shape 1"/>
          <p:cNvSpPr/>
          <p:nvPr/>
        </p:nvSpPr>
        <p:spPr>
          <a:xfrm>
            <a:off x="10515600" y="5212080"/>
            <a:ext cx="3200400" cy="3200400"/>
          </a:xfrm>
          <a:prstGeom prst="ellipse">
            <a:avLst/>
          </a:prstGeom>
          <a:solidFill>
            <a:srgbClr val="F472B6">
              <a:alpha val="12000"/>
            </a:srgbClr>
          </a:solidFill>
          <a:ln w="12700">
            <a:solidFill>
              <a:srgbClr val="F472B6">
                <a:alpha val="12000"/>
              </a:srgbClr>
            </a:solidFill>
            <a:prstDash val="solid"/>
          </a:ln>
        </p:spPr>
      </p:sp>
      <p:sp>
        <p:nvSpPr>
          <p:cNvPr id="4" name="Shape 2"/>
          <p:cNvSpPr/>
          <p:nvPr/>
        </p:nvSpPr>
        <p:spPr>
          <a:xfrm>
            <a:off x="0" y="0"/>
            <a:ext cx="12161520" cy="164592"/>
          </a:xfrm>
          <a:prstGeom prst="rect">
            <a:avLst/>
          </a:prstGeom>
          <a:solidFill>
            <a:srgbClr val="FBBF24"/>
          </a:solidFill>
          <a:ln w="12700">
            <a:solidFill>
              <a:srgbClr val="FBBF24"/>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FBBF24"/>
                </a:solidFill>
                <a:latin typeface="Calibri" pitchFamily="34" charset="0"/>
                <a:ea typeface="Calibri" pitchFamily="34" charset="-122"/>
                <a:cs typeface="Calibri" pitchFamily="34" charset="-120"/>
              </a:rPr>
              <a:t>TEHNICA 3 / ANALOGIE DATA LEAKAGE</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Profesorul care priveste in lucrare</a:t>
            </a:r>
            <a:endParaRPr lang="en-US" sz="3600" dirty="0"/>
          </a:p>
        </p:txBody>
      </p:sp>
      <p:sp>
        <p:nvSpPr>
          <p:cNvPr id="7" name="Shape 5"/>
          <p:cNvSpPr/>
          <p:nvPr/>
        </p:nvSpPr>
        <p:spPr>
          <a:xfrm>
            <a:off x="548640" y="1691640"/>
            <a:ext cx="1645920" cy="54864"/>
          </a:xfrm>
          <a:prstGeom prst="rect">
            <a:avLst/>
          </a:prstGeom>
          <a:solidFill>
            <a:srgbClr val="F472B6"/>
          </a:solidFill>
          <a:ln w="12700">
            <a:solidFill>
              <a:srgbClr val="F472B6"/>
            </a:solidFill>
            <a:prstDash val="solid"/>
          </a:ln>
        </p:spPr>
      </p:sp>
      <p:sp>
        <p:nvSpPr>
          <p:cNvPr id="8" name="Text 6"/>
          <p:cNvSpPr/>
          <p:nvPr/>
        </p:nvSpPr>
        <p:spPr>
          <a:xfrm>
            <a:off x="548640" y="1920240"/>
            <a:ext cx="11064240" cy="548640"/>
          </a:xfrm>
          <a:prstGeom prst="rect">
            <a:avLst/>
          </a:prstGeom>
          <a:noFill/>
          <a:ln/>
        </p:spPr>
        <p:txBody>
          <a:bodyPr wrap="square" rtlCol="0" anchor="ctr"/>
          <a:lstStyle/>
          <a:p>
            <a:pPr indent="0" marL="0">
              <a:buNone/>
            </a:pPr>
            <a:r>
              <a:rPr lang="en-US" sz="1900" i="1" dirty="0">
                <a:solidFill>
                  <a:srgbClr val="E2E8F0"/>
                </a:solidFill>
                <a:latin typeface="Calibri" pitchFamily="34" charset="0"/>
                <a:ea typeface="Calibri" pitchFamily="34" charset="-122"/>
                <a:cs typeface="Calibri" pitchFamily="34" charset="-120"/>
              </a:rPr>
              <a:t>Cea mai subtila greseala in feature engineering — analogie didactica:</a:t>
            </a:r>
            <a:endParaRPr lang="en-US" sz="1900" dirty="0"/>
          </a:p>
        </p:txBody>
      </p:sp>
      <p:sp>
        <p:nvSpPr>
          <p:cNvPr id="9" name="Shape 7"/>
          <p:cNvSpPr/>
          <p:nvPr/>
        </p:nvSpPr>
        <p:spPr>
          <a:xfrm>
            <a:off x="548640" y="2697480"/>
            <a:ext cx="5486400" cy="3657600"/>
          </a:xfrm>
          <a:prstGeom prst="rect">
            <a:avLst/>
          </a:prstGeom>
          <a:solidFill>
            <a:srgbClr val="1E1A3A"/>
          </a:solidFill>
          <a:ln w="12700">
            <a:solidFill>
              <a:srgbClr val="1E1A3A"/>
            </a:solidFill>
            <a:prstDash val="solid"/>
          </a:ln>
        </p:spPr>
      </p:sp>
      <p:sp>
        <p:nvSpPr>
          <p:cNvPr id="10" name="Shape 8"/>
          <p:cNvSpPr/>
          <p:nvPr/>
        </p:nvSpPr>
        <p:spPr>
          <a:xfrm>
            <a:off x="548640" y="2697480"/>
            <a:ext cx="137160" cy="3657600"/>
          </a:xfrm>
          <a:prstGeom prst="rect">
            <a:avLst/>
          </a:prstGeom>
          <a:solidFill>
            <a:srgbClr val="F472B6"/>
          </a:solidFill>
          <a:ln w="12700">
            <a:solidFill>
              <a:srgbClr val="F472B6"/>
            </a:solidFill>
            <a:prstDash val="solid"/>
          </a:ln>
        </p:spPr>
      </p:sp>
      <p:sp>
        <p:nvSpPr>
          <p:cNvPr id="11" name="Text 9"/>
          <p:cNvSpPr/>
          <p:nvPr/>
        </p:nvSpPr>
        <p:spPr>
          <a:xfrm>
            <a:off x="777240" y="2788920"/>
            <a:ext cx="5257800" cy="457200"/>
          </a:xfrm>
          <a:prstGeom prst="rect">
            <a:avLst/>
          </a:prstGeom>
          <a:noFill/>
          <a:ln/>
        </p:spPr>
        <p:txBody>
          <a:bodyPr wrap="square" rtlCol="0" anchor="ctr"/>
          <a:lstStyle/>
          <a:p>
            <a:pPr indent="0" marL="0">
              <a:buNone/>
            </a:pPr>
            <a:r>
              <a:rPr lang="en-US" sz="2100" b="1" dirty="0">
                <a:solidFill>
                  <a:srgbClr val="F472B6"/>
                </a:solidFill>
                <a:latin typeface="Cambria" pitchFamily="34" charset="0"/>
                <a:ea typeface="Cambria" pitchFamily="34" charset="-122"/>
                <a:cs typeface="Cambria" pitchFamily="34" charset="-120"/>
              </a:rPr>
              <a:t>Examen cinstit</a:t>
            </a:r>
            <a:endParaRPr lang="en-US" sz="2100" dirty="0"/>
          </a:p>
        </p:txBody>
      </p:sp>
      <p:sp>
        <p:nvSpPr>
          <p:cNvPr id="12" name="Text 10"/>
          <p:cNvSpPr/>
          <p:nvPr/>
        </p:nvSpPr>
        <p:spPr>
          <a:xfrm>
            <a:off x="868680" y="3337560"/>
            <a:ext cx="5074920" cy="2926080"/>
          </a:xfrm>
          <a:prstGeom prst="rect">
            <a:avLst/>
          </a:prstGeom>
          <a:noFill/>
          <a:ln/>
        </p:spPr>
        <p:txBody>
          <a:bodyPr wrap="square" rtlCol="0" anchor="t"/>
          <a:lstStyle/>
          <a:p>
            <a:pPr indent="0" marL="0">
              <a:lnSpc>
                <a:spcPct val="125000"/>
              </a:lnSpc>
              <a:buNone/>
            </a:pPr>
            <a:r>
              <a:rPr lang="en-US" sz="1700" b="1" dirty="0">
                <a:solidFill>
                  <a:srgbClr val="E2E8F0"/>
                </a:solidFill>
                <a:latin typeface="Calibri" pitchFamily="34" charset="0"/>
                <a:ea typeface="Calibri" pitchFamily="34" charset="-122"/>
                <a:cs typeface="Calibri" pitchFamily="34" charset="-120"/>
              </a:rPr>
              <a:t>Elev: </a:t>
            </a:r>
            <a:pPr indent="0" marL="0">
              <a:lnSpc>
                <a:spcPct val="125000"/>
              </a:lnSpc>
              <a:buNone/>
            </a:pPr>
            <a:r>
              <a:rPr lang="en-US" sz="1700" dirty="0">
                <a:solidFill>
                  <a:srgbClr val="E2E8F0"/>
                </a:solidFill>
                <a:latin typeface="Calibri" pitchFamily="34" charset="0"/>
                <a:ea typeface="Calibri" pitchFamily="34" charset="-122"/>
                <a:cs typeface="Calibri" pitchFamily="34" charset="-120"/>
              </a:rPr>
              <a:t>scrie raspunsul singur, doar cu cunostintele invatate.
</a:t>
            </a:r>
            <a:pPr indent="0" marL="0">
              <a:lnSpc>
                <a:spcPct val="125000"/>
              </a:lnSpc>
              <a:buNone/>
            </a:pPr>
            <a:r>
              <a:rPr lang="en-US" sz="1700" b="1" dirty="0">
                <a:solidFill>
                  <a:srgbClr val="E2E8F0"/>
                </a:solidFill>
                <a:latin typeface="Calibri" pitchFamily="34" charset="0"/>
                <a:ea typeface="Calibri" pitchFamily="34" charset="-122"/>
                <a:cs typeface="Calibri" pitchFamily="34" charset="-120"/>
              </a:rPr>
              <a:t>Profesor: </a:t>
            </a:r>
            <a:pPr indent="0" marL="0">
              <a:lnSpc>
                <a:spcPct val="125000"/>
              </a:lnSpc>
              <a:buNone/>
            </a:pPr>
            <a:r>
              <a:rPr lang="en-US" sz="1700" dirty="0">
                <a:solidFill>
                  <a:srgbClr val="E2E8F0"/>
                </a:solidFill>
                <a:latin typeface="Calibri" pitchFamily="34" charset="0"/>
                <a:ea typeface="Calibri" pitchFamily="34" charset="-122"/>
                <a:cs typeface="Calibri" pitchFamily="34" charset="-120"/>
              </a:rPr>
              <a:t>verifica lucrarea dupa, fara sa o vada in timpul examenului.
</a:t>
            </a:r>
            <a:pPr indent="0" marL="0">
              <a:lnSpc>
                <a:spcPct val="125000"/>
              </a:lnSpc>
              <a:buNone/>
            </a:pPr>
            <a:r>
              <a:rPr lang="en-US" sz="1700" b="1" dirty="0">
                <a:solidFill>
                  <a:srgbClr val="34D399"/>
                </a:solidFill>
                <a:latin typeface="Calibri" pitchFamily="34" charset="0"/>
                <a:ea typeface="Calibri" pitchFamily="34" charset="-122"/>
                <a:cs typeface="Calibri" pitchFamily="34" charset="-120"/>
              </a:rPr>
              <a:t>Nota: </a:t>
            </a:r>
            <a:pPr indent="0" marL="0">
              <a:lnSpc>
                <a:spcPct val="125000"/>
              </a:lnSpc>
              <a:buNone/>
            </a:pPr>
            <a:r>
              <a:rPr lang="en-US" sz="1700" dirty="0">
                <a:solidFill>
                  <a:srgbClr val="E2E8F0"/>
                </a:solidFill>
                <a:latin typeface="Calibri" pitchFamily="34" charset="0"/>
                <a:ea typeface="Calibri" pitchFamily="34" charset="-122"/>
                <a:cs typeface="Calibri" pitchFamily="34" charset="-120"/>
              </a:rPr>
              <a:t>reflecta cunostintele reale.
</a:t>
            </a:r>
            <a:pPr indent="0" marL="0">
              <a:lnSpc>
                <a:spcPct val="125000"/>
              </a:lnSpc>
              <a:buNone/>
            </a:pPr>
            <a:r>
              <a:rPr lang="en-US" sz="1600" i="1" dirty="0">
                <a:solidFill>
                  <a:srgbClr val="34D399"/>
                </a:solidFill>
                <a:latin typeface="Calibri" pitchFamily="34" charset="0"/>
                <a:ea typeface="Calibri" pitchFamily="34" charset="-122"/>
                <a:cs typeface="Calibri" pitchFamily="34" charset="-120"/>
              </a:rPr>
              <a:t>= Modelul ML cu .shift(1)</a:t>
            </a:r>
            <a:endParaRPr lang="en-US" sz="1700" dirty="0"/>
          </a:p>
        </p:txBody>
      </p:sp>
      <p:sp>
        <p:nvSpPr>
          <p:cNvPr id="13" name="Shape 11"/>
          <p:cNvSpPr/>
          <p:nvPr/>
        </p:nvSpPr>
        <p:spPr>
          <a:xfrm>
            <a:off x="6126480" y="2697480"/>
            <a:ext cx="5486400" cy="3657600"/>
          </a:xfrm>
          <a:prstGeom prst="rect">
            <a:avLst/>
          </a:prstGeom>
          <a:solidFill>
            <a:srgbClr val="1E1A3A"/>
          </a:solidFill>
          <a:ln w="12700">
            <a:solidFill>
              <a:srgbClr val="1E1A3A"/>
            </a:solidFill>
            <a:prstDash val="solid"/>
          </a:ln>
        </p:spPr>
      </p:sp>
      <p:sp>
        <p:nvSpPr>
          <p:cNvPr id="14" name="Shape 12"/>
          <p:cNvSpPr/>
          <p:nvPr/>
        </p:nvSpPr>
        <p:spPr>
          <a:xfrm>
            <a:off x="6126480" y="2697480"/>
            <a:ext cx="137160" cy="3657600"/>
          </a:xfrm>
          <a:prstGeom prst="rect">
            <a:avLst/>
          </a:prstGeom>
          <a:solidFill>
            <a:srgbClr val="FBBF24"/>
          </a:solidFill>
          <a:ln w="12700">
            <a:solidFill>
              <a:srgbClr val="FBBF24"/>
            </a:solidFill>
            <a:prstDash val="solid"/>
          </a:ln>
        </p:spPr>
      </p:sp>
      <p:sp>
        <p:nvSpPr>
          <p:cNvPr id="15" name="Text 13"/>
          <p:cNvSpPr/>
          <p:nvPr/>
        </p:nvSpPr>
        <p:spPr>
          <a:xfrm>
            <a:off x="6355080" y="2788920"/>
            <a:ext cx="5257800" cy="457200"/>
          </a:xfrm>
          <a:prstGeom prst="rect">
            <a:avLst/>
          </a:prstGeom>
          <a:noFill/>
          <a:ln/>
        </p:spPr>
        <p:txBody>
          <a:bodyPr wrap="square" rtlCol="0" anchor="ctr"/>
          <a:lstStyle/>
          <a:p>
            <a:pPr indent="0" marL="0">
              <a:buNone/>
            </a:pPr>
            <a:r>
              <a:rPr lang="en-US" sz="2100" b="1" dirty="0">
                <a:solidFill>
                  <a:srgbClr val="FBBF24"/>
                </a:solidFill>
                <a:latin typeface="Cambria" pitchFamily="34" charset="0"/>
                <a:ea typeface="Cambria" pitchFamily="34" charset="-122"/>
                <a:cs typeface="Cambria" pitchFamily="34" charset="-120"/>
              </a:rPr>
              <a:t>Examen cu trisa</a:t>
            </a:r>
            <a:endParaRPr lang="en-US" sz="2100" dirty="0"/>
          </a:p>
        </p:txBody>
      </p:sp>
      <p:sp>
        <p:nvSpPr>
          <p:cNvPr id="16" name="Text 14"/>
          <p:cNvSpPr/>
          <p:nvPr/>
        </p:nvSpPr>
        <p:spPr>
          <a:xfrm>
            <a:off x="6446520" y="3337560"/>
            <a:ext cx="5074920" cy="2926080"/>
          </a:xfrm>
          <a:prstGeom prst="rect">
            <a:avLst/>
          </a:prstGeom>
          <a:noFill/>
          <a:ln/>
        </p:spPr>
        <p:txBody>
          <a:bodyPr wrap="square" rtlCol="0" anchor="t"/>
          <a:lstStyle/>
          <a:p>
            <a:pPr indent="0" marL="0">
              <a:lnSpc>
                <a:spcPct val="125000"/>
              </a:lnSpc>
              <a:buNone/>
            </a:pPr>
            <a:r>
              <a:rPr lang="en-US" sz="1700" b="1" dirty="0">
                <a:solidFill>
                  <a:srgbClr val="E2E8F0"/>
                </a:solidFill>
                <a:latin typeface="Calibri" pitchFamily="34" charset="0"/>
                <a:ea typeface="Calibri" pitchFamily="34" charset="-122"/>
                <a:cs typeface="Calibri" pitchFamily="34" charset="-120"/>
              </a:rPr>
              <a:t>Elev: </a:t>
            </a:r>
            <a:pPr indent="0" marL="0">
              <a:lnSpc>
                <a:spcPct val="125000"/>
              </a:lnSpc>
              <a:buNone/>
            </a:pPr>
            <a:r>
              <a:rPr lang="en-US" sz="1700" dirty="0">
                <a:solidFill>
                  <a:srgbClr val="E2E8F0"/>
                </a:solidFill>
                <a:latin typeface="Calibri" pitchFamily="34" charset="0"/>
                <a:ea typeface="Calibri" pitchFamily="34" charset="-122"/>
                <a:cs typeface="Calibri" pitchFamily="34" charset="-120"/>
              </a:rPr>
              <a:t>priveste raspunsul corect in timp ce raspunde.
</a:t>
            </a:r>
            <a:pPr indent="0" marL="0">
              <a:lnSpc>
                <a:spcPct val="125000"/>
              </a:lnSpc>
              <a:buNone/>
            </a:pPr>
            <a:r>
              <a:rPr lang="en-US" sz="1700" b="1" dirty="0">
                <a:solidFill>
                  <a:srgbClr val="E2E8F0"/>
                </a:solidFill>
                <a:latin typeface="Calibri" pitchFamily="34" charset="0"/>
                <a:ea typeface="Calibri" pitchFamily="34" charset="-122"/>
                <a:cs typeface="Calibri" pitchFamily="34" charset="-120"/>
              </a:rPr>
              <a:t>Profesor: </a:t>
            </a:r>
            <a:pPr indent="0" marL="0">
              <a:lnSpc>
                <a:spcPct val="125000"/>
              </a:lnSpc>
              <a:buNone/>
            </a:pPr>
            <a:r>
              <a:rPr lang="en-US" sz="1700" dirty="0">
                <a:solidFill>
                  <a:srgbClr val="E2E8F0"/>
                </a:solidFill>
                <a:latin typeface="Calibri" pitchFamily="34" charset="0"/>
                <a:ea typeface="Calibri" pitchFamily="34" charset="-122"/>
                <a:cs typeface="Calibri" pitchFamily="34" charset="-120"/>
              </a:rPr>
              <a:t>vede o nota perfecta, dar nu observa ca elevul a vazut raspunsul.
</a:t>
            </a:r>
            <a:pPr indent="0" marL="0">
              <a:lnSpc>
                <a:spcPct val="125000"/>
              </a:lnSpc>
              <a:buNone/>
            </a:pPr>
            <a:r>
              <a:rPr lang="en-US" sz="1700" b="1" dirty="0">
                <a:solidFill>
                  <a:srgbClr val="F472B6"/>
                </a:solidFill>
                <a:latin typeface="Calibri" pitchFamily="34" charset="0"/>
                <a:ea typeface="Calibri" pitchFamily="34" charset="-122"/>
                <a:cs typeface="Calibri" pitchFamily="34" charset="-120"/>
              </a:rPr>
              <a:t>Nota: </a:t>
            </a:r>
            <a:pPr indent="0" marL="0">
              <a:lnSpc>
                <a:spcPct val="125000"/>
              </a:lnSpc>
              <a:buNone/>
            </a:pPr>
            <a:r>
              <a:rPr lang="en-US" sz="1700" dirty="0">
                <a:solidFill>
                  <a:srgbClr val="E2E8F0"/>
                </a:solidFill>
                <a:latin typeface="Calibri" pitchFamily="34" charset="0"/>
                <a:ea typeface="Calibri" pitchFamily="34" charset="-122"/>
                <a:cs typeface="Calibri" pitchFamily="34" charset="-120"/>
              </a:rPr>
              <a:t>fals 10 — elevul nu stie nimic real.
</a:t>
            </a:r>
            <a:pPr indent="0" marL="0">
              <a:lnSpc>
                <a:spcPct val="125000"/>
              </a:lnSpc>
              <a:buNone/>
            </a:pPr>
            <a:r>
              <a:rPr lang="en-US" sz="1600" i="1" dirty="0">
                <a:solidFill>
                  <a:srgbClr val="F472B6"/>
                </a:solidFill>
                <a:latin typeface="Calibri" pitchFamily="34" charset="0"/>
                <a:ea typeface="Calibri" pitchFamily="34" charset="-122"/>
                <a:cs typeface="Calibri" pitchFamily="34" charset="-120"/>
              </a:rPr>
              <a:t>= Modelul ML fara .shift(1) — data leakage</a:t>
            </a:r>
            <a:endParaRPr lang="en-US" sz="1700" dirty="0"/>
          </a:p>
        </p:txBody>
      </p:sp>
      <p:sp>
        <p:nvSpPr>
          <p:cNvPr id="17" name="Text 15"/>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18" name="Text 16"/>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24 / 28</a:t>
            </a:r>
            <a:endParaRPr lang="en-US" sz="1100" dirty="0"/>
          </a:p>
        </p:txBody>
      </p:sp>
    </p:spTree>
  </p:cSld>
  <p:transition xmlns:p="http://schemas.openxmlformats.org/presentationml/2006/main" spd="med">
    <p:fade/>
  </p:transition>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51025"/>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818CF8">
              <a:alpha val="15000"/>
            </a:srgbClr>
          </a:solidFill>
          <a:ln w="12700">
            <a:solidFill>
              <a:srgbClr val="818CF8">
                <a:alpha val="15000"/>
              </a:srgbClr>
            </a:solidFill>
            <a:prstDash val="solid"/>
          </a:ln>
        </p:spPr>
      </p:sp>
      <p:sp>
        <p:nvSpPr>
          <p:cNvPr id="3" name="Shape 1"/>
          <p:cNvSpPr/>
          <p:nvPr/>
        </p:nvSpPr>
        <p:spPr>
          <a:xfrm>
            <a:off x="10515600" y="5212080"/>
            <a:ext cx="3200400" cy="3200400"/>
          </a:xfrm>
          <a:prstGeom prst="ellipse">
            <a:avLst/>
          </a:prstGeom>
          <a:solidFill>
            <a:srgbClr val="F472B6">
              <a:alpha val="12000"/>
            </a:srgbClr>
          </a:solidFill>
          <a:ln w="12700">
            <a:solidFill>
              <a:srgbClr val="F472B6">
                <a:alpha val="12000"/>
              </a:srgbClr>
            </a:solidFill>
            <a:prstDash val="solid"/>
          </a:ln>
        </p:spPr>
      </p:sp>
      <p:sp>
        <p:nvSpPr>
          <p:cNvPr id="4" name="Shape 2"/>
          <p:cNvSpPr/>
          <p:nvPr/>
        </p:nvSpPr>
        <p:spPr>
          <a:xfrm>
            <a:off x="0" y="0"/>
            <a:ext cx="12161520" cy="164592"/>
          </a:xfrm>
          <a:prstGeom prst="rect">
            <a:avLst/>
          </a:prstGeom>
          <a:solidFill>
            <a:srgbClr val="FBBF24"/>
          </a:solidFill>
          <a:ln w="12700">
            <a:solidFill>
              <a:srgbClr val="FBBF24"/>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FBBF24"/>
                </a:solidFill>
                <a:latin typeface="Calibri" pitchFamily="34" charset="0"/>
                <a:ea typeface="Calibri" pitchFamily="34" charset="-122"/>
                <a:cs typeface="Calibri" pitchFamily="34" charset="-120"/>
              </a:rPr>
              <a:t>TEHNICA 3 / DEMONSTRATIA</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Capcana .shift(1) — demonstratie numerica</a:t>
            </a:r>
            <a:endParaRPr lang="en-US" sz="3600" dirty="0"/>
          </a:p>
        </p:txBody>
      </p:sp>
      <p:sp>
        <p:nvSpPr>
          <p:cNvPr id="7" name="Shape 5"/>
          <p:cNvSpPr/>
          <p:nvPr/>
        </p:nvSpPr>
        <p:spPr>
          <a:xfrm>
            <a:off x="548640" y="1691640"/>
            <a:ext cx="1645920" cy="54864"/>
          </a:xfrm>
          <a:prstGeom prst="rect">
            <a:avLst/>
          </a:prstGeom>
          <a:solidFill>
            <a:srgbClr val="F472B6"/>
          </a:solidFill>
          <a:ln w="12700">
            <a:solidFill>
              <a:srgbClr val="F472B6"/>
            </a:solidFill>
            <a:prstDash val="solid"/>
          </a:ln>
        </p:spPr>
      </p:sp>
      <p:pic>
        <p:nvPicPr>
          <p:cNvPr id="8" name="Image 0" descr="/sessions/vibrant-elegant-pasteur/mnt/Disertatie_AI_Platform/reports/figures/fig_fe_shift1_animated.gif">    </p:cNvPr>
          <p:cNvPicPr>
            <a:picLocks noChangeAspect="1"/>
          </p:cNvPicPr>
          <p:nvPr/>
        </p:nvPicPr>
        <p:blipFill>
          <a:blip r:embed="rId1"/>
          <a:srcRect l="0" r="0" t="0" b="0"/>
          <a:stretch/>
        </p:blipFill>
        <p:spPr>
          <a:xfrm>
            <a:off x="457200" y="1783080"/>
            <a:ext cx="11247120" cy="3383280"/>
          </a:xfrm>
          <a:prstGeom prst="rect">
            <a:avLst/>
          </a:prstGeom>
        </p:spPr>
      </p:pic>
      <p:sp>
        <p:nvSpPr>
          <p:cNvPr id="9" name="Shape 6"/>
          <p:cNvSpPr/>
          <p:nvPr/>
        </p:nvSpPr>
        <p:spPr>
          <a:xfrm>
            <a:off x="548640" y="5257800"/>
            <a:ext cx="5486400" cy="1097280"/>
          </a:xfrm>
          <a:prstGeom prst="rect">
            <a:avLst/>
          </a:prstGeom>
          <a:solidFill>
            <a:srgbClr val="1E1A3A"/>
          </a:solidFill>
          <a:ln w="12700">
            <a:solidFill>
              <a:srgbClr val="1E1A3A"/>
            </a:solidFill>
            <a:prstDash val="solid"/>
          </a:ln>
        </p:spPr>
      </p:sp>
      <p:sp>
        <p:nvSpPr>
          <p:cNvPr id="10" name="Shape 7"/>
          <p:cNvSpPr/>
          <p:nvPr/>
        </p:nvSpPr>
        <p:spPr>
          <a:xfrm>
            <a:off x="548640" y="5257800"/>
            <a:ext cx="137160" cy="1097280"/>
          </a:xfrm>
          <a:prstGeom prst="rect">
            <a:avLst/>
          </a:prstGeom>
          <a:solidFill>
            <a:srgbClr val="F472B6"/>
          </a:solidFill>
          <a:ln w="12700">
            <a:solidFill>
              <a:srgbClr val="F472B6"/>
            </a:solidFill>
            <a:prstDash val="solid"/>
          </a:ln>
        </p:spPr>
      </p:sp>
      <p:sp>
        <p:nvSpPr>
          <p:cNvPr id="11" name="Text 8"/>
          <p:cNvSpPr/>
          <p:nvPr/>
        </p:nvSpPr>
        <p:spPr>
          <a:xfrm>
            <a:off x="777240" y="5330952"/>
            <a:ext cx="5166360" cy="960120"/>
          </a:xfrm>
          <a:prstGeom prst="rect">
            <a:avLst/>
          </a:prstGeom>
          <a:noFill/>
          <a:ln/>
        </p:spPr>
        <p:txBody>
          <a:bodyPr wrap="square" rtlCol="0" anchor="t"/>
          <a:lstStyle/>
          <a:p>
            <a:pPr indent="0" marL="0">
              <a:lnSpc>
                <a:spcPct val="120000"/>
              </a:lnSpc>
              <a:buNone/>
            </a:pPr>
            <a:r>
              <a:rPr lang="en-US" sz="1800" b="1" dirty="0">
                <a:solidFill>
                  <a:srgbClr val="F472B6"/>
                </a:solidFill>
                <a:latin typeface="Calibri" pitchFamily="34" charset="0"/>
                <a:ea typeface="Calibri" pitchFamily="34" charset="-122"/>
                <a:cs typeface="Calibri" pitchFamily="34" charset="-120"/>
              </a:rPr>
              <a:t>Greseala  </a:t>
            </a:r>
            <a:pPr indent="0" marL="0">
              <a:lnSpc>
                <a:spcPct val="120000"/>
              </a:lnSpc>
              <a:buNone/>
            </a:pPr>
            <a:r>
              <a:rPr lang="en-US" sz="1300" i="1" dirty="0">
                <a:solidFill>
                  <a:srgbClr val="94A3B8"/>
                </a:solidFill>
                <a:latin typeface="Calibri" pitchFamily="34" charset="0"/>
                <a:ea typeface="Calibri" pitchFamily="34" charset="-122"/>
                <a:cs typeface="Calibri" pitchFamily="34" charset="-120"/>
              </a:rPr>
              <a:t>(elevul vede raspunsul)
</a:t>
            </a:r>
            <a:pPr indent="0" marL="0">
              <a:lnSpc>
                <a:spcPct val="120000"/>
              </a:lnSpc>
              <a:buNone/>
            </a:pPr>
            <a:r>
              <a:rPr lang="en-US" sz="1400" dirty="0">
                <a:solidFill>
                  <a:srgbClr val="E2E8F0"/>
                </a:solidFill>
                <a:latin typeface="Calibri" pitchFamily="34" charset="0"/>
                <a:ea typeface="Calibri" pitchFamily="34" charset="-122"/>
                <a:cs typeface="Calibri" pitchFamily="34" charset="-120"/>
              </a:rPr>
              <a:t>rolling(3).mean() include valoarea de la t — leakage. R² fals 0.93.</a:t>
            </a:r>
            <a:endParaRPr lang="en-US" sz="1800" dirty="0"/>
          </a:p>
        </p:txBody>
      </p:sp>
      <p:sp>
        <p:nvSpPr>
          <p:cNvPr id="12" name="Shape 9"/>
          <p:cNvSpPr/>
          <p:nvPr/>
        </p:nvSpPr>
        <p:spPr>
          <a:xfrm>
            <a:off x="6126480" y="5257800"/>
            <a:ext cx="5486400" cy="1097280"/>
          </a:xfrm>
          <a:prstGeom prst="rect">
            <a:avLst/>
          </a:prstGeom>
          <a:solidFill>
            <a:srgbClr val="1E1A3A"/>
          </a:solidFill>
          <a:ln w="12700">
            <a:solidFill>
              <a:srgbClr val="1E1A3A"/>
            </a:solidFill>
            <a:prstDash val="solid"/>
          </a:ln>
        </p:spPr>
      </p:sp>
      <p:sp>
        <p:nvSpPr>
          <p:cNvPr id="13" name="Shape 10"/>
          <p:cNvSpPr/>
          <p:nvPr/>
        </p:nvSpPr>
        <p:spPr>
          <a:xfrm>
            <a:off x="6126480" y="5257800"/>
            <a:ext cx="137160" cy="1097280"/>
          </a:xfrm>
          <a:prstGeom prst="rect">
            <a:avLst/>
          </a:prstGeom>
          <a:solidFill>
            <a:srgbClr val="34D399"/>
          </a:solidFill>
          <a:ln w="12700">
            <a:solidFill>
              <a:srgbClr val="34D399"/>
            </a:solidFill>
            <a:prstDash val="solid"/>
          </a:ln>
        </p:spPr>
      </p:sp>
      <p:sp>
        <p:nvSpPr>
          <p:cNvPr id="14" name="Text 11"/>
          <p:cNvSpPr/>
          <p:nvPr/>
        </p:nvSpPr>
        <p:spPr>
          <a:xfrm>
            <a:off x="6355080" y="5330952"/>
            <a:ext cx="5166360" cy="960120"/>
          </a:xfrm>
          <a:prstGeom prst="rect">
            <a:avLst/>
          </a:prstGeom>
          <a:noFill/>
          <a:ln/>
        </p:spPr>
        <p:txBody>
          <a:bodyPr wrap="square" rtlCol="0" anchor="t"/>
          <a:lstStyle/>
          <a:p>
            <a:pPr indent="0" marL="0">
              <a:lnSpc>
                <a:spcPct val="120000"/>
              </a:lnSpc>
              <a:buNone/>
            </a:pPr>
            <a:r>
              <a:rPr lang="en-US" sz="1800" b="1" dirty="0">
                <a:solidFill>
                  <a:srgbClr val="34D399"/>
                </a:solidFill>
                <a:latin typeface="Calibri" pitchFamily="34" charset="0"/>
                <a:ea typeface="Calibri" pitchFamily="34" charset="-122"/>
                <a:cs typeface="Calibri" pitchFamily="34" charset="-120"/>
              </a:rPr>
              <a:t>Solutia  </a:t>
            </a:r>
            <a:pPr indent="0" marL="0">
              <a:lnSpc>
                <a:spcPct val="120000"/>
              </a:lnSpc>
              <a:buNone/>
            </a:pPr>
            <a:r>
              <a:rPr lang="en-US" sz="1300" i="1" dirty="0">
                <a:solidFill>
                  <a:srgbClr val="94A3B8"/>
                </a:solidFill>
                <a:latin typeface="Calibri" pitchFamily="34" charset="0"/>
                <a:ea typeface="Calibri" pitchFamily="34" charset="-122"/>
                <a:cs typeface="Calibri" pitchFamily="34" charset="-120"/>
              </a:rPr>
              <a:t>(elevul invata cinstit)
</a:t>
            </a:r>
            <a:pPr indent="0" marL="0">
              <a:lnSpc>
                <a:spcPct val="120000"/>
              </a:lnSpc>
              <a:buNone/>
            </a:pPr>
            <a:r>
              <a:rPr lang="en-US" sz="1400" dirty="0">
                <a:solidFill>
                  <a:srgbClr val="E2E8F0"/>
                </a:solidFill>
                <a:latin typeface="Calibri" pitchFamily="34" charset="0"/>
                <a:ea typeface="Calibri" pitchFamily="34" charset="-122"/>
                <a:cs typeface="Calibri" pitchFamily="34" charset="-120"/>
              </a:rPr>
              <a:t>.shift(1) muta seria inainte de rolling. Foloseste DOAR trecutul. R² cinstit 0.74.</a:t>
            </a:r>
            <a:endParaRPr lang="en-US" sz="1800" dirty="0"/>
          </a:p>
        </p:txBody>
      </p:sp>
      <p:sp>
        <p:nvSpPr>
          <p:cNvPr id="15" name="Text 12"/>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16" name="Text 13"/>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25 / 28</a:t>
            </a:r>
            <a:endParaRPr lang="en-US" sz="1100" dirty="0"/>
          </a:p>
        </p:txBody>
      </p:sp>
    </p:spTree>
  </p:cSld>
  <p:transition xmlns:p="http://schemas.openxmlformats.org/presentationml/2006/main" spd="med">
    <p:fade/>
  </p:transition>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51025"/>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818CF8">
              <a:alpha val="15000"/>
            </a:srgbClr>
          </a:solidFill>
          <a:ln w="12700">
            <a:solidFill>
              <a:srgbClr val="818CF8">
                <a:alpha val="15000"/>
              </a:srgbClr>
            </a:solidFill>
            <a:prstDash val="solid"/>
          </a:ln>
        </p:spPr>
      </p:sp>
      <p:sp>
        <p:nvSpPr>
          <p:cNvPr id="3" name="Shape 1"/>
          <p:cNvSpPr/>
          <p:nvPr/>
        </p:nvSpPr>
        <p:spPr>
          <a:xfrm>
            <a:off x="10515600" y="5212080"/>
            <a:ext cx="3200400" cy="3200400"/>
          </a:xfrm>
          <a:prstGeom prst="ellipse">
            <a:avLst/>
          </a:prstGeom>
          <a:solidFill>
            <a:srgbClr val="F472B6">
              <a:alpha val="12000"/>
            </a:srgbClr>
          </a:solidFill>
          <a:ln w="12700">
            <a:solidFill>
              <a:srgbClr val="F472B6">
                <a:alpha val="12000"/>
              </a:srgbClr>
            </a:solidFill>
            <a:prstDash val="solid"/>
          </a:ln>
        </p:spPr>
      </p:sp>
      <p:sp>
        <p:nvSpPr>
          <p:cNvPr id="4" name="Shape 2"/>
          <p:cNvSpPr/>
          <p:nvPr/>
        </p:nvSpPr>
        <p:spPr>
          <a:xfrm>
            <a:off x="0" y="0"/>
            <a:ext cx="12161520" cy="164592"/>
          </a:xfrm>
          <a:prstGeom prst="rect">
            <a:avLst/>
          </a:prstGeom>
          <a:solidFill>
            <a:srgbClr val="FBBF24"/>
          </a:solidFill>
          <a:ln w="12700">
            <a:solidFill>
              <a:srgbClr val="FBBF24"/>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FBBF24"/>
                </a:solidFill>
                <a:latin typeface="Calibri" pitchFamily="34" charset="0"/>
                <a:ea typeface="Calibri" pitchFamily="34" charset="-122"/>
                <a:cs typeface="Calibri" pitchFamily="34" charset="-120"/>
              </a:rPr>
              <a:t>REZULTATE PROPRII</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Validare empirica: 7 modele pe pretul Spania</a:t>
            </a:r>
            <a:endParaRPr lang="en-US" sz="3600" dirty="0"/>
          </a:p>
        </p:txBody>
      </p:sp>
      <p:sp>
        <p:nvSpPr>
          <p:cNvPr id="7" name="Shape 5"/>
          <p:cNvSpPr/>
          <p:nvPr/>
        </p:nvSpPr>
        <p:spPr>
          <a:xfrm>
            <a:off x="548640" y="1691640"/>
            <a:ext cx="1645920" cy="54864"/>
          </a:xfrm>
          <a:prstGeom prst="rect">
            <a:avLst/>
          </a:prstGeom>
          <a:solidFill>
            <a:srgbClr val="F472B6"/>
          </a:solidFill>
          <a:ln w="12700">
            <a:solidFill>
              <a:srgbClr val="F472B6"/>
            </a:solidFill>
            <a:prstDash val="solid"/>
          </a:ln>
        </p:spPr>
      </p:sp>
      <p:pic>
        <p:nvPicPr>
          <p:cNvPr id="8" name="Image 0" descr="/sessions/vibrant-elegant-pasteur/mnt/Disertatie_AI_Platform/reports/figures/fig_fe_tabel_modele.png">    </p:cNvPr>
          <p:cNvPicPr>
            <a:picLocks noChangeAspect="1"/>
          </p:cNvPicPr>
          <p:nvPr/>
        </p:nvPicPr>
        <p:blipFill>
          <a:blip r:embed="rId1"/>
          <a:srcRect l="0" r="0" t="0" b="0"/>
          <a:stretch/>
        </p:blipFill>
        <p:spPr>
          <a:xfrm>
            <a:off x="365760" y="1783080"/>
            <a:ext cx="11430000" cy="3840480"/>
          </a:xfrm>
          <a:prstGeom prst="rect">
            <a:avLst/>
          </a:prstGeom>
        </p:spPr>
      </p:pic>
      <p:sp>
        <p:nvSpPr>
          <p:cNvPr id="9" name="Shape 6"/>
          <p:cNvSpPr/>
          <p:nvPr/>
        </p:nvSpPr>
        <p:spPr>
          <a:xfrm>
            <a:off x="548640" y="5760720"/>
            <a:ext cx="5486400" cy="640080"/>
          </a:xfrm>
          <a:prstGeom prst="rect">
            <a:avLst/>
          </a:prstGeom>
          <a:solidFill>
            <a:srgbClr val="1E1A3A"/>
          </a:solidFill>
          <a:ln w="12700">
            <a:solidFill>
              <a:srgbClr val="1E1A3A"/>
            </a:solidFill>
            <a:prstDash val="solid"/>
          </a:ln>
        </p:spPr>
      </p:sp>
      <p:sp>
        <p:nvSpPr>
          <p:cNvPr id="10" name="Shape 7"/>
          <p:cNvSpPr/>
          <p:nvPr/>
        </p:nvSpPr>
        <p:spPr>
          <a:xfrm>
            <a:off x="548640" y="5760720"/>
            <a:ext cx="137160" cy="640080"/>
          </a:xfrm>
          <a:prstGeom prst="rect">
            <a:avLst/>
          </a:prstGeom>
          <a:solidFill>
            <a:srgbClr val="34D399"/>
          </a:solidFill>
          <a:ln w="12700">
            <a:solidFill>
              <a:srgbClr val="34D399"/>
            </a:solidFill>
            <a:prstDash val="solid"/>
          </a:ln>
        </p:spPr>
      </p:sp>
      <p:sp>
        <p:nvSpPr>
          <p:cNvPr id="11" name="Text 8"/>
          <p:cNvSpPr/>
          <p:nvPr/>
        </p:nvSpPr>
        <p:spPr>
          <a:xfrm>
            <a:off x="777240" y="5779008"/>
            <a:ext cx="5166360" cy="594360"/>
          </a:xfrm>
          <a:prstGeom prst="rect">
            <a:avLst/>
          </a:prstGeom>
          <a:noFill/>
          <a:ln/>
        </p:spPr>
        <p:txBody>
          <a:bodyPr wrap="square" rtlCol="0" anchor="ctr"/>
          <a:lstStyle/>
          <a:p>
            <a:pPr indent="0" marL="0">
              <a:buNone/>
            </a:pPr>
            <a:r>
              <a:rPr lang="en-US" sz="1600" b="1" dirty="0">
                <a:solidFill>
                  <a:srgbClr val="34D399"/>
                </a:solidFill>
                <a:latin typeface="Calibri" pitchFamily="34" charset="0"/>
                <a:ea typeface="Calibri" pitchFamily="34" charset="-122"/>
                <a:cs typeface="Calibri" pitchFamily="34" charset="-120"/>
              </a:rPr>
              <a:t>Castigator: XGBoost  </a:t>
            </a:r>
            <a:pPr indent="0" marL="0">
              <a:buNone/>
            </a:pPr>
            <a:r>
              <a:rPr lang="en-US" sz="1300" dirty="0">
                <a:solidFill>
                  <a:srgbClr val="E2E8F0"/>
                </a:solidFill>
                <a:latin typeface="Calibri" pitchFamily="34" charset="0"/>
                <a:ea typeface="Calibri" pitchFamily="34" charset="-122"/>
                <a:cs typeface="Calibri" pitchFamily="34" charset="-120"/>
              </a:rPr>
              <a:t>R² = 0.968,  RMSE = 2.07 EUR/MWh</a:t>
            </a:r>
            <a:endParaRPr lang="en-US" sz="1600" dirty="0"/>
          </a:p>
        </p:txBody>
      </p:sp>
      <p:sp>
        <p:nvSpPr>
          <p:cNvPr id="12" name="Shape 9"/>
          <p:cNvSpPr/>
          <p:nvPr/>
        </p:nvSpPr>
        <p:spPr>
          <a:xfrm>
            <a:off x="6126480" y="5760720"/>
            <a:ext cx="5486400" cy="640080"/>
          </a:xfrm>
          <a:prstGeom prst="rect">
            <a:avLst/>
          </a:prstGeom>
          <a:solidFill>
            <a:srgbClr val="1E1A3A"/>
          </a:solidFill>
          <a:ln w="12700">
            <a:solidFill>
              <a:srgbClr val="1E1A3A"/>
            </a:solidFill>
            <a:prstDash val="solid"/>
          </a:ln>
        </p:spPr>
      </p:sp>
      <p:sp>
        <p:nvSpPr>
          <p:cNvPr id="13" name="Shape 10"/>
          <p:cNvSpPr/>
          <p:nvPr/>
        </p:nvSpPr>
        <p:spPr>
          <a:xfrm>
            <a:off x="6126480" y="5760720"/>
            <a:ext cx="137160" cy="640080"/>
          </a:xfrm>
          <a:prstGeom prst="rect">
            <a:avLst/>
          </a:prstGeom>
          <a:solidFill>
            <a:srgbClr val="818CF8"/>
          </a:solidFill>
          <a:ln w="12700">
            <a:solidFill>
              <a:srgbClr val="818CF8"/>
            </a:solidFill>
            <a:prstDash val="solid"/>
          </a:ln>
        </p:spPr>
      </p:sp>
      <p:sp>
        <p:nvSpPr>
          <p:cNvPr id="14" name="Text 11"/>
          <p:cNvSpPr/>
          <p:nvPr/>
        </p:nvSpPr>
        <p:spPr>
          <a:xfrm>
            <a:off x="6355080" y="5779008"/>
            <a:ext cx="5166360" cy="594360"/>
          </a:xfrm>
          <a:prstGeom prst="rect">
            <a:avLst/>
          </a:prstGeom>
          <a:noFill/>
          <a:ln/>
        </p:spPr>
        <p:txBody>
          <a:bodyPr wrap="square" rtlCol="0" anchor="ctr"/>
          <a:lstStyle/>
          <a:p>
            <a:pPr indent="0" marL="0">
              <a:buNone/>
            </a:pPr>
            <a:r>
              <a:rPr lang="en-US" sz="1600" b="1" dirty="0">
                <a:solidFill>
                  <a:srgbClr val="818CF8"/>
                </a:solidFill>
                <a:latin typeface="Calibri" pitchFamily="34" charset="0"/>
                <a:ea typeface="Calibri" pitchFamily="34" charset="-122"/>
                <a:cs typeface="Calibri" pitchFamily="34" charset="-120"/>
              </a:rPr>
              <a:t>Insight cheie:  </a:t>
            </a:r>
            <a:pPr indent="0" marL="0">
              <a:buNone/>
            </a:pPr>
            <a:r>
              <a:rPr lang="en-US" sz="1300" dirty="0">
                <a:solidFill>
                  <a:srgbClr val="E2E8F0"/>
                </a:solidFill>
                <a:latin typeface="Calibri" pitchFamily="34" charset="0"/>
                <a:ea typeface="Calibri" pitchFamily="34" charset="-122"/>
                <a:cs typeface="Calibri" pitchFamily="34" charset="-120"/>
              </a:rPr>
              <a:t>toate modelele clasice au R² peste 0.94 — calitatea features-urilor a contat.</a:t>
            </a:r>
            <a:endParaRPr lang="en-US" sz="1600" dirty="0"/>
          </a:p>
        </p:txBody>
      </p:sp>
      <p:sp>
        <p:nvSpPr>
          <p:cNvPr id="15" name="Text 12"/>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16" name="Text 13"/>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26 / 28</a:t>
            </a:r>
            <a:endParaRPr lang="en-US" sz="1100" dirty="0"/>
          </a:p>
        </p:txBody>
      </p:sp>
    </p:spTree>
  </p:cSld>
  <p:transition xmlns:p="http://schemas.openxmlformats.org/presentationml/2006/main" spd="med">
    <p:fade/>
  </p:transition>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51025"/>
        </a:solidFill>
      </p:bgPr>
    </p:bg>
    <p:spTree>
      <p:nvGrpSpPr>
        <p:cNvPr id="1" name=""/>
        <p:cNvGrpSpPr/>
        <p:nvPr/>
      </p:nvGrpSpPr>
      <p:grpSpPr>
        <a:xfrm>
          <a:off x="0" y="0"/>
          <a:ext cx="0" cy="0"/>
          <a:chOff x="0" y="0"/>
          <a:chExt cx="0" cy="0"/>
        </a:xfrm>
      </p:grpSpPr>
      <p:sp>
        <p:nvSpPr>
          <p:cNvPr id="2" name="Shape 0"/>
          <p:cNvSpPr/>
          <p:nvPr/>
        </p:nvSpPr>
        <p:spPr>
          <a:xfrm>
            <a:off x="-1371600" y="-1371600"/>
            <a:ext cx="3200400" cy="3200400"/>
          </a:xfrm>
          <a:prstGeom prst="ellipse">
            <a:avLst/>
          </a:prstGeom>
          <a:solidFill>
            <a:srgbClr val="818CF8">
              <a:alpha val="15000"/>
            </a:srgbClr>
          </a:solidFill>
          <a:ln w="12700">
            <a:solidFill>
              <a:srgbClr val="818CF8">
                <a:alpha val="15000"/>
              </a:srgbClr>
            </a:solidFill>
            <a:prstDash val="solid"/>
          </a:ln>
        </p:spPr>
      </p:sp>
      <p:sp>
        <p:nvSpPr>
          <p:cNvPr id="3" name="Shape 1"/>
          <p:cNvSpPr/>
          <p:nvPr/>
        </p:nvSpPr>
        <p:spPr>
          <a:xfrm>
            <a:off x="10515600" y="5212080"/>
            <a:ext cx="3200400" cy="3200400"/>
          </a:xfrm>
          <a:prstGeom prst="ellipse">
            <a:avLst/>
          </a:prstGeom>
          <a:solidFill>
            <a:srgbClr val="F472B6">
              <a:alpha val="12000"/>
            </a:srgbClr>
          </a:solidFill>
          <a:ln w="12700">
            <a:solidFill>
              <a:srgbClr val="F472B6">
                <a:alpha val="12000"/>
              </a:srgbClr>
            </a:solidFill>
            <a:prstDash val="solid"/>
          </a:ln>
        </p:spPr>
      </p:sp>
      <p:sp>
        <p:nvSpPr>
          <p:cNvPr id="4" name="Shape 2"/>
          <p:cNvSpPr/>
          <p:nvPr/>
        </p:nvSpPr>
        <p:spPr>
          <a:xfrm>
            <a:off x="0" y="0"/>
            <a:ext cx="12161520" cy="164592"/>
          </a:xfrm>
          <a:prstGeom prst="rect">
            <a:avLst/>
          </a:prstGeom>
          <a:solidFill>
            <a:srgbClr val="FBBF24"/>
          </a:solidFill>
          <a:ln w="12700">
            <a:solidFill>
              <a:srgbClr val="FBBF24"/>
            </a:solidFill>
            <a:prstDash val="solid"/>
          </a:ln>
        </p:spPr>
      </p:sp>
      <p:sp>
        <p:nvSpPr>
          <p:cNvPr id="5" name="Text 3"/>
          <p:cNvSpPr/>
          <p:nvPr/>
        </p:nvSpPr>
        <p:spPr>
          <a:xfrm>
            <a:off x="548640" y="365760"/>
            <a:ext cx="11064240" cy="365760"/>
          </a:xfrm>
          <a:prstGeom prst="rect">
            <a:avLst/>
          </a:prstGeom>
          <a:noFill/>
          <a:ln/>
        </p:spPr>
        <p:txBody>
          <a:bodyPr wrap="square" lIns="0" tIns="0" rIns="0" bIns="0" rtlCol="0" anchor="ctr"/>
          <a:lstStyle/>
          <a:p>
            <a:pPr indent="0" marL="0">
              <a:buNone/>
            </a:pPr>
            <a:r>
              <a:rPr lang="en-US" sz="1300" b="1" spc="1000" kern="0" dirty="0">
                <a:solidFill>
                  <a:srgbClr val="FBBF24"/>
                </a:solidFill>
                <a:latin typeface="Calibri" pitchFamily="34" charset="0"/>
                <a:ea typeface="Calibri" pitchFamily="34" charset="-122"/>
                <a:cs typeface="Calibri" pitchFamily="34" charset="-120"/>
              </a:rPr>
              <a:t>SINERGIE</a:t>
            </a:r>
            <a:endParaRPr lang="en-US" sz="1300" dirty="0"/>
          </a:p>
        </p:txBody>
      </p:sp>
      <p:sp>
        <p:nvSpPr>
          <p:cNvPr id="6" name="Text 4"/>
          <p:cNvSpPr/>
          <p:nvPr/>
        </p:nvSpPr>
        <p:spPr>
          <a:xfrm>
            <a:off x="548640" y="777240"/>
            <a:ext cx="11064240" cy="86868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Cele trei tehnici impreuna</a:t>
            </a:r>
            <a:endParaRPr lang="en-US" sz="3600" dirty="0"/>
          </a:p>
        </p:txBody>
      </p:sp>
      <p:sp>
        <p:nvSpPr>
          <p:cNvPr id="7" name="Shape 5"/>
          <p:cNvSpPr/>
          <p:nvPr/>
        </p:nvSpPr>
        <p:spPr>
          <a:xfrm>
            <a:off x="548640" y="1691640"/>
            <a:ext cx="1645920" cy="54864"/>
          </a:xfrm>
          <a:prstGeom prst="rect">
            <a:avLst/>
          </a:prstGeom>
          <a:solidFill>
            <a:srgbClr val="F472B6"/>
          </a:solidFill>
          <a:ln w="12700">
            <a:solidFill>
              <a:srgbClr val="F472B6"/>
            </a:solidFill>
            <a:prstDash val="solid"/>
          </a:ln>
        </p:spPr>
      </p:sp>
      <p:pic>
        <p:nvPicPr>
          <p:cNvPr id="8" name="Image 0" descr="/sessions/vibrant-elegant-pasteur/mnt/Disertatie_AI_Platform/reports/figures/fig_4_2_lag_vs_real_vs_rolling.png">    </p:cNvPr>
          <p:cNvPicPr>
            <a:picLocks noChangeAspect="1"/>
          </p:cNvPicPr>
          <p:nvPr/>
        </p:nvPicPr>
        <p:blipFill>
          <a:blip r:embed="rId1"/>
          <a:srcRect l="0" r="0" t="0" b="0"/>
          <a:stretch/>
        </p:blipFill>
        <p:spPr>
          <a:xfrm>
            <a:off x="914400" y="1783080"/>
            <a:ext cx="10332720" cy="3657600"/>
          </a:xfrm>
          <a:prstGeom prst="rect">
            <a:avLst/>
          </a:prstGeom>
        </p:spPr>
      </p:pic>
      <p:sp>
        <p:nvSpPr>
          <p:cNvPr id="9" name="Shape 6"/>
          <p:cNvSpPr/>
          <p:nvPr/>
        </p:nvSpPr>
        <p:spPr>
          <a:xfrm>
            <a:off x="548640" y="5532120"/>
            <a:ext cx="11064240" cy="868680"/>
          </a:xfrm>
          <a:prstGeom prst="rect">
            <a:avLst/>
          </a:prstGeom>
          <a:solidFill>
            <a:srgbClr val="1E1A3A"/>
          </a:solidFill>
          <a:ln w="12700">
            <a:solidFill>
              <a:srgbClr val="1E1A3A"/>
            </a:solidFill>
            <a:prstDash val="solid"/>
          </a:ln>
        </p:spPr>
      </p:sp>
      <p:sp>
        <p:nvSpPr>
          <p:cNvPr id="10" name="Shape 7"/>
          <p:cNvSpPr/>
          <p:nvPr/>
        </p:nvSpPr>
        <p:spPr>
          <a:xfrm>
            <a:off x="548640" y="5532120"/>
            <a:ext cx="137160" cy="868680"/>
          </a:xfrm>
          <a:prstGeom prst="rect">
            <a:avLst/>
          </a:prstGeom>
          <a:solidFill>
            <a:srgbClr val="818CF8"/>
          </a:solidFill>
          <a:ln w="12700">
            <a:solidFill>
              <a:srgbClr val="818CF8"/>
            </a:solidFill>
            <a:prstDash val="solid"/>
          </a:ln>
        </p:spPr>
      </p:sp>
      <p:sp>
        <p:nvSpPr>
          <p:cNvPr id="11" name="Text 8"/>
          <p:cNvSpPr/>
          <p:nvPr/>
        </p:nvSpPr>
        <p:spPr>
          <a:xfrm>
            <a:off x="777240" y="5605272"/>
            <a:ext cx="10607040" cy="731520"/>
          </a:xfrm>
          <a:prstGeom prst="rect">
            <a:avLst/>
          </a:prstGeom>
          <a:noFill/>
          <a:ln/>
        </p:spPr>
        <p:txBody>
          <a:bodyPr wrap="square" rtlCol="0" anchor="ctr"/>
          <a:lstStyle/>
          <a:p>
            <a:pPr indent="0" marL="0">
              <a:buNone/>
            </a:pPr>
            <a:r>
              <a:rPr lang="en-US" sz="1700" b="1" dirty="0">
                <a:solidFill>
                  <a:srgbClr val="818CF8"/>
                </a:solidFill>
                <a:latin typeface="Calibri" pitchFamily="34" charset="0"/>
                <a:ea typeface="Calibri" pitchFamily="34" charset="-122"/>
                <a:cs typeface="Calibri" pitchFamily="34" charset="-120"/>
              </a:rPr>
              <a:t>Trei perspective complementare: </a:t>
            </a:r>
            <a:pPr indent="0" marL="0">
              <a:buNone/>
            </a:pPr>
            <a:r>
              <a:rPr lang="en-US" sz="1400" dirty="0">
                <a:solidFill>
                  <a:srgbClr val="E2E8F0"/>
                </a:solidFill>
                <a:latin typeface="Calibri" pitchFamily="34" charset="0"/>
                <a:ea typeface="Calibri" pitchFamily="34" charset="-122"/>
                <a:cs typeface="Calibri" pitchFamily="34" charset="-120"/>
              </a:rPr>
              <a:t>lag (memoria punctuala) + rolling (contextul agregat) + ciclic (pozitia in cicluri).</a:t>
            </a:r>
            <a:endParaRPr lang="en-US" sz="1700" dirty="0"/>
          </a:p>
        </p:txBody>
      </p:sp>
      <p:sp>
        <p:nvSpPr>
          <p:cNvPr id="12" name="Text 9"/>
          <p:cNvSpPr/>
          <p:nvPr/>
        </p:nvSpPr>
        <p:spPr>
          <a:xfrm>
            <a:off x="548640" y="6355080"/>
            <a:ext cx="9601200" cy="411480"/>
          </a:xfrm>
          <a:prstGeom prst="rect">
            <a:avLst/>
          </a:prstGeom>
          <a:noFill/>
          <a:ln/>
        </p:spPr>
        <p:txBody>
          <a:bodyPr wrap="square" rtlCol="0" anchor="ctr"/>
          <a:lstStyle/>
          <a:p>
            <a:pPr indent="0" marL="0">
              <a:buNone/>
            </a:pPr>
            <a:r>
              <a:rPr lang="en-US" sz="1000" b="1" dirty="0">
                <a:solidFill>
                  <a:srgbClr val="94A3B8"/>
                </a:solidFill>
                <a:latin typeface="Calibri" pitchFamily="34" charset="0"/>
                <a:ea typeface="Calibri" pitchFamily="34" charset="-122"/>
                <a:cs typeface="Calibri" pitchFamily="34" charset="-120"/>
              </a:rPr>
              <a:t>Sesiune Comunicari Stiintifice Mai 2026</a:t>
            </a:r>
            <a:endParaRPr lang="en-US" sz="1000" dirty="0"/>
          </a:p>
          <a:p>
            <a:pPr indent="0" marL="0">
              <a:buNone/>
            </a:pPr>
            <a:r>
              <a:rPr lang="en-US" sz="1000" i="1" dirty="0">
                <a:solidFill>
                  <a:srgbClr val="94A3B8"/>
                </a:solidFill>
                <a:latin typeface="Calibri" pitchFamily="34" charset="0"/>
                <a:ea typeface="Calibri" pitchFamily="34" charset="-122"/>
                <a:cs typeface="Calibri" pitchFamily="34" charset="-120"/>
              </a:rPr>
              <a:t>Tehnici de feature engineering pentru serii temporale</a:t>
            </a:r>
            <a:endParaRPr lang="en-US" sz="1000" dirty="0"/>
          </a:p>
        </p:txBody>
      </p:sp>
      <p:sp>
        <p:nvSpPr>
          <p:cNvPr id="13" name="Text 10"/>
          <p:cNvSpPr/>
          <p:nvPr/>
        </p:nvSpPr>
        <p:spPr>
          <a:xfrm>
            <a:off x="10698480" y="6400800"/>
            <a:ext cx="914400" cy="32004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27 / 28</a:t>
            </a:r>
            <a:endParaRPr lang="en-US" sz="1100" dirty="0"/>
          </a:p>
        </p:txBody>
      </p:sp>
    </p:spTree>
  </p:cSld>
  <p:transition xmlns:p="http://schemas.openxmlformats.org/presentationml/2006/main" spd="med">
    <p:fade/>
  </p:transition>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51025"/>
        </a:solidFill>
      </p:bgPr>
    </p:bg>
    <p:spTree>
      <p:nvGrpSpPr>
        <p:cNvPr id="1" name=""/>
        <p:cNvGrpSpPr/>
        <p:nvPr/>
      </p:nvGrpSpPr>
      <p:grpSpPr>
        <a:xfrm>
          <a:off x="0" y="0"/>
          <a:ext cx="0" cy="0"/>
          <a:chOff x="0" y="0"/>
          <a:chExt cx="0" cy="0"/>
        </a:xfrm>
      </p:grpSpPr>
      <p:sp>
        <p:nvSpPr>
          <p:cNvPr id="2" name="Shape 0"/>
          <p:cNvSpPr/>
          <p:nvPr/>
        </p:nvSpPr>
        <p:spPr>
          <a:xfrm>
            <a:off x="-1828800" y="-1828800"/>
            <a:ext cx="5029200" cy="5029200"/>
          </a:xfrm>
          <a:prstGeom prst="ellipse">
            <a:avLst/>
          </a:prstGeom>
          <a:solidFill>
            <a:srgbClr val="818CF8">
              <a:alpha val="25000"/>
            </a:srgbClr>
          </a:solidFill>
          <a:ln w="12700">
            <a:solidFill>
              <a:srgbClr val="818CF8">
                <a:alpha val="25000"/>
              </a:srgbClr>
            </a:solidFill>
            <a:prstDash val="solid"/>
          </a:ln>
        </p:spPr>
      </p:sp>
      <p:sp>
        <p:nvSpPr>
          <p:cNvPr id="3" name="Shape 1"/>
          <p:cNvSpPr/>
          <p:nvPr/>
        </p:nvSpPr>
        <p:spPr>
          <a:xfrm>
            <a:off x="9418320" y="4114800"/>
            <a:ext cx="5029200" cy="5029200"/>
          </a:xfrm>
          <a:prstGeom prst="ellipse">
            <a:avLst/>
          </a:prstGeom>
          <a:solidFill>
            <a:srgbClr val="F472B6">
              <a:alpha val="20000"/>
            </a:srgbClr>
          </a:solidFill>
          <a:ln w="12700">
            <a:solidFill>
              <a:srgbClr val="F472B6">
                <a:alpha val="20000"/>
              </a:srgbClr>
            </a:solidFill>
            <a:prstDash val="solid"/>
          </a:ln>
        </p:spPr>
      </p:sp>
      <p:sp>
        <p:nvSpPr>
          <p:cNvPr id="4" name="Shape 2"/>
          <p:cNvSpPr/>
          <p:nvPr/>
        </p:nvSpPr>
        <p:spPr>
          <a:xfrm>
            <a:off x="0" y="0"/>
            <a:ext cx="274320" cy="6858000"/>
          </a:xfrm>
          <a:prstGeom prst="rect">
            <a:avLst/>
          </a:prstGeom>
          <a:solidFill>
            <a:srgbClr val="FBBF24"/>
          </a:solidFill>
          <a:ln w="12700">
            <a:solidFill>
              <a:srgbClr val="FBBF24"/>
            </a:solidFill>
            <a:prstDash val="solid"/>
          </a:ln>
        </p:spPr>
      </p:sp>
      <p:sp>
        <p:nvSpPr>
          <p:cNvPr id="5" name="Text 3"/>
          <p:cNvSpPr/>
          <p:nvPr/>
        </p:nvSpPr>
        <p:spPr>
          <a:xfrm>
            <a:off x="822960" y="731520"/>
            <a:ext cx="10515600" cy="457200"/>
          </a:xfrm>
          <a:prstGeom prst="rect">
            <a:avLst/>
          </a:prstGeom>
          <a:noFill/>
          <a:ln/>
        </p:spPr>
        <p:txBody>
          <a:bodyPr wrap="square" rtlCol="0" anchor="ctr"/>
          <a:lstStyle/>
          <a:p>
            <a:pPr indent="0" marL="0">
              <a:buNone/>
            </a:pPr>
            <a:r>
              <a:rPr lang="en-US" sz="1400" b="1" spc="1000" kern="0" dirty="0">
                <a:solidFill>
                  <a:srgbClr val="FBBF24"/>
                </a:solidFill>
                <a:latin typeface="Calibri" pitchFamily="34" charset="0"/>
                <a:ea typeface="Calibri" pitchFamily="34" charset="-122"/>
                <a:cs typeface="Calibri" pitchFamily="34" charset="-120"/>
              </a:rPr>
              <a:t>CONCLUZII  •  MULTUMESC PENTRU ATENTIE</a:t>
            </a:r>
            <a:endParaRPr lang="en-US" sz="1400" dirty="0"/>
          </a:p>
        </p:txBody>
      </p:sp>
      <p:sp>
        <p:nvSpPr>
          <p:cNvPr id="6" name="Text 4"/>
          <p:cNvSpPr/>
          <p:nvPr/>
        </p:nvSpPr>
        <p:spPr>
          <a:xfrm>
            <a:off x="822960" y="1280160"/>
            <a:ext cx="10515600" cy="731520"/>
          </a:xfrm>
          <a:prstGeom prst="rect">
            <a:avLst/>
          </a:prstGeom>
          <a:noFill/>
          <a:ln/>
        </p:spPr>
        <p:txBody>
          <a:bodyPr wrap="square"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Trei idei de retinut</a:t>
            </a:r>
            <a:endParaRPr lang="en-US" sz="3800" dirty="0"/>
          </a:p>
        </p:txBody>
      </p:sp>
      <p:sp>
        <p:nvSpPr>
          <p:cNvPr id="7" name="Shape 5"/>
          <p:cNvSpPr/>
          <p:nvPr/>
        </p:nvSpPr>
        <p:spPr>
          <a:xfrm>
            <a:off x="822960" y="2377440"/>
            <a:ext cx="10515600" cy="1097280"/>
          </a:xfrm>
          <a:prstGeom prst="rect">
            <a:avLst/>
          </a:prstGeom>
          <a:solidFill>
            <a:srgbClr val="1F2A4D"/>
          </a:solidFill>
          <a:ln w="25400">
            <a:solidFill>
              <a:srgbClr val="818CF8"/>
            </a:solidFill>
            <a:prstDash val="solid"/>
          </a:ln>
        </p:spPr>
      </p:sp>
      <p:sp>
        <p:nvSpPr>
          <p:cNvPr id="8" name="Shape 6"/>
          <p:cNvSpPr/>
          <p:nvPr/>
        </p:nvSpPr>
        <p:spPr>
          <a:xfrm>
            <a:off x="822960" y="2377440"/>
            <a:ext cx="137160" cy="1097280"/>
          </a:xfrm>
          <a:prstGeom prst="rect">
            <a:avLst/>
          </a:prstGeom>
          <a:solidFill>
            <a:srgbClr val="818CF8"/>
          </a:solidFill>
          <a:ln w="12700">
            <a:solidFill>
              <a:srgbClr val="818CF8"/>
            </a:solidFill>
            <a:prstDash val="solid"/>
          </a:ln>
        </p:spPr>
      </p:sp>
      <p:sp>
        <p:nvSpPr>
          <p:cNvPr id="9" name="Text 7"/>
          <p:cNvSpPr/>
          <p:nvPr/>
        </p:nvSpPr>
        <p:spPr>
          <a:xfrm>
            <a:off x="1097280" y="2450592"/>
            <a:ext cx="10058400" cy="1005840"/>
          </a:xfrm>
          <a:prstGeom prst="rect">
            <a:avLst/>
          </a:prstGeom>
          <a:noFill/>
          <a:ln/>
        </p:spPr>
        <p:txBody>
          <a:bodyPr wrap="square" rtlCol="0" anchor="t"/>
          <a:lstStyle/>
          <a:p>
            <a:pPr indent="0" marL="0">
              <a:lnSpc>
                <a:spcPct val="120000"/>
              </a:lnSpc>
              <a:buNone/>
            </a:pPr>
            <a:r>
              <a:rPr lang="en-US" sz="1800" b="1" dirty="0">
                <a:solidFill>
                  <a:srgbClr val="818CF8"/>
                </a:solidFill>
                <a:latin typeface="Calibri" pitchFamily="34" charset="0"/>
                <a:ea typeface="Calibri" pitchFamily="34" charset="-122"/>
                <a:cs typeface="Calibri" pitchFamily="34" charset="-120"/>
              </a:rPr>
              <a:t>Feature engineering &gt; selectia modelului
</a:t>
            </a:r>
            <a:pPr indent="0" marL="0">
              <a:lnSpc>
                <a:spcPct val="120000"/>
              </a:lnSpc>
              <a:buNone/>
            </a:pPr>
            <a:r>
              <a:rPr lang="en-US" sz="1400" dirty="0">
                <a:solidFill>
                  <a:srgbClr val="E2E8F0"/>
                </a:solidFill>
                <a:latin typeface="Calibri" pitchFamily="34" charset="0"/>
                <a:ea typeface="Calibri" pitchFamily="34" charset="-122"/>
                <a:cs typeface="Calibri" pitchFamily="34" charset="-120"/>
              </a:rPr>
              <a:t>Pe time series, calitatea features-urilor face mai mult decat alegerea fina a modelului. Toate cele 6 modele clasice au obtinut R² intre 0.947 si 0.968 — diferenta minima.</a:t>
            </a:r>
            <a:endParaRPr lang="en-US" sz="1800" dirty="0"/>
          </a:p>
        </p:txBody>
      </p:sp>
      <p:sp>
        <p:nvSpPr>
          <p:cNvPr id="10" name="Shape 8"/>
          <p:cNvSpPr/>
          <p:nvPr/>
        </p:nvSpPr>
        <p:spPr>
          <a:xfrm>
            <a:off x="822960" y="3611880"/>
            <a:ext cx="10515600" cy="1097280"/>
          </a:xfrm>
          <a:prstGeom prst="rect">
            <a:avLst/>
          </a:prstGeom>
          <a:solidFill>
            <a:srgbClr val="1F2A4D"/>
          </a:solidFill>
          <a:ln w="25400">
            <a:solidFill>
              <a:srgbClr val="F472B6"/>
            </a:solidFill>
            <a:prstDash val="solid"/>
          </a:ln>
        </p:spPr>
      </p:sp>
      <p:sp>
        <p:nvSpPr>
          <p:cNvPr id="11" name="Shape 9"/>
          <p:cNvSpPr/>
          <p:nvPr/>
        </p:nvSpPr>
        <p:spPr>
          <a:xfrm>
            <a:off x="822960" y="3611880"/>
            <a:ext cx="137160" cy="1097280"/>
          </a:xfrm>
          <a:prstGeom prst="rect">
            <a:avLst/>
          </a:prstGeom>
          <a:solidFill>
            <a:srgbClr val="F472B6"/>
          </a:solidFill>
          <a:ln w="12700">
            <a:solidFill>
              <a:srgbClr val="F472B6"/>
            </a:solidFill>
            <a:prstDash val="solid"/>
          </a:ln>
        </p:spPr>
      </p:sp>
      <p:sp>
        <p:nvSpPr>
          <p:cNvPr id="12" name="Text 10"/>
          <p:cNvSpPr/>
          <p:nvPr/>
        </p:nvSpPr>
        <p:spPr>
          <a:xfrm>
            <a:off x="1097280" y="3685032"/>
            <a:ext cx="10058400" cy="1005840"/>
          </a:xfrm>
          <a:prstGeom prst="rect">
            <a:avLst/>
          </a:prstGeom>
          <a:noFill/>
          <a:ln/>
        </p:spPr>
        <p:txBody>
          <a:bodyPr wrap="square" rtlCol="0" anchor="t"/>
          <a:lstStyle/>
          <a:p>
            <a:pPr indent="0" marL="0">
              <a:lnSpc>
                <a:spcPct val="120000"/>
              </a:lnSpc>
              <a:buNone/>
            </a:pPr>
            <a:r>
              <a:rPr lang="en-US" sz="1800" b="1" dirty="0">
                <a:solidFill>
                  <a:srgbClr val="F472B6"/>
                </a:solidFill>
                <a:latin typeface="Calibri" pitchFamily="34" charset="0"/>
                <a:ea typeface="Calibri" pitchFamily="34" charset="-122"/>
                <a:cs typeface="Calibri" pitchFamily="34" charset="-120"/>
              </a:rPr>
              <a:t>Detaliile tehnice decid intre cinstit si fals
</a:t>
            </a:r>
            <a:pPr indent="0" marL="0">
              <a:lnSpc>
                <a:spcPct val="120000"/>
              </a:lnSpc>
              <a:buNone/>
            </a:pPr>
            <a:r>
              <a:rPr lang="en-US" sz="1400" dirty="0">
                <a:solidFill>
                  <a:srgbClr val="E2E8F0"/>
                </a:solidFill>
                <a:latin typeface="Calibri" pitchFamily="34" charset="0"/>
                <a:ea typeface="Calibri" pitchFamily="34" charset="-122"/>
                <a:cs typeface="Calibri" pitchFamily="34" charset="-120"/>
              </a:rPr>
              <a:t>Un simplu .shift(1) inainte de rolling este diferenta intre un model care arata bine pe test si esueaza in productie, si un model care performeaza consistent.</a:t>
            </a:r>
            <a:endParaRPr lang="en-US" sz="1800" dirty="0"/>
          </a:p>
        </p:txBody>
      </p:sp>
      <p:sp>
        <p:nvSpPr>
          <p:cNvPr id="13" name="Shape 11"/>
          <p:cNvSpPr/>
          <p:nvPr/>
        </p:nvSpPr>
        <p:spPr>
          <a:xfrm>
            <a:off x="822960" y="4846320"/>
            <a:ext cx="10515600" cy="1097280"/>
          </a:xfrm>
          <a:prstGeom prst="rect">
            <a:avLst/>
          </a:prstGeom>
          <a:solidFill>
            <a:srgbClr val="1F2A4D"/>
          </a:solidFill>
          <a:ln w="25400">
            <a:solidFill>
              <a:srgbClr val="FBBF24"/>
            </a:solidFill>
            <a:prstDash val="solid"/>
          </a:ln>
        </p:spPr>
      </p:sp>
      <p:sp>
        <p:nvSpPr>
          <p:cNvPr id="14" name="Shape 12"/>
          <p:cNvSpPr/>
          <p:nvPr/>
        </p:nvSpPr>
        <p:spPr>
          <a:xfrm>
            <a:off x="822960" y="4846320"/>
            <a:ext cx="137160" cy="1097280"/>
          </a:xfrm>
          <a:prstGeom prst="rect">
            <a:avLst/>
          </a:prstGeom>
          <a:solidFill>
            <a:srgbClr val="FBBF24"/>
          </a:solidFill>
          <a:ln w="12700">
            <a:solidFill>
              <a:srgbClr val="FBBF24"/>
            </a:solidFill>
            <a:prstDash val="solid"/>
          </a:ln>
        </p:spPr>
      </p:sp>
      <p:sp>
        <p:nvSpPr>
          <p:cNvPr id="15" name="Text 13"/>
          <p:cNvSpPr/>
          <p:nvPr/>
        </p:nvSpPr>
        <p:spPr>
          <a:xfrm>
            <a:off x="1097280" y="4919472"/>
            <a:ext cx="10058400" cy="1005840"/>
          </a:xfrm>
          <a:prstGeom prst="rect">
            <a:avLst/>
          </a:prstGeom>
          <a:noFill/>
          <a:ln/>
        </p:spPr>
        <p:txBody>
          <a:bodyPr wrap="square" rtlCol="0" anchor="t"/>
          <a:lstStyle/>
          <a:p>
            <a:pPr indent="0" marL="0">
              <a:lnSpc>
                <a:spcPct val="120000"/>
              </a:lnSpc>
              <a:buNone/>
            </a:pPr>
            <a:r>
              <a:rPr lang="en-US" sz="1800" b="1" dirty="0">
                <a:solidFill>
                  <a:srgbClr val="FBBF24"/>
                </a:solidFill>
                <a:latin typeface="Calibri" pitchFamily="34" charset="0"/>
                <a:ea typeface="Calibri" pitchFamily="34" charset="-122"/>
                <a:cs typeface="Calibri" pitchFamily="34" charset="-120"/>
              </a:rPr>
              <a:t>Tehnicile sunt universale
</a:t>
            </a:r>
            <a:pPr indent="0" marL="0">
              <a:lnSpc>
                <a:spcPct val="120000"/>
              </a:lnSpc>
              <a:buNone/>
            </a:pPr>
            <a:r>
              <a:rPr lang="en-US" sz="1400" dirty="0">
                <a:solidFill>
                  <a:srgbClr val="E2E8F0"/>
                </a:solidFill>
                <a:latin typeface="Calibri" pitchFamily="34" charset="0"/>
                <a:ea typeface="Calibri" pitchFamily="34" charset="-122"/>
                <a:cs typeface="Calibri" pitchFamily="34" charset="-120"/>
              </a:rPr>
              <a:t>Encoding ciclic, lag si rolling functioneaza la fel pe consum, pret si productie solara. Sunt un fundament metodologic transferabil intre domenii.</a:t>
            </a:r>
            <a:endParaRPr lang="en-US" sz="1800" dirty="0"/>
          </a:p>
        </p:txBody>
      </p:sp>
      <p:sp>
        <p:nvSpPr>
          <p:cNvPr id="16" name="Text 14"/>
          <p:cNvSpPr/>
          <p:nvPr/>
        </p:nvSpPr>
        <p:spPr>
          <a:xfrm>
            <a:off x="822960" y="6126480"/>
            <a:ext cx="10515600" cy="365760"/>
          </a:xfrm>
          <a:prstGeom prst="rect">
            <a:avLst/>
          </a:prstGeom>
          <a:noFill/>
          <a:ln/>
        </p:spPr>
        <p:txBody>
          <a:bodyPr wrap="square" rtlCol="0" anchor="ctr"/>
          <a:lstStyle/>
          <a:p>
            <a:pPr algn="ctr" indent="0" marL="0">
              <a:buNone/>
            </a:pPr>
            <a:r>
              <a:rPr lang="en-US" sz="1300" dirty="0">
                <a:solidFill>
                  <a:srgbClr val="CBD5E1"/>
                </a:solidFill>
                <a:latin typeface="Calibri" pitchFamily="34" charset="0"/>
                <a:ea typeface="Calibri" pitchFamily="34" charset="-122"/>
                <a:cs typeface="Calibri" pitchFamily="34" charset="-120"/>
              </a:rPr>
              <a:t>Diana Nenu  •  </a:t>
            </a:r>
            <a:pPr algn="ctr" indent="0" marL="0">
              <a:buNone/>
            </a:pPr>
            <a:r>
              <a:rPr lang="en-US" sz="1300" dirty="0">
                <a:solidFill>
                  <a:srgbClr val="CBD5E1"/>
                </a:solidFill>
                <a:latin typeface="Calibri" pitchFamily="34" charset="0"/>
                <a:ea typeface="Calibri" pitchFamily="34" charset="-122"/>
                <a:cs typeface="Calibri" pitchFamily="34" charset="-120"/>
              </a:rPr>
              <a:t>diana_nenu@yahoo.com  •  </a:t>
            </a:r>
            <a:pPr algn="ctr" indent="0" marL="0">
              <a:buNone/>
            </a:pPr>
            <a:r>
              <a:rPr lang="en-US" sz="1300" i="1" dirty="0">
                <a:solidFill>
                  <a:srgbClr val="CBD5E1"/>
                </a:solidFill>
                <a:latin typeface="Calibri" pitchFamily="34" charset="0"/>
                <a:ea typeface="Calibri" pitchFamily="34" charset="-122"/>
                <a:cs typeface="Calibri" pitchFamily="34" charset="-120"/>
              </a:rPr>
              <a:t>Universitatea Titu Maiorescu — Master DSAI</a:t>
            </a:r>
            <a:endParaRPr lang="en-US" sz="1300" dirty="0"/>
          </a:p>
        </p:txBody>
      </p:sp>
      <p:sp>
        <p:nvSpPr>
          <p:cNvPr id="17" name="Text 15"/>
          <p:cNvSpPr/>
          <p:nvPr/>
        </p:nvSpPr>
        <p:spPr>
          <a:xfrm>
            <a:off x="10607040" y="6446520"/>
            <a:ext cx="914400" cy="274320"/>
          </a:xfrm>
          <a:prstGeom prst="rect">
            <a:avLst/>
          </a:prstGeom>
          <a:noFill/>
          <a:ln/>
        </p:spPr>
        <p:txBody>
          <a:bodyPr wrap="square" rtlCol="0" anchor="ctr"/>
          <a:lstStyle/>
          <a:p>
            <a:pPr algn="r" indent="0" marL="0">
              <a:buNone/>
            </a:pPr>
            <a:r>
              <a:rPr lang="en-US" sz="1100" dirty="0">
                <a:solidFill>
                  <a:srgbClr val="94A3B8"/>
                </a:solidFill>
                <a:latin typeface="Calibri" pitchFamily="34" charset="0"/>
                <a:ea typeface="Calibri" pitchFamily="34" charset="-122"/>
                <a:cs typeface="Calibri" pitchFamily="34" charset="-120"/>
              </a:rPr>
              <a:t>28 / 28</a:t>
            </a:r>
            <a:endParaRPr lang="en-US" sz="1100" dirty="0"/>
          </a:p>
        </p:txBody>
      </p:sp>
    </p:spTree>
  </p:cSld>
  <p:transition xmlns:p="http://schemas.openxmlformats.org/presentationml/2006/main" spd="med">
    <p:fade/>
  </p:transition>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Tehnici de feature engineering pentru serii temporale - SCSS 2026</dc:title>
  <dc:subject>PptxGenJS Presentation</dc:subject>
  <dc:creator>Diana Nenu</dc:creator>
  <cp:lastModifiedBy>Diana Nenu</cp:lastModifiedBy>
  <cp:revision>1</cp:revision>
  <dcterms:created xsi:type="dcterms:W3CDTF">2026-05-15T21:25:55Z</dcterms:created>
  <dcterms:modified xsi:type="dcterms:W3CDTF">2026-05-15T21:25:55Z</dcterms:modified>
</cp:coreProperties>
</file>