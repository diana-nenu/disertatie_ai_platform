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Buna ziua. Numele meu este Diana Nenu si sunt studenta in anul 2 al programului de master Data Science si Artificial Intelligence. Lucrarea mea de disertatie propune o platforma integrata de inteligenta artificiala pentru domeniul energetic. Astazi voi prezenta o componenta esentiala a acestei lucrari: trei tehnici matematice de feature engineering pentru serii temporale - aplicabile general dar validate empiric pe date energetice.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Lucrarea propune o platforma de inteligenta artificiala care prezice si optimizeaza decizii in domeniul energetic. Pentru a valida ca abordarea functioneaza in contexte diferite, am ales sa lucrez cu 3 seturi de date din 3 zone diferite ale sistemului energetic. In total, 30 de ani de date orare cumulate. In urmatoarele 3 slide-uri voi explica fiecare set in detaliu: ce contine, la ce ne ajuta si cum contribuie la scopul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Primul set descrie cererea de energie — consum electric orar pe 16 ani. Peste 140.000 de ore de date. Setul ne ajuta sa invatam ritmul cererii: zi/noapte, zilele lucratoare/weekend, sezoane. Cum contribuie la scopul final: predictia exacta a cererii este fundamentul deciziei prescriptive. Operatorii balanseaza in timp real productia cu consumul. Predictie corecta = retea stabila.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doilea set descrie pretul energiei electrice pe piata libera europeana, 4 ani. Include si indicatori auxiliari: productie, vreme, prognoze - asta ne ajuta sa intelegem DE CE pretul fluctueaza. Cum contribuie la scopul final: predictia pretului permite decizii economice optime - companii energointensive, baterii, ferme regenerabile.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treilea set descrie productia regenerabila — doua centrale fotovoltaice industriale + senzori. Date la fiecare 15 minute. Ne ajuta sa intelegem relatia neliniara dintre conditii fizice si productie. Cum contribuie la scopul final: integrare inteligenta in retea, anticipam surplus si lipsuri.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rezumam de ce 3 seturi anume. Sistemul energetic functioneaza ca o piata: pe o parte CEREREA (consum), pe alta OFERTA (productie), la intersectie PRETUL. Cele 3 seturi acopera complet aceasta triada. Tehnicile prezentate astazi functioneaza pe toate 3 — demonstreaza transferabilitatea.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 arata datele cand le primim - doua coloane: timestamp si valoare. Modelele clasice de ML NU pot folosi un timestamp ca string. Ele au nevoie de coloane numerice informative. Aceasta este motivul fundamental al feature engineering: trebuie sa transformam datele brute intr-o forma utilizabila.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datele energetice exista 4 tipuri de pattern-uri majore: sezonalitate orara, ciclu saptamanal, autoregresivitate, trend si volatilitate. Sunt PREZENTE in date dar INVIZIBILE in forma (timestamp, valoare). Trebuie facute explicite prin features dedicate.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 langa pattern-urile ascunse, exista doua capcane tehnice subtile care pot face un model sa para excelent dar sa esueze. Capcana 1: discontinuitati false (ora liniara). Capcana 2: data leakage. Modelele cu aceste capcane arata superb la evaluare dar esueaza in productie.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Pentru a rezolva problemele, folosim trei tehnici complementare. Tehnica 1 - encoding ciclic. Tehnica 2 - lag features. Tehnica 3 - rolling features. Fiecare are propria poveste pe care o voi spune in urmatoarele slide-uri.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pornim de la o intrebare simpla: cum reprezentam ora intr-un model? Idea naiva: folosim direct ora ca numar - 0, 1, 2, ..., 23. Pare evident. Dar apare o problema: distanta intre ora 22 si ora 23 este 1, mica si corecta. Distanta intre ora 23 si ora 0 este 23 - mare si gresita. In realitatea fizica, ora 23 si ora 0 sunt vecine - ambele sunt noaptea tarziu, ambele cu consum scazut. Reprezentarea liniara creeaza o discontinuitate care nu exista in lumea reala.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stanga vedeti consumul tipic pe parcursul unei zile. Maxim seara, minim noaptea. Ora 23 si ora 0 au consum aproape identic. In reprezentare liniara apar la distanta 23 - modelul nu intelege ca sunt fizic vecine. In dreapta vedeti solutia: cand asezam orele pe un cerc, 23 si 0 sunt vecine, exact ca in realitate. Aceasta intuitie ne duce direct la solutia matematica: avem nevoie de functii periodice.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Functiile sin si cos au exact proprietatile de care avem nevoie. Sin si cos sunt coordonatele x si y ale unui punct pe cercul unitate. Cand unghiul creste de la 0 la 2 pi, punctul parcurge un cerc complet. Trei proprietati cheie: periodicitate (perfect pentru cicluri), continuitate (fara salturi), identificarea unica prin combinatia ambelor. Acum putem aplica aceste functii pentru a reprezenta timpul.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Solutia: inlocuim coloana 'ora' cu DOUA coloane noi - hour_sin si hour_cos. Pentru fiecare ora h, mapam la unghiul theta = 2 pi inmultit cu h impartit la 24. Apoi calculam coordonatele pe cercul unitate. In dreapta vedeti animatia: ora calatoreste pe cerc, valorile sin si cos se schimba lin. Tranzitia de la 23 la 0 este perfect 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rezumam impactul tehnicii 1. Primul: distanta intre ora 23 si ora 0 scade de la 23 unitati la 0.27 unitati. Modelul vede orele ca fiind FIZIC vecine. Al doilea: modelul invata mai rapid, fara sa piarda efort explicand discontinuitati care nu exista. Al treilea: tehnica este universal aplicabila pentru orice variabila ciclica. Concluzia tehnicii 1: timpul ciclic se reprezinta natural pe cerc, nu pe linie dreapta.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pornim de la o observatie simpla. Privind graficul pretului energetic pe cateva ore consecutive, ce vedem? Pretul peste o ora va fi probabil aproape de pretul actual. Cererea si oferta nu se schimba brusc - sistemul are inertie. Aceasta proprietate are un nume matematic: autoregresivitate. O serie temporala este autoregresiva daca valorile ei viitoare pot fi prezise folosind propriile valori trecute. Etimologia ne ajuta sa retinem: auto inseamna de la sine, regresie inseamna explicare a unei variabile, deci autoregresia inseamna ca o variabila se explica pe sine prin valorile sale trecute.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 mai simplu model autoregresiv se numeste AR(1). Valoarea la momentul t este o combinatie liniara intre constanta c, valoarea anterioara y(t-1) inmultita cu coeficientul phi, si zgomotul aleator epsilon. Coeficientul phi este cel mai important. Daca phi este aproape de 1, autoregresivitatea este puternica - trecutul prezice excelent viitorul. Daca phi este 0.5, autoregresivitatea este moderata - trecutul ajuta dar nu este suficient. Daca phi este aproape de 0, seria este zgomot pur - trecutul nu spune nimic util. Pe datele energetice reale, phi este aproape 0.99 - autoregresivitate aproape perfecta.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Cum aplicam autoregresivitatea? Foarte simplu - adaugam coloane noi cu valori decalate. Functia shift din pandas face exact asta - muta coloana cu un numar de pozitii. Lag_1 contine valoarea de acum o ora - memorie scurta. Lag_24 - acelasi moment ieri, ritm zilnic. Lag_168 - acelasi moment saptamana trecuta, ritm saptamanal. Descoperirea cheie a lucrarii mele: pe modelul XGBoost antrenat pe consumul SUA, lag_1 explica peste 90% din decizia modelului. Toate celelalte 28 de features explica restul de 10%. Asta este o demonstratie puternica a autoregresivitatii pe time series energetice.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Aceasta animatie arata exact comportamentul autoregresivitatii. Pe masura ce coeficientul phi creste de la 0 la 1, doua lucruri se schimba simultan. In stanga, seria evolueaza de la zgomot pur (oscilatii random) la pattern puternic autoregresiv (valoarea curenta urmareste valoarea anterioara). In dreapta, scatter-ul t-1 vs t se aliniaza pe diagonala y=x. Cand corelatia ajunge la 0.99, punctele sunt aproape perfect pe diagonala. Concluzia tehnicii 2: lag features dau modelului memorie. Pe serii energetice cu autoregresivitate puternica, lag_1 este de departe cel mai puternic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Tehnica 2 a fost despre lag features - puncte exacte din trecut. Dar lag-urile au o limitare. Imaginati-va: lag_1 este 50 EUR/MWh. Folosesc aceasta valoare ca feature. Dar daca acea valoare a fost o anomalie - eroare de masurare, eveniment unic - modelul nu stie. Foloseste o singura valoare fara context. Solutia este robusta - combinam mai multe puncte recente intr-o statistica agregata. De exemplu, media ultimelor 24 ore. Anomaliile sunt diluate si modelul vede o imagine stabila a trecutului recent. Asta este idea rolling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Folosim doua statistici principale pe fereastra alunecatoare. Rolling mean - media pe ultimele N ore. Captureaza directia generala recenta. Daca media ultimelor 24 ore este ridicata, pretul actual este probabil tot ridicat. Filtreaza zgomotul punctual. Rolling std - deviatia standard pe aceleasi ore. Captureaza volatilitatea. Volatilitate mare inseamna piata sub presiune, valorile pot fluctua mult. Modelul stie sa fie mai prudent in aceste perioade. Combinatia mean + std da o reprezentare bogata a starii recente a sistemului. ATENTIE - codul de pe slide contine deja .shift(1). De ce este aceasta atat de important? Vedem in urmatorul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privim animatia care alterneaza intre 2 variante. VARIANTA GRESITA: rolling fara shift. Cand calculez la momentul t media ultimelor 3 valori, includ si valoarea de la t - exact ce vrem sa prezicem. Modelul vede raspunsul. R-patrat aparent 0.93. VARIANTA CORECTA: cu shift(1) inainte de rolling. Media include doar trecutul. Feature-ul este cinstit. R-patrat realist 0.74. Diferenta de 0.18 in R-patrat este diferenta intre cinstit si fals. In productie, varianta gresita esueaza pentru ca nu cunoastem valoarea curenta - exact pe ea o prezicem. Detaliul de o linie de cod este crucial.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 rezum in trei idei de retinut. Prima: pe time series, feature engineering este mai important decat selectia modelului. Toate cele 6 modele clasice au obtinut scoruri foarte apropiate - diferenta minima. A doua: detaliile tehnice decid intre cinstit si fals. Un simplu shift(1) este diferenta intre un model care arata bine si esueaza in productie, si un model care performeaza consistent. A treia: tehnicile sunt universale, aplicabile pe orice serie temporala. Va multumesc pentru atentie. Astept intrebarile dumneavoastra.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818CF8">
              <a:alpha val="25000"/>
            </a:srgbClr>
          </a:solidFill>
          <a:ln w="12700">
            <a:solidFill>
              <a:srgbClr val="818CF8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4572000"/>
            <a:ext cx="5029200" cy="5029200"/>
          </a:xfrm>
          <a:prstGeom prst="ellipse">
            <a:avLst/>
          </a:prstGeom>
          <a:solidFill>
            <a:srgbClr val="F472B6">
              <a:alpha val="20000"/>
            </a:srgbClr>
          </a:solidFill>
          <a:ln w="12700">
            <a:solidFill>
              <a:srgbClr val="F472B6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2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 •  MAI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Tehnici de feature engineering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pentru serii temporale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2E8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 aplicatii in domeniul energetic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5029200"/>
            <a:ext cx="228600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Nenu</a:t>
            </a:r>
            <a:endParaRPr lang="en-US" sz="2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Titu Maiorescu  •  Master Data Science &amp; Artificial Intelligence</a:t>
            </a:r>
            <a:endParaRPr lang="en-US" sz="2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Lucrare de disertatie • sesiune 2026</a:t>
            </a:r>
            <a:endParaRPr lang="en-US" sz="26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CADRU GENERAL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Contextul lucrarii de disertatie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Lucrarea propune o platforma de inteligenta artificiala pentru predictie si optimizare in domeniul energetic. Pentru a valida ca abordarea este robusta si transferabila, am folosit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3611880" cy="2194560"/>
          </a:xfrm>
          <a:prstGeom prst="rect">
            <a:avLst/>
          </a:prstGeom>
          <a:solidFill>
            <a:srgbClr val="1E1A3A"/>
          </a:solidFill>
          <a:ln w="381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2900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818C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seturi de date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251960" y="3291840"/>
            <a:ext cx="3611880" cy="2194560"/>
          </a:xfrm>
          <a:prstGeom prst="rect">
            <a:avLst/>
          </a:prstGeom>
          <a:solidFill>
            <a:srgbClr val="1E1A3A"/>
          </a:solidFill>
          <a:ln w="38100">
            <a:solidFill>
              <a:srgbClr val="F472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342900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ani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4251960" y="457200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date orare cumulate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55280" y="3291840"/>
            <a:ext cx="3611880" cy="2194560"/>
          </a:xfrm>
          <a:prstGeom prst="rect">
            <a:avLst/>
          </a:prstGeom>
          <a:solidFill>
            <a:srgbClr val="1E1A3A"/>
          </a:solidFill>
          <a:ln w="381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342900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contexte</a:t>
            </a:r>
            <a:endParaRPr lang="en-US" sz="5800" dirty="0"/>
          </a:p>
        </p:txBody>
      </p:sp>
      <p:sp>
        <p:nvSpPr>
          <p:cNvPr id="17" name="Text 15"/>
          <p:cNvSpPr/>
          <p:nvPr/>
        </p:nvSpPr>
        <p:spPr>
          <a:xfrm>
            <a:off x="7955280" y="457200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diferite ale sistemului energetic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3 seturi acopera impreuna lantul complet: cererea, pretul si productia.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DESPRE CERERE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Setul 1: Cererea de energie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83080"/>
            <a:ext cx="1371600" cy="137160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830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400" dirty="0"/>
          </a:p>
        </p:txBody>
      </p:sp>
      <p:sp>
        <p:nvSpPr>
          <p:cNvPr id="10" name="Shape 8"/>
          <p:cNvSpPr/>
          <p:nvPr/>
        </p:nvSpPr>
        <p:spPr>
          <a:xfrm>
            <a:off x="2103120" y="310896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108960"/>
            <a:ext cx="137160" cy="1005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317296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contine setul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Consumul orar al energiei electrice intr-o tara dezvoltata, inregistrat pe 16 ani (peste 140.000 ore). Doua coloane: timestamp si valoare in MegaWati.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03120" y="416052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160520"/>
            <a:ext cx="137160" cy="10058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422452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 ne ajuta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invata ritmul cererii — cum variaza consumul intre zi si noapte, intre zilele lucratoare si weekend, intre sezoane. Cu cat timpul inregistrat e mai mare, cu atat pattern-urile sunt mai clare.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03120" y="521208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5212080"/>
            <a:ext cx="137160" cy="1005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527608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contribuie la scopul final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Predictia exacta a cererii permite operatorilor de retea sa balanseze in timp real productia cu consumul, evitand pene de curent si supraproductie costisitoare.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DESPRE PIATA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Setul 2: Pretul energiei electrice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83080"/>
            <a:ext cx="1371600" cy="137160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830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400" dirty="0"/>
          </a:p>
        </p:txBody>
      </p:sp>
      <p:sp>
        <p:nvSpPr>
          <p:cNvPr id="10" name="Shape 8"/>
          <p:cNvSpPr/>
          <p:nvPr/>
        </p:nvSpPr>
        <p:spPr>
          <a:xfrm>
            <a:off x="2103120" y="310896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108960"/>
            <a:ext cx="137160" cy="1005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317296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contine setul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Pretul orar al energiei electrice pe piata libera intr-o tara europeana, 4 ani (peste 34.000 ore). Plus indicatori auxiliari: productie pe surse, conditii meteo, prognoze.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03120" y="416052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160520"/>
            <a:ext cx="137160" cy="10058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422452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 ne ajuta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invata cum se misca pretul: cat fluctueaza, cum reactioneaza la dezechilibre cerere/oferta, cum influenteaza productia eoliana sau solara pretul total.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03120" y="521208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5212080"/>
            <a:ext cx="137160" cy="1005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527608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contribuie la scopul final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Predictia pretului permite decizii economice optime: cand sa cumperi energie ieftin pentru stocare, cand sa vinzi productie surplus, cand sa amani consum industrial.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DESPRE OFERTA REGENERABILA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Setul 3: Productia panourilor fotovoltaice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83080"/>
            <a:ext cx="1371600" cy="137160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830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400" dirty="0"/>
          </a:p>
        </p:txBody>
      </p:sp>
      <p:sp>
        <p:nvSpPr>
          <p:cNvPr id="10" name="Shape 8"/>
          <p:cNvSpPr/>
          <p:nvPr/>
        </p:nvSpPr>
        <p:spPr>
          <a:xfrm>
            <a:off x="2103120" y="310896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108960"/>
            <a:ext cx="137160" cy="1005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317296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contine setul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Productia electrica a doua centrale fotovoltaice industriale + masuratori de senzori (iradiere solara, temperatura ambient, temperatura modul). Date la fiecare 15 minute.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03120" y="416052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160520"/>
            <a:ext cx="137160" cy="10058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422452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 ne ajuta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invata cum conditiile fizice exterioare (soare, temperatura) se transforma in energie electrica — relatie puternic neliniara care depinde de starea panourilor.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03120" y="5212080"/>
            <a:ext cx="950976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5212080"/>
            <a:ext cx="137160" cy="1005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5276088"/>
            <a:ext cx="9189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contribuie la scopul final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Predictia productiei regenerabile permite integrare inteligenta in retea: anticipam orele cu surplus si propunem stocare, sau orele cu productie redusa si pregatim backup.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IMAGINEA DE ANSAMBLU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 seturi -&gt; Un sistem complet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34640"/>
            <a:ext cx="3017520" cy="301752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Setul 1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 16 ani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2651760"/>
            <a:ext cx="3383280" cy="338328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2461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PIATA + PRET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389120" y="425196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Setul 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 4 ani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21040" y="2834640"/>
            <a:ext cx="3017520" cy="30175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OFERTA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3434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51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Setul 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51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+ senzori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840480" y="4343400"/>
            <a:ext cx="1371600" cy="0"/>
          </a:xfrm>
          <a:prstGeom prst="line">
            <a:avLst/>
          </a:prstGeom>
          <a:noFill/>
          <a:ln w="508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21040" y="4343400"/>
            <a:ext cx="-1371600" cy="0"/>
          </a:xfrm>
          <a:prstGeom prst="line">
            <a:avLst/>
          </a:prstGeom>
          <a:noFill/>
          <a:ln w="508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3 seturi acopera toate perspectivele esentiale ale sistemului energetic — cat se consuma, cat costa si cat se produce.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arata datele cand le primim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Datele brute, in forma originala:</a:t>
            </a:r>
            <a:endParaRPr lang="en-US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486400" cy="292608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2018-03-15 22:00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2018-03-15 23:00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2018-03-16 00:00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2018-03-16 01:00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10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3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1828800"/>
            <a:ext cx="5212080" cy="411480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137160" cy="411480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2011680"/>
            <a:ext cx="48463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vede modelul?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Doar o coloana de etichete (timestamp) si o coloana de valori. 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Modelele clasice de Machine Learning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pot folosi un timestamp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pentru ele e doar text.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nevoie de un tabel cu coloane informative — numere, statistici, indicatori — care sa surprinda pattern-urile temporale.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Pattern-uri ascunse in datele energetice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aspectul brut (timestamp, valoare) se ascund 4 tipuri de pattern-uri pe care modelul trebuie sa le invete: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532120" cy="1463040"/>
          </a:xfrm>
          <a:prstGeom prst="rect">
            <a:avLst/>
          </a:prstGeom>
          <a:solidFill>
            <a:srgbClr val="1E1A3A"/>
          </a:solidFill>
          <a:ln w="25400">
            <a:solidFill>
              <a:srgbClr val="818C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834640"/>
            <a:ext cx="868680" cy="86868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8346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737360" y="277063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Sezonalitate orara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737360" y="324612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Consumul creste dimineata, atinge varf seara (cina + iluminat), scade noaptea.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63640" y="2606040"/>
            <a:ext cx="5532120" cy="1463040"/>
          </a:xfrm>
          <a:prstGeom prst="rect">
            <a:avLst/>
          </a:prstGeom>
          <a:solidFill>
            <a:srgbClr val="1E1A3A"/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2834640"/>
            <a:ext cx="868680" cy="86868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8346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452360" y="277063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Ciclu saptamanal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452360" y="324612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Fabricile lucreaza luni-vineri, sunt inchise weekend. Consumul industrial difera.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532120" cy="1463040"/>
          </a:xfrm>
          <a:prstGeom prst="rect">
            <a:avLst/>
          </a:prstGeom>
          <a:solidFill>
            <a:srgbClr val="1E1A3A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434840"/>
            <a:ext cx="868680" cy="86868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737360" y="437083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Autoregresivitate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737360" y="484632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Pretul peste o ora va fi probabil aproape de pretul actual — exista inertie.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63640" y="4206240"/>
            <a:ext cx="5532120" cy="1463040"/>
          </a:xfrm>
          <a:prstGeom prst="rect">
            <a:avLst/>
          </a:prstGeom>
          <a:solidFill>
            <a:srgbClr val="1E1A3A"/>
          </a:solidFill>
          <a:ln w="25400">
            <a:solidFill>
              <a:srgbClr val="34D3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4434840"/>
            <a:ext cx="868680" cy="8686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4348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452360" y="437083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si volatilitate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452360" y="484632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perioade scurte exista directie generala. Volatilitatea masoara stabilitatea.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Aceste pattern-uri exista in date — dar trebuie scoase explicit ca features.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Capcane subtile: cum apar modele false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37160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828800"/>
            <a:ext cx="137160" cy="137160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9202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Capcana 1: Discontinuitati false in reprezentare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Daca codificam ora ca numar liniar 0-23, modelul vede ora 23 si ora 0 la distanta 23.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fizic sunt vecine (ambele noaptea).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invata greu o discontinuitate care nu exista.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11064240" cy="155448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383280"/>
            <a:ext cx="137160" cy="15544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4747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Capcana 2: Data leakage prin features prost calculate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Daca calculam o medie 'plimbatoare' care include accidental valoarea-tinta,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vede raspunsul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obtine performanta aparent excelenta (R² = 0.93) — dar este inutil in productie pentru ca nu putem cunoaste viitorul.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120640"/>
            <a:ext cx="137160" cy="1188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sunt periculoase aceste capcane?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Modelele construite gresit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arata excelent la evaluare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(R² peste 0.99, MAPE sub 1%) dar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esueaza catastrofal in productie.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 tehnici de feature engineering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a transforma datele brute in features utile si pentru a evita capcanele, folosim trei tehnici complementare: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3611880" cy="3520440"/>
          </a:xfrm>
          <a:prstGeom prst="rect">
            <a:avLst/>
          </a:prstGeom>
          <a:solidFill>
            <a:srgbClr val="1E1A3A"/>
          </a:solidFill>
          <a:ln w="38100">
            <a:solidFill>
              <a:srgbClr val="818C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926080"/>
            <a:ext cx="1188720" cy="118872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7360" y="29260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Encoding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ciclic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77240" y="512064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reprezentam timpul ca modelul sa-l inteleaga?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57150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Asezam orele pe un cerc trigonometric (sin si cos).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51960" y="2743200"/>
            <a:ext cx="3611880" cy="3520440"/>
          </a:xfrm>
          <a:prstGeom prst="rect">
            <a:avLst/>
          </a:prstGeom>
          <a:solidFill>
            <a:srgbClr val="1E1A3A"/>
          </a:solidFill>
          <a:ln w="38100">
            <a:solidFill>
              <a:srgbClr val="F472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40680" y="2926080"/>
            <a:ext cx="1188720" cy="118872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0680" y="29260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4434840" y="4251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Lag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480560" y="512064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dam modelului memorie despre trecut?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80560" y="57150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Adaugam coloane cu valoarea acum 1h, 24h, 168h.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55280" y="2743200"/>
            <a:ext cx="3611880" cy="3520440"/>
          </a:xfrm>
          <a:prstGeom prst="rect">
            <a:avLst/>
          </a:prstGeom>
          <a:solidFill>
            <a:srgbClr val="1E1A3A"/>
          </a:solidFill>
          <a:ln w="38100">
            <a:solidFill>
              <a:srgbClr val="FBBF2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2926080"/>
            <a:ext cx="1188720" cy="11887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0" y="29260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510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000" dirty="0"/>
          </a:p>
        </p:txBody>
      </p:sp>
      <p:sp>
        <p:nvSpPr>
          <p:cNvPr id="24" name="Text 22"/>
          <p:cNvSpPr/>
          <p:nvPr/>
        </p:nvSpPr>
        <p:spPr>
          <a:xfrm>
            <a:off x="8138160" y="4251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183880" y="512064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spunem modelului ce trend recent este?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83880" y="57150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si deviatia pe o fereastra alunecatoare, anti-leakage.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1 / ENCODING CICLIC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invata un model timpul?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pornim de la o intrebare simpla: cum reprezentam ora intr-un model de Machine Learning?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486400" cy="338328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34640"/>
            <a:ext cx="137160" cy="33832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naiva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7240" y="338328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Folosim direct ora ca numar: 0, 1, 2, ..., 23.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evident — sunt numere, modelul le poate procesa.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77240" y="4846320"/>
            <a:ext cx="5029200" cy="1188720"/>
          </a:xfrm>
          <a:prstGeom prst="rect">
            <a:avLst/>
          </a:prstGeom>
          <a:solidFill>
            <a:srgbClr val="151025"/>
          </a:solidFill>
          <a:ln w="12700">
            <a:solidFill>
              <a:srgbClr val="1510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3776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Distanta ora 22 - ora 23:
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|23 - 22| = 1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Distanta ora 23 - ora 0:
</a:t>
            </a:r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|23 - 0| = 23  </a:t>
            </a:r>
            <a:pPr indent="0" marL="0">
              <a:buNone/>
            </a:pPr>
            <a:r>
              <a:rPr lang="en-US" sz="14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&lt;- problema!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834640"/>
            <a:ext cx="5486400" cy="338328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2834640"/>
            <a:ext cx="137160" cy="3383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ar trebui sa fie?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492240" y="3383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23 si ora 0 sunt FIZIC vecine — amandoua noaptea tarziu, consum scazut, fabricile inchise.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realitate sunt la o distanta de 1, nu 23.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2240" y="51206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Reprezentarea liniara CREEAZA o discontinuitate care nu exista in lumea reala.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1 / IMPACTUL PROBLEMEI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inseamna asta in practica?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8" name="Image 0" descr="/sessions/vibrant-elegant-pasteur/mnt/Disertatie_AI_Platform/reports/figures/fig_fe_problema_orei_lini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28800"/>
            <a:ext cx="11247120" cy="3383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394960"/>
            <a:ext cx="137160" cy="1005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4864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Concluzie: 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invata greu si ineficient pentru ca incearca sa explice o sariutra inexistenta.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Avem nevoie de o reprezentare care sa pastreze natura ciclica a timpului — sa faca ora 23 si ora 0 vecine din nou.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1 / FUNCTIILE POTRIVITE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Inspiratia matematica: sin si cos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Functiile trigonometrice sin si cos au exact proprietatile de care avem nevoie:</a:t>
            </a:r>
            <a:endParaRPr lang="en-US" sz="1900" dirty="0"/>
          </a:p>
        </p:txBody>
      </p:sp>
      <p:pic>
        <p:nvPicPr>
          <p:cNvPr id="9" name="Image 0" descr="/sessions/vibrant-elegant-pasteur/mnt/Disertatie_AI_Platform/reports/figures/fig_fe_sin_cos_bas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331720"/>
            <a:ext cx="11247120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257800"/>
            <a:ext cx="3611880" cy="105156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257800"/>
            <a:ext cx="137160" cy="10515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33095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Periodice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Dupa 2π se repeta — ideal pentru cicluri temporale (ore, zile, luni).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51960" y="5257800"/>
            <a:ext cx="3611880" cy="105156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5257800"/>
            <a:ext cx="137160" cy="105156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533095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 lin de la o valoare la alta, fara salturi sau discontinuitati.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955280" y="5257800"/>
            <a:ext cx="3611880" cy="105156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55280" y="5257800"/>
            <a:ext cx="137160" cy="10515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83880" y="533095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UNIC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 valori (sin, cos) impreuna localizeaza precis un punct pe cerc.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1 / APLICAREA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Solutia: cercul orelor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669280" cy="43891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828800"/>
            <a:ext cx="137160" cy="4389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9202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matematica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440680" cy="1188720"/>
          </a:xfrm>
          <a:prstGeom prst="rect">
            <a:avLst/>
          </a:prstGeom>
          <a:solidFill>
            <a:srgbClr val="151025"/>
          </a:solidFill>
          <a:ln w="12700">
            <a:solidFill>
              <a:srgbClr val="1510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06040"/>
            <a:ext cx="5257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hour_sin = sin(2π · h / 24)
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hour_cos = cos(2π · h / 24)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se aplica: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206240"/>
            <a:ext cx="53492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Mapam fiecare ora h la un unghi θ = 2π·h/24
</a:t>
            </a:r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Calculam coordonatele pe cercul unitate
</a:t>
            </a:r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Inlocuim coloana 'ora' cu hour_sin si hour_cos
</a:t>
            </a:r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foloseste cele 2 coloane noi</a:t>
            </a:r>
            <a:endParaRPr lang="en-US" sz="1600" dirty="0"/>
          </a:p>
        </p:txBody>
      </p:sp>
      <p:pic>
        <p:nvPicPr>
          <p:cNvPr id="15" name="Image 0" descr="/sessions/vibrant-elegant-pasteur/mnt/Disertatie_AI_Platform/reports/figures/fig_fe_cerc_ore_animated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828800"/>
            <a:ext cx="5303520" cy="43891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1 / REZULTATUL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Impactul tehnicii pe model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se schimba comportamentul modelului dupa encoding ciclic?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91440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06040"/>
            <a:ext cx="137160" cy="914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974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Distanta ora 23 - ora 0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23 unitati (liniar) la 0.27 unitati (cerc). Modelul vede orele ca fiind FIZIC vecine, exact cum sunt in realitate.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64240" cy="91440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657600"/>
            <a:ext cx="137160" cy="9144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Invatare mai rapida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nu mai pierde efort incercand sa explice o discontinuitate inexistenta. Convergenta este mai rapida, eroarea finala mai mica.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11064240" cy="91440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709160"/>
            <a:ext cx="137160" cy="91440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aplicabil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Aceeasi tehnica functioneaza pentru orice variabila ciclica: ziua saptamanii (0-6), luna anului (1-12), ziua din an (1-365).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51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Concluzia tehnicii 1: timpul ciclic se reprezinta natural pe cerc, nu pe linie dreapta.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2 / LAG FEATURES - INTUITIE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Trecutul prezice viitorul?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privim graficul pretului energetic pe cateva ore consecutive. Ce observatie putem face?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14630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06040"/>
            <a:ext cx="137160" cy="14630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97480"/>
            <a:ext cx="106070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Observatia simpla
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Pretul peste o ora va fi probabil aproape de pretul actual. Cererea si oferta nu se schimba brusc - exista inertie in sistem. Daca pretul este 60 EUR/MWh la ora 14:00, va fi probabil intre 55 si 65 EUR la ora 15:00.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64240" cy="14630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251960"/>
            <a:ext cx="137160" cy="14630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343400"/>
            <a:ext cx="106070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Numele matematic: autoregresivitate
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serie temporala este autoregresiva daca valorile ei viitoare pot fi prezise folosind propriile valori trecute.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cat un sistem are mai multa inertie, cu atat este mai autoregresiv.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852160"/>
            <a:ext cx="137160" cy="5029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Etimologie: 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(de la sine) + regresie (explicare) = </a:t>
            </a:r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variabila se explica pe sine prin valorile sale trecute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2 / FORMULA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Modelul matematic AR(1)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 mai simplu model autoregresiv leaga valoarea curenta de valoarea anterioara: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486400" cy="1280160"/>
          </a:xfrm>
          <a:prstGeom prst="rect">
            <a:avLst/>
          </a:prstGeom>
          <a:solidFill>
            <a:srgbClr val="1E1A3A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y(t) = c + φ · y(t−1) + ε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y(t)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 valoarea curenta (ce vrem sa prezicem)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y(t-1)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 valoarea anterioara (cunoscuta)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7548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 (phi)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 coeficientul de autoregresivitate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52120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c, ε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 constanta si zgomot aleator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423160"/>
            <a:ext cx="5303520" cy="37033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423160"/>
            <a:ext cx="137160" cy="37033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25146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interpretam φ?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301752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≈ 1: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autoregresivitate puternica
</a:t>
            </a:r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Trecutul prezice excelent viitorul.
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≈ 0.5: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autoregresivitate moderata
</a:t>
            </a:r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Trecutul ajuta, dar nu este suficient.
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≈ 0: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zgomot pur
</a:t>
            </a:r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Trecutul nu spune nimic util.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6263640"/>
            <a:ext cx="11064240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2 / IMPLEMENTARE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Aplicarea: lag features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aplicam autoregresivitatea in practica? Adaugam coloane noi cu valori decalate.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669280" cy="2331720"/>
          </a:xfrm>
          <a:prstGeom prst="rect">
            <a:avLst/>
          </a:prstGeom>
          <a:solidFill>
            <a:srgbClr val="1E1A3A"/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1460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Python (pandas)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5440680" cy="1737360"/>
          </a:xfrm>
          <a:prstGeom prst="rect">
            <a:avLst/>
          </a:prstGeom>
          <a:solidFill>
            <a:srgbClr val="151025"/>
          </a:solidFill>
          <a:ln w="12700">
            <a:solidFill>
              <a:srgbClr val="1510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8960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df['lag_1']   = df['pret'].shift(1)
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df['lag_24']  = df['pret'].shift(24)
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df['lag_168'] = df['pret'].shift(168)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2423160"/>
            <a:ext cx="5303520" cy="7772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423160"/>
            <a:ext cx="137160" cy="7772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248716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lag_1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acum 1 ora
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Memorie scurta - cea mai informativa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3246120"/>
            <a:ext cx="5303520" cy="7772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246120"/>
            <a:ext cx="137160" cy="7772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31012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lag_24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acum 24 ore
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 zilnic - acelasi moment ieri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0" y="4069080"/>
            <a:ext cx="5303520" cy="7772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069080"/>
            <a:ext cx="137160" cy="7772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13308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lag_168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acum 168 ore
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 saptamanal - acelasi moment saptamana trecuta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2344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74920"/>
            <a:ext cx="137160" cy="1234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66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Descoperirea cheie a lucrarii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modelul XGBoost antrenat pe consumul SUA: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lag_1 explica peste 90% din decizia modelului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Toate celelalte 28 de features explica restul de 10%.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2 / VIZUALIZARE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Vedem autoregresivitatea in actiune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 coeficientul φ creste de la 0 la 1, observam cum scatter-ul t-1 vs t se aliniaza pe diagonala:</a:t>
            </a:r>
            <a:endParaRPr lang="en-US" sz="1800" dirty="0"/>
          </a:p>
        </p:txBody>
      </p:sp>
      <p:pic>
        <p:nvPicPr>
          <p:cNvPr id="9" name="Image 0" descr="/sessions/vibrant-elegant-pasteur/mnt/Disertatie_AI_Platform/reports/figures/fig_fe_autoregresivitate_animated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514600"/>
            <a:ext cx="10332720" cy="30175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51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Concluzia tehnicii 2: lag features dau modelului memorie - pe serii energetice este de departe cel mai puternic feature.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3 / ROLLING FEATURES - INTUITIE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 lag-ul nu este suficient?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745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dau valori PUNCTUALE din trecut. Dar ce se intampla daca acel punct este atipic?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5486400" cy="35204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137160" cy="352044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8892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Scenariu problematic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68680" y="3337560"/>
            <a:ext cx="5074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Imagineaza-ti: lag_1 = 50 EUR/MWh.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daca acea valoare a fost o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(eroare de masurare, eveniment unic)?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foloseste o singura valoare, </a:t>
            </a:r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fara sa stie ca e atipica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2697480"/>
            <a:ext cx="5486400" cy="352044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2697480"/>
            <a:ext cx="137160" cy="3520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78892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Solutia robusta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46520" y="3337560"/>
            <a:ext cx="5074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Combinam mai multe puncte recente intr-o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 agregata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exemplu, media ultimelor 24 ore.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Anomaliile sunt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diluate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modelul vede o </a:t>
            </a:r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stabila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trecutului recent.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3 / IMPLEMENTARE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Doua tipuri de rolling features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828800"/>
            <a:ext cx="137160" cy="42976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92024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18C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mean — trend recent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257800" cy="777240"/>
          </a:xfrm>
          <a:prstGeom prst="rect">
            <a:avLst/>
          </a:prstGeom>
          <a:solidFill>
            <a:srgbClr val="151025"/>
          </a:solidFill>
          <a:ln w="12700">
            <a:solidFill>
              <a:srgbClr val="1510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468880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df['pret'].shift(1).rolling(24).mean()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383280"/>
            <a:ext cx="5074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Captureaza
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directia generala recenta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Daca media ultimelor 24 ore este ridicata, pretul actual este probabil tot ridicat.
</a:t>
            </a:r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Filtreaza zgomotul punctual.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828800"/>
            <a:ext cx="137160" cy="42976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92024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std — volatilitate recenta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55080" y="2468880"/>
            <a:ext cx="5257800" cy="777240"/>
          </a:xfrm>
          <a:prstGeom prst="rect">
            <a:avLst/>
          </a:prstGeom>
          <a:solidFill>
            <a:srgbClr val="151025"/>
          </a:solidFill>
          <a:ln w="12700">
            <a:solidFill>
              <a:srgbClr val="151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468880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df['pret'].shift(1).rolling(24).std()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3383280"/>
            <a:ext cx="5074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Captureaza
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de instabil a fost sistemul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Volatilitate mare = piata sub presiune, valorile pot fluctua mult.
</a:t>
            </a:r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Modelul stie sa fie mai prudent in perioade volatile.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6263640"/>
            <a:ext cx="11064240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212080"/>
            <a:ext cx="3200400" cy="3200400"/>
          </a:xfrm>
          <a:prstGeom prst="ellipse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TEHNICA 3 / CAPCANA DATA LEAKAGE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Capcana critica: .shift(1) anti-leakage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45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Implementarea naiva ascunde o capcana subtila. Sa vedem ce se intampla:</a:t>
            </a:r>
            <a:endParaRPr lang="en-US" sz="1900" dirty="0"/>
          </a:p>
        </p:txBody>
      </p:sp>
      <p:pic>
        <p:nvPicPr>
          <p:cNvPr id="9" name="Image 0" descr="/sessions/vibrant-elegant-pasteur/mnt/Disertatie_AI_Platform/reports/figures/fig_fe_shift1_animated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331720"/>
            <a:ext cx="11247120" cy="30175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440680"/>
            <a:ext cx="5486400" cy="9601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40680"/>
            <a:ext cx="137160" cy="9601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513832"/>
            <a:ext cx="5166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Greseala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rolling(3).mean() la momentul t include valoarea de la t! Modelul vede raspunsul.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126480" y="5440680"/>
            <a:ext cx="5486400" cy="960120"/>
          </a:xfrm>
          <a:prstGeom prst="rect">
            <a:avLst/>
          </a:prstGeom>
          <a:solidFill>
            <a:srgbClr val="1E1A3A"/>
          </a:solidFill>
          <a:ln w="12700">
            <a:solidFill>
              <a:srgbClr val="1E1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126480" y="5440680"/>
            <a:ext cx="137160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5513832"/>
            <a:ext cx="5166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Solutia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.shift(1) muta seria cu 1 pas in trecut INAINTE de rolling. Foloseste DOAR trecutul.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48640" y="63550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Comunicari Stiintifice Mai 2026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feature engineering pentru serii temporale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510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818CF8">
              <a:alpha val="25000"/>
            </a:srgbClr>
          </a:solidFill>
          <a:ln w="12700">
            <a:solidFill>
              <a:srgbClr val="818CF8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4114800"/>
            <a:ext cx="5029200" cy="5029200"/>
          </a:xfrm>
          <a:prstGeom prst="ellipse">
            <a:avLst/>
          </a:prstGeom>
          <a:solidFill>
            <a:srgbClr val="F472B6">
              <a:alpha val="20000"/>
            </a:srgbClr>
          </a:solidFill>
          <a:ln w="12700">
            <a:solidFill>
              <a:srgbClr val="F472B6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  •  MULTUMESC PENTRU ATENTIE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 idei de retinut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solidFill>
            <a:srgbClr val="1F2A4D"/>
          </a:solidFill>
          <a:ln w="254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377440"/>
            <a:ext cx="137160" cy="1097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450592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&gt; selectia modelului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time series, calitatea features-urilor face mai mult decat alegerea fina a modelului. Toate cele 6 modele clasice au obtinut R² intre 0.947 si 0.968 — diferenta minima.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10515600" cy="1097280"/>
          </a:xfrm>
          <a:prstGeom prst="rect">
            <a:avLst/>
          </a:prstGeom>
          <a:solidFill>
            <a:srgbClr val="1F2A4D"/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611880"/>
            <a:ext cx="137160" cy="10972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85032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Detaliile tehnice decid intre cinstit si fals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simplu .shift(1) inainte de rolling este diferenta intre un model care arata bine pe test si esueaza in productie, si un model care performeaza consistent.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solidFill>
            <a:srgbClr val="1F2A4D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46320"/>
            <a:ext cx="137160" cy="10972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919472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Tehnicile sunt universale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ciclic, lag si rolling functioneaza la fel pe consum, pret si productie solara. Sunt un fundament metodologic transferabil intre domenii.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Nenu  •  </a:t>
            </a:r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diana_nenu@yahoo.com  •  </a:t>
            </a:r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Titu Maiorescu — Master DSAI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1100" dirty="0"/>
          </a:p>
        </p:txBody>
      </p:sp>
    </p:spTree>
  </p:cSld>
  <p:transition xmlns:p="http://schemas.openxmlformats.org/presentationml/2006/main"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Tehnici de feature engineering pentru serii temporale - SCSS 2026</dc:title>
  <dc:subject>PptxGenJS Presentation</dc:subject>
  <dc:creator>Diana Nenu</dc:creator>
  <cp:lastModifiedBy>Diana Nenu</cp:lastModifiedBy>
  <cp:revision>1</cp:revision>
  <dcterms:created xsi:type="dcterms:W3CDTF">2026-05-15T20:58:00Z</dcterms:created>
  <dcterms:modified xsi:type="dcterms:W3CDTF">2026-05-15T20:58:00Z</dcterms:modified>
</cp:coreProperties>
</file>