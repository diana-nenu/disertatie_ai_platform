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Buna ziua. Numele meu este Diana Nenu si va voi prezenta o componenta esentiala din lucrarea mea de disertatie - feature engineering pentru time series energetice. Lucrarea mea propune o platforma integrata de inteligenta artificiala care prezice si optimizeaza decizii in domeniul energetic. Astazi imi voi concentra prezentarea pe trei tehnici matematice simple - encoding ciclic, lag features si rolling features - care transforma date brute de tip serie temporala in features informative cu care modelele de Machine Learning pot lucra. Voi arata cum aceste tehnici, aparent simple, sunt fundamentul pe care XGBoost-ul meu obtine R-patrat de 0.968 in predictia pretului energetic spaniol.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mea integreaza trei seturi de date din trei tari, fiecare reprezentand o perspectiva diferita asupra sistemului energetic. Din SUA am consum energetic - date PJM Interconnection, un operator energetic regional din nord-estul SUA - 16 ani de date orare. Din Spania am pretul energetic - date ENTSOE, operatorul european de transport - 4 ani de date orare. Din India am productie de panouri solare - doua centrale fotovoltaice monitorizate prin senzori. Problema comuna este ca toate sunt time series, adica serii de valori inregistrate in timp. Modelele de Machine Learning - cu exceptia retelelor recurente - nu pot lucra direct cu (timestamp, valoare). Au nevoie de un tabel cu coloane informative care sa surprinda pattern-urile temporale. Prezentarea de astazi arata exact cum am construit aceste coloane folosind trei tehnici matematice.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In stanga vedeti datele brute - timestamp si o valoare. Asa arata datele cand le descarcam de pe portalul ENTSOE sau de pe Kaggle. Modelele de Machine Learning ca XGBoost sau Random Forest, cand primesc aceste doua coloane, NU pot face nimic util. Vad doar perechi de numere fara legaturi. Ce trebuie ele sa invete sunt pattern-urile din dreapta - sezonalitate orara, adica oamenii consuma diferit la 8 dimineata fata de 3 noaptea, ciclu saptamanal, fabricile lucreaza luni-vineri dar nu in weekend, autoregresivitate, pretul de acum o ora este de departe cel mai bun predictor pentru pretul peste o ora, si trend cu volatilitate. Toate aceste pattern-uri sunt ASCUNSE in (timestamp, valoare). Trebuie sa le EXTRAGEM noi si sa le punem ca features explicite. Asta este feature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tehnici raspund la trei intrebari simple. Prima: cum spunem modelului ce este ora 23? Prin encoding ciclic - asezam timpul pe un cerc. A doua: cum dam memorie modelului? Prin lag features - copii ale valorii cu un decalaj de 1 ora, 24 ore, o saptamana. A treia: cum descriem trend-ul recent? Prin rolling features - medii si deviatii pe ferestre alunecatoare. A treia are si o parte tehnica delicata - trebuie sa folosim .shift(1) - daca nu, viitorul intra in feature si modelul ne 'pacaleste'. Vom vedea in detaliu mai tarziu. Validarea finala: aplicand toate trei pe pretul energetic spaniol, modelul XGBoost obtine R-patrat de 0.968 - eroare medie absoluta sub 1.6 EUR/MWh. Acesta este motivul tehnic pentru care XGBoost-ul meu functioneaza atat de 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cu un exemplu real - consumul energetic SUA pe parcursul unei zile. In stanga vedeti consumul tipic dintr-o zi. Maxim seara la 19-20, minim spre 4 dimineata. Daca codificam ora ca un numar liniar - 0, 1, 2, 3 pana la 23 - apare o problema. Ora 23 si ora 0 sunt FIZIC vecine - amandoua reprezinta noaptea tarziu, ambele au consum scazut, oamenii dorm, fabricile sunt inchise. Dar daca le punem ca numere, distanta intre ele este de 23 de unitati. Modelul ML, cand vede 23 si apoi 0, percepe o saritura uriasa - desi consumul aproape ca nu se schimba. Asta inseamna ca modelul incearca sa invete o discontinuitate care nu exista in realitate - efort prost directionat. In dreapta vedeti solutia: cand asezam orele pe un cerc, 23 si 0 devin din nou vecine, cum sunt si in realitate.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Inainte de a vedea cum aplicam sin si cos pentru reprezentarea timpului, sa reamintim pe scurt ce sunt aceste functii. In panoul stang vedeti cercul unitate - cercul cu raza 1, centrat in origine. Pentru orice unghi theta, exista un punct P pe cerc cu coordonatele (cos theta, sin theta). Cosinusul este coordonata pe orizontala, sinusul este coordonata pe verticala. In panoul drept vedeti cele doua functii ca grafic, pe perioada 0 - 2 pi. Vedeti ca sunt curbe netede, periodice. Cos porneste de la 1 si scade, sin porneste de la 0 si creste. Trei proprietati cheie ne intereseaza pe noi. Prima: sunt PERIODICE cu perioada 2 pi. Dupa o oscilatie completa se repeta identic. Asta e exact ce ne trebuie pentru ciclurile temporale - ora 0 si ora 24 trebuie sa coincida ca semnificatie. A doua: sunt CONTINUE si NETEDE. Nu au salturi. Asta inseamna ca pentru ore consecutive 22, 23, 0, 1 nu vom avea o discontinuitate falsa. A treia: cele DOUA functii impreuna identifica UNIC un punct pe cerc. Daca am folosi doar sinusul, ora 5 si ora 7 ar avea aproape aceeasi valoare - ambigue. Cu ambele, fiecare ora are o pozitie unica pe cerc. Acum, in slide-ul urmator, aplicam aceste functii ca sa reprezentam ora corect.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Solutia matematica este eleganta si simpla. Inlocuim ora, care era o singura coloana cu numere 0-23, cu DOUA coloane: sin si cos al unghiului corespunzator orei. Formula: hour_sin = sin(2 pi inmultit cu ora impartit la 24), si analog pentru cos. Geometric, asezam fiecare ora pe un cerc cu raza 1. Ora 0 e in pozitia (1, 0), ora 6 e in (0, 1), ora 12 in (-1, 0), ora 18 in (0, -1). De ce functioneaza? Pentru ca acum ora 23 si ora 0, care erau la distanta 23 in reprezentare liniara, sunt aproape egale - cosinusul de 23 si cosinusul de 0 sunt aproape identice. Calculand distanta euclidiana intre punctele lor pe cerc obtin 0.27 unitati - foarte mica, exact cum este si distanta lor in realitatea fizica. In dreapta vedeti figura din capitolul 4.2 al disertatiei mele - vizualizarea cercului trigonometric cu cele 24 de ore. Aceeasi tehnica se aplica si pentru ziua saptamanii, luna anului, ziua din an - orice variabila care are natura ciclica.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 concept matematic - autoregresivitatea - este fundamentul teoretic pentru tehnica urmatoare, lag features. Definitia simpla este aceasta: o serie temporala se numeste autoregresiva daca valorile ei viitoare pot fi prezise folosind propriile valori trecute. Etimologia ne ajuta sa retinem termenul: auto inseamna 'de la sine', regresie in statistica inseamna explicarea unei variabile in functie de alte variabile, deci autoregresia inseamna ca o variabila se explica pe sine prin propriile valori anterioare. Cel mai simplu model matematic este AR de ordinul 1, prescurtat AR(1). Valoarea la momentul t este o combinatie liniara intre o constanta c, valoarea anterioara y(t-1) inmultita cu un coeficient phi (intre -1 si 1), si un zgomot aleator epsilon. Cu cat phi este mai aproape de 1, cu atat seria este mai autoregresiva. Cu phi 0 nu mai exista relatie - este zgomot pur. In dreapta vedeti vizualizarea pe date sintetice care simuleaza un pret energetic cu phi de 0.95. In panoul stang vedeti seria propriu-zisa. Pentru predictia la momentul t = 180 (punctul galben), ne uitam la valorile de la t-1 (punctul coral) si t-24 (punctul violet). In panoul drept vedeti scatter-ul pret(t-1) versus pret(t) - punctele sunt aliniate aproape perfect pe diagonala y=x. Corelatia Pearson este aproape 0.9. Pe DATELE REALE Spania din lucrarea mea, corelatia pret(t) cu pret(t-1) este aproape 0.99. Aceasta este de ce, atunci cand spun in capitolul 5 al disertatiei ca lag_1 explica peste 90% din decizia modelului, am o explicatie teoretica solida - autoregresivitatea aproape perfecta a seriei.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doua se numeste lag features si raspunde la intrebarea: cum dam modelului memorie scurta? Ideea este foarte intuitiva. Pretul electricitatii peste o ora va fi aproape sigur foarte aproape de pretul de acum. Pretul nu sare de la 50 la 100 EUR/MWh intr-o ora - cererea si oferta nu se schimba brusc. Implementarea in Python e o linie de cod. Functia shift din pandas muta valorile cu un anumit numar de pozitii. shift(1) creeaza o coloana cu valoarea de acum o ora, shift(24) cu valoarea de acum 24 ore - aceeasi ora a zilei precedente, shift(168) cu valoarea de acum o saptamana - aceeasi ora a zilei similare din saptamana trecuta. Astfel modelul primeste o 'memorie' explicita - vede in fiecare rand nu doar valoarea actuala, ci si ce era cu o ora, o zi, o saptamana in urma. Descoperirea pe care am facut-o in sesiunea 1 din disertatie este socantra: pe modelul USA, doar feature-ul lag_1 explica peste 90% din varianta predictiei XGBoost. Celelalte 28 de features combinate explica restul de 10%. Asta inseamna ca pentru predictia pe serii energetice, ceea ce s-a intamplat acum o ora este de departe cea mai importanta informatie - mai importanta decat ora, ziua, vremea, tot ce ne-am gandi.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treia se numeste rolling features sau caracteristici calculate pe un rolling window. Ideea de baza este ca un singur punct din trecut - chiar si lag_1 - poate fi atipic. De exemplu, daca acum o ora a fost o anomalie de pret din cauza unei pene de curent, modelul ar fi indus in eroare. Mai bine combinam mai multe puncte din trecut intr-o singura statistica. Cea mai naturala este media. Implementarea: rolling(24).mean() calculeaza media ultimelor 24 de valori, plimband fereastra cu o pozitie la fiecare pas. Rolling mean captureaza tendinta - daca media ultimelor 3 ore este 60 EUR, pretul actual este probabil tot in zona 60 EUR. Rolling std calculeaza deviatia standard - captureaza volatilitatea. Daca pretul a sarit haotic in ultimele 24 ore, deviatia e mare, modelul stie ca e o perioada instabila. DAR exista o problema TEHNICA importanta cu codul pe care l-am scris pe slide. Aceste linii de cod, executate exact asa, vor produce un rezultat foarte performant in evaluare - DAR FALS. Vom vedea de ce pe urmatorul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Acesta este momentul tehnic cel mai important din prezentarea mea. Sa privim ce se intampla in cele doua panouri. In stanga am calculat rolling mean de 3 ore FARA shift. Cand calculez media valorilor de la momentele t-2, t-1 si t, problema este ca includ si valoarea de la t - exact valoarea pe care vrem sa o prezicem. Modelul, antrenat cu acest feature, va invata ca daca roll_mean este 50, atunci pretul este aproape sigur in zona 50, cu R-patrat de 0.9361 - aparent excelent. DAR acesta este DATA LEAKAGE. Modelul nu va functiona pe date noi pentru ca acolo nu avem valoarea curenta - exact pe ea o prezicem. In dreapta am corectat folosind .shift(1) inainte de rolling. Asta deplaseaza fereastra cu un pas - acum media include doar valorile de la t-3, t-2 si t-1, FARA t. R-patrat scade aparent la 0.7460, dar acesta este scorul CINSTIT. Modelul invata o relatie REALA care va functiona si in productie. Aceasta diferenta - un simplu .shift(1) - este diferenta intre un model care arata bine pe evaluare dar esueaza in productie, si un model care performeaza consistent. Este genul de detaliu pe care literatura tehnica nu il subliniaza dar care decide intre proiecte reusite si esecuri.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Aceasta figura este din capitolul 4.6 al disertatiei mele si arata cum cele trei tehnici se completeaza. In albastru aveti valoarea reala - target-ul predictiei. In portocaliu, lag_1 - aceeasi serie decalata cu o pozitie. Vedeti ca urmareste extrem de bine valoarea reala, cu un decalaj de o ora. In verde, rolling mean 24 - o linie mai neteda care captureaza trend-ul de fond, fara salturile de scurta durata. Cele trei perspective sunt complementare. Lag-ul ne spune 'unde a fost recent', rolling mean ne spune 'in ce directie generala merge', iar encoding-ul ciclic ne spune 'unde suntem in ciclul zilnic si saptamanal'. Modelul XGBoost, cand are aceste trei tipuri de features, are toate ingredientele de care are nevoie pentru a invata pattern-urile time series energetice.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sa vedem rezultatele empirice. Am aplicat cele trei tehnici de feature engineering pe setul de date al pretului energetic spaniol - 34.896 de ore inregistrate pe 4 ani, 78 de features dupa preprocessing. Am antrenat 7 modele diferite: LinearRegression ca baseline, doua variante regularizate Ridge si Lasso, RandomForest, XGBoost, XGBoost cu hyperparameter tuning prin Optuna, si LSTM ca model deep learning. Toate modelele clasice obtin scoruri foarte bune - R-patrat intre 0.947 si 0.968. Asta este o validare puternica: feature engineering-ul a creat coloane atat de informative, incat aproape orice model performeaza bine. Castigatorul este XGBoost cu R-patrat de 0.968, eroare medie patratica de 2.07 EUR/MWh si eroare procentuala medie de 2.57%. LSTM-ul a obtinut R-patrat negativ doar pentru ca in MODE demo l-am rulat pe 1000 de randuri si putine epoci - date insuficiente pentru deep learning. Cand voi rula pe Databricks cu MODE full pe 15.000 randuri si 15 epoci, va recupera. Insight-ul important: diferenta intre cele 6 modele clasice este sub 0.02 in R-patrat. Ceea ce face diferenta nu este atat alegerea modelului, cat calitatea features-urilor. Asa este in time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rezumam in trei puncte cheie. Primul: pe time series, feature engineering este mai important decat selectia modelului. Pe pretul Spania, toate cele 6 modele clasice au obtinut R-patrat intre 0.947 si 0.968 - o diferenta minima de 2 procente. Ce a contat cu adevarat au fost cele 3 tehnici - encoding ciclic, lag features si rolling features - aplicate corect pe datele brute. Modelul ar fi performat slab cu orice algoritm, fara aceste features. Acesta este un lucru de mare valoare pentru orice profesionist care lucreaza pe time series. Al doilea: detaliile tehnice fac diferenta intre cinstit si fals. Un simplu .shift(1) inainte de rolling separa un model care 'pacaleste' pe test, de un model care va performa consistent in productie. Atentia la detaliile aparente, dar care matematic schimba complet semnificatia features-urilor, este esentiala. Al treilea: aceste tehnici sunt universal aplicabile. Le-am aplicat pe consum SUA, pret Spania, si le voi aplica pe productia solara India. Sunt un fundament metodologic care se transfera intre domenii.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multumesc pentru atentie. Aceasta a fost o privire de ansamblu asupra feature engineering-ului pentru time series energetice, asa cum l-am implementat eu in lucrarea de disertatie. Cele trei idei de retinut sunt: encoding ciclic pune orele pe cerc, lag features dau memorie modelului - cu descoperirea ca lag_1 domina enorm, si rolling cu shift(1) este detaliul tehnic care decide intre cinstit si fals. Astept acum intrebarile dumneavoastra cu placere. Intrebari posibile pe care le-am anticipat: 1. De ce nu folosesti deep learning direct cu seria bruta? Raspuns: am incercat LSTM, dar pe seria pretului Spania XGBoost cu features-urile mele il bate (R² 0.968 vs negativ in demo). Plus XGBoost se antreneaza in secunde, LSTM in zeci de minute. Pentru productie, raportul performanta/cost favorizeaza XGBoost. 2. De ce numar de ore in lag? Raspuns: lag 1 - memoria foarte scurta, lag 24 - acelasi moment ieri, lag 168 - acelasi moment saptamana trecuta. Sunt valori canonice in literatura time series energetice. 3. Cum tratezi valorile lipsa create de shift? Raspuns: shift(168) creeaza 168 de NaN-uri la inceputul seriei. Le elimin prin .dropna() inainte de antrenare - pierd 168 randuri din 35.000, deci neglijabil. 4. Cum se transfera pe India / productie solara? Raspuns: aceleasi tehnici, dar lag-urile relevante difera - productia solara are periodicitate zilnica puternica (lag_24) si nu saptamanala. Voi calibra in sesiunea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914400"/>
            <a:ext cx="10515600" cy="457200"/>
          </a:xfrm>
          <a:prstGeom prst="rect">
            <a:avLst/>
          </a:prstGeom>
          <a:noFill/>
          <a:ln/>
        </p:spPr>
        <p:txBody>
          <a:bodyPr wrap="square" rtlCol="0" anchor="ctr"/>
          <a:lstStyle/>
          <a:p>
            <a:pPr indent="0" marL="0">
              <a:buNone/>
            </a:pPr>
            <a:r>
              <a:rPr lang="en-US" sz="1200" b="1" spc="800" kern="0" dirty="0">
                <a:solidFill>
                  <a:srgbClr val="F96167"/>
                </a:solidFill>
                <a:latin typeface="Calibri" pitchFamily="34" charset="0"/>
                <a:ea typeface="Calibri" pitchFamily="34" charset="-122"/>
                <a:cs typeface="Calibri" pitchFamily="34" charset="-120"/>
              </a:rPr>
              <a:t>SESIUNEA DE COMUNICARI STIINTIFICE STUDENTESTI 2026</a:t>
            </a:r>
            <a:endParaRPr lang="en-US" sz="1200" dirty="0"/>
          </a:p>
        </p:txBody>
      </p:sp>
      <p:sp>
        <p:nvSpPr>
          <p:cNvPr id="4" name="Text 2"/>
          <p:cNvSpPr/>
          <p:nvPr/>
        </p:nvSpPr>
        <p:spPr>
          <a:xfrm>
            <a:off x="731520" y="1554480"/>
            <a:ext cx="10515600" cy="1828800"/>
          </a:xfrm>
          <a:prstGeom prst="rect">
            <a:avLst/>
          </a:prstGeom>
          <a:noFill/>
          <a:ln/>
        </p:spPr>
        <p:txBody>
          <a:bodyPr wrap="square" rtlCol="0" anchor="ctr"/>
          <a:lstStyle/>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Tehnici de feature engineering</a:t>
            </a:r>
            <a:endParaRPr lang="en-US" sz="4000" dirty="0"/>
          </a:p>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pentru serii temporale</a:t>
            </a:r>
            <a:endParaRPr lang="en-US" sz="4000" dirty="0"/>
          </a:p>
        </p:txBody>
      </p:sp>
      <p:sp>
        <p:nvSpPr>
          <p:cNvPr id="5" name="Text 3"/>
          <p:cNvSpPr/>
          <p:nvPr/>
        </p:nvSpPr>
        <p:spPr>
          <a:xfrm>
            <a:off x="731520" y="3383280"/>
            <a:ext cx="10515600" cy="1005840"/>
          </a:xfrm>
          <a:prstGeom prst="rect">
            <a:avLst/>
          </a:prstGeom>
          <a:noFill/>
          <a:ln/>
        </p:spPr>
        <p:txBody>
          <a:bodyPr wrap="square" rtlCol="0" anchor="ctr"/>
          <a:lstStyle/>
          <a:p>
            <a:pPr indent="0" marL="0">
              <a:buNone/>
            </a:pPr>
            <a:r>
              <a:rPr lang="en-US" sz="1900" i="1" dirty="0">
                <a:solidFill>
                  <a:srgbClr val="CADCFC"/>
                </a:solidFill>
                <a:latin typeface="Calibri" pitchFamily="34" charset="0"/>
                <a:ea typeface="Calibri" pitchFamily="34" charset="-122"/>
                <a:cs typeface="Calibri" pitchFamily="34" charset="-120"/>
              </a:rPr>
              <a:t>Encoding ciclic, lag features si rolling features</a:t>
            </a:r>
            <a:endParaRPr lang="en-US" sz="1900" dirty="0"/>
          </a:p>
          <a:p>
            <a:pPr indent="0" marL="0">
              <a:buNone/>
            </a:pPr>
            <a:r>
              <a:rPr lang="en-US" sz="1900" i="1" dirty="0">
                <a:solidFill>
                  <a:srgbClr val="CADCFC"/>
                </a:solidFill>
                <a:latin typeface="Calibri" pitchFamily="34" charset="0"/>
                <a:ea typeface="Calibri" pitchFamily="34" charset="-122"/>
                <a:cs typeface="Calibri" pitchFamily="34" charset="-120"/>
              </a:rPr>
              <a:t>— cu aplicatii in domeniul energetic</a:t>
            </a:r>
            <a:endParaRPr lang="en-US" sz="1900" dirty="0"/>
          </a:p>
        </p:txBody>
      </p:sp>
      <p:sp>
        <p:nvSpPr>
          <p:cNvPr id="6" name="Shape 4"/>
          <p:cNvSpPr/>
          <p:nvPr/>
        </p:nvSpPr>
        <p:spPr>
          <a:xfrm>
            <a:off x="731520" y="4572000"/>
            <a:ext cx="1828800" cy="36576"/>
          </a:xfrm>
          <a:prstGeom prst="rect">
            <a:avLst/>
          </a:prstGeom>
          <a:solidFill>
            <a:srgbClr val="F96167"/>
          </a:solidFill>
          <a:ln w="12700">
            <a:solidFill>
              <a:srgbClr val="F96167"/>
            </a:solidFill>
            <a:prstDash val="solid"/>
          </a:ln>
        </p:spPr>
      </p:sp>
      <p:sp>
        <p:nvSpPr>
          <p:cNvPr id="7" name="Text 5"/>
          <p:cNvSpPr/>
          <p:nvPr/>
        </p:nvSpPr>
        <p:spPr>
          <a:xfrm>
            <a:off x="731520" y="4846320"/>
            <a:ext cx="9144000" cy="1463040"/>
          </a:xfrm>
          <a:prstGeom prst="rect">
            <a:avLst/>
          </a:prstGeom>
          <a:noFill/>
          <a:ln/>
        </p:spPr>
        <p:txBody>
          <a:bodyPr wrap="square"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Diana Nenu</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Universitatea Titu Maiorescu - Data Science &amp; Artificial Intelligence</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Lucrare de disertatie - sesiune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CADRU GENERAL</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Contextul lucrarii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2560320"/>
          </a:xfrm>
          <a:prstGeom prst="rect">
            <a:avLst/>
          </a:prstGeom>
          <a:solidFill>
            <a:srgbClr val="FFFFFF"/>
          </a:solidFill>
          <a:ln w="25400">
            <a:solidFill>
              <a:srgbClr val="065A82"/>
            </a:solidFill>
            <a:prstDash val="solid"/>
          </a:ln>
        </p:spPr>
      </p:sp>
      <p:sp>
        <p:nvSpPr>
          <p:cNvPr id="7" name="Shape 5"/>
          <p:cNvSpPr/>
          <p:nvPr/>
        </p:nvSpPr>
        <p:spPr>
          <a:xfrm>
            <a:off x="548640" y="1554480"/>
            <a:ext cx="3611880" cy="640080"/>
          </a:xfrm>
          <a:prstGeom prst="rect">
            <a:avLst/>
          </a:prstGeom>
          <a:solidFill>
            <a:srgbClr val="065A82"/>
          </a:solidFill>
          <a:ln w="12700">
            <a:solidFill>
              <a:srgbClr val="065A82"/>
            </a:solidFill>
            <a:prstDash val="solid"/>
          </a:ln>
        </p:spPr>
      </p:sp>
      <p:sp>
        <p:nvSpPr>
          <p:cNvPr id="8" name="Text 6"/>
          <p:cNvSpPr/>
          <p:nvPr/>
        </p:nvSpPr>
        <p:spPr>
          <a:xfrm>
            <a:off x="54864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USA</a:t>
            </a:r>
            <a:endParaRPr lang="en-US" sz="2000" dirty="0"/>
          </a:p>
        </p:txBody>
      </p:sp>
      <p:sp>
        <p:nvSpPr>
          <p:cNvPr id="9" name="Text 7"/>
          <p:cNvSpPr/>
          <p:nvPr/>
        </p:nvSpPr>
        <p:spPr>
          <a:xfrm>
            <a:off x="777240" y="2331720"/>
            <a:ext cx="3154680" cy="1645920"/>
          </a:xfrm>
          <a:prstGeom prst="rect">
            <a:avLst/>
          </a:prstGeom>
          <a:noFill/>
          <a:ln/>
        </p:spPr>
        <p:txBody>
          <a:bodyPr wrap="square" rtlCol="0" anchor="t"/>
          <a:lstStyle/>
          <a:p>
            <a:pPr indent="0" marL="0">
              <a:buNone/>
            </a:pPr>
            <a:r>
              <a:rPr lang="en-US" sz="1400" b="1" dirty="0">
                <a:solidFill>
                  <a:srgbClr val="065A82"/>
                </a:solidFill>
                <a:latin typeface="Calibri" pitchFamily="34" charset="0"/>
                <a:ea typeface="Calibri" pitchFamily="34" charset="-122"/>
                <a:cs typeface="Calibri" pitchFamily="34" charset="-120"/>
              </a:rPr>
              <a:t>Consum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PJM Interconnection</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16 ani date orare (2002-2018)</a:t>
            </a:r>
            <a:endParaRPr lang="en-US" sz="1400" dirty="0"/>
          </a:p>
        </p:txBody>
      </p:sp>
      <p:sp>
        <p:nvSpPr>
          <p:cNvPr id="10" name="Shape 8"/>
          <p:cNvSpPr/>
          <p:nvPr/>
        </p:nvSpPr>
        <p:spPr>
          <a:xfrm>
            <a:off x="4251960" y="1554480"/>
            <a:ext cx="3611880" cy="2560320"/>
          </a:xfrm>
          <a:prstGeom prst="rect">
            <a:avLst/>
          </a:prstGeom>
          <a:solidFill>
            <a:srgbClr val="FFFFFF"/>
          </a:solidFill>
          <a:ln w="25400">
            <a:solidFill>
              <a:srgbClr val="1C7293"/>
            </a:solidFill>
            <a:prstDash val="solid"/>
          </a:ln>
        </p:spPr>
      </p:sp>
      <p:sp>
        <p:nvSpPr>
          <p:cNvPr id="11" name="Shape 9"/>
          <p:cNvSpPr/>
          <p:nvPr/>
        </p:nvSpPr>
        <p:spPr>
          <a:xfrm>
            <a:off x="4251960" y="1554480"/>
            <a:ext cx="3611880" cy="640080"/>
          </a:xfrm>
          <a:prstGeom prst="rect">
            <a:avLst/>
          </a:prstGeom>
          <a:solidFill>
            <a:srgbClr val="1C7293"/>
          </a:solidFill>
          <a:ln w="12700">
            <a:solidFill>
              <a:srgbClr val="1C7293"/>
            </a:solidFill>
            <a:prstDash val="solid"/>
          </a:ln>
        </p:spPr>
      </p:sp>
      <p:sp>
        <p:nvSpPr>
          <p:cNvPr id="12" name="Text 10"/>
          <p:cNvSpPr/>
          <p:nvPr/>
        </p:nvSpPr>
        <p:spPr>
          <a:xfrm>
            <a:off x="425196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Spania</a:t>
            </a:r>
            <a:endParaRPr lang="en-US" sz="2000" dirty="0"/>
          </a:p>
        </p:txBody>
      </p:sp>
      <p:sp>
        <p:nvSpPr>
          <p:cNvPr id="13" name="Text 11"/>
          <p:cNvSpPr/>
          <p:nvPr/>
        </p:nvSpPr>
        <p:spPr>
          <a:xfrm>
            <a:off x="4480560" y="2331720"/>
            <a:ext cx="3154680" cy="1645920"/>
          </a:xfrm>
          <a:prstGeom prst="rect">
            <a:avLst/>
          </a:prstGeom>
          <a:noFill/>
          <a:ln/>
        </p:spPr>
        <p:txBody>
          <a:bodyPr wrap="square"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Pret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ENTSOE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4 ani date orare (2015-2018)</a:t>
            </a:r>
            <a:endParaRPr lang="en-US" sz="1400" dirty="0"/>
          </a:p>
        </p:txBody>
      </p:sp>
      <p:sp>
        <p:nvSpPr>
          <p:cNvPr id="14" name="Shape 12"/>
          <p:cNvSpPr/>
          <p:nvPr/>
        </p:nvSpPr>
        <p:spPr>
          <a:xfrm>
            <a:off x="7955280" y="1554480"/>
            <a:ext cx="3611880" cy="2560320"/>
          </a:xfrm>
          <a:prstGeom prst="rect">
            <a:avLst/>
          </a:prstGeom>
          <a:solidFill>
            <a:srgbClr val="FFFFFF"/>
          </a:solidFill>
          <a:ln w="25400">
            <a:solidFill>
              <a:srgbClr val="F9C846"/>
            </a:solidFill>
            <a:prstDash val="solid"/>
          </a:ln>
        </p:spPr>
      </p:sp>
      <p:sp>
        <p:nvSpPr>
          <p:cNvPr id="15" name="Shape 13"/>
          <p:cNvSpPr/>
          <p:nvPr/>
        </p:nvSpPr>
        <p:spPr>
          <a:xfrm>
            <a:off x="7955280" y="1554480"/>
            <a:ext cx="3611880" cy="640080"/>
          </a:xfrm>
          <a:prstGeom prst="rect">
            <a:avLst/>
          </a:prstGeom>
          <a:solidFill>
            <a:srgbClr val="F9C846"/>
          </a:solidFill>
          <a:ln w="12700">
            <a:solidFill>
              <a:srgbClr val="F9C846"/>
            </a:solidFill>
            <a:prstDash val="solid"/>
          </a:ln>
        </p:spPr>
      </p:sp>
      <p:sp>
        <p:nvSpPr>
          <p:cNvPr id="16" name="Text 14"/>
          <p:cNvSpPr/>
          <p:nvPr/>
        </p:nvSpPr>
        <p:spPr>
          <a:xfrm>
            <a:off x="795528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India</a:t>
            </a:r>
            <a:endParaRPr lang="en-US" sz="2000" dirty="0"/>
          </a:p>
        </p:txBody>
      </p:sp>
      <p:sp>
        <p:nvSpPr>
          <p:cNvPr id="17" name="Text 15"/>
          <p:cNvSpPr/>
          <p:nvPr/>
        </p:nvSpPr>
        <p:spPr>
          <a:xfrm>
            <a:off x="8183880" y="2331720"/>
            <a:ext cx="3154680" cy="1645920"/>
          </a:xfrm>
          <a:prstGeom prst="rect">
            <a:avLst/>
          </a:prstGeom>
          <a:noFill/>
          <a:ln/>
        </p:spPr>
        <p:txBody>
          <a:bodyPr wrap="square" rtlCol="0" anchor="t"/>
          <a:lstStyle/>
          <a:p>
            <a:pPr indent="0" marL="0">
              <a:buNone/>
            </a:pPr>
            <a:r>
              <a:rPr lang="en-US" sz="1400" b="1" dirty="0">
                <a:solidFill>
                  <a:srgbClr val="F9C846"/>
                </a:solidFill>
                <a:latin typeface="Calibri" pitchFamily="34" charset="0"/>
                <a:ea typeface="Calibri" pitchFamily="34" charset="-122"/>
                <a:cs typeface="Calibri" pitchFamily="34" charset="-120"/>
              </a:rPr>
              <a:t>Productie solara</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Kaggle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Centrale + senzori (2020)</a:t>
            </a:r>
            <a:endParaRPr lang="en-US" sz="1400" dirty="0"/>
          </a:p>
        </p:txBody>
      </p:sp>
      <p:sp>
        <p:nvSpPr>
          <p:cNvPr id="18" name="Shape 16"/>
          <p:cNvSpPr/>
          <p:nvPr/>
        </p:nvSpPr>
        <p:spPr>
          <a:xfrm>
            <a:off x="548640" y="4480560"/>
            <a:ext cx="11018520" cy="1645920"/>
          </a:xfrm>
          <a:prstGeom prst="rect">
            <a:avLst/>
          </a:prstGeom>
          <a:solidFill>
            <a:srgbClr val="F4F5F7"/>
          </a:solidFill>
          <a:ln w="12700">
            <a:solidFill>
              <a:srgbClr val="E5E7EB"/>
            </a:solidFill>
            <a:prstDash val="solid"/>
          </a:ln>
        </p:spPr>
      </p:sp>
      <p:sp>
        <p:nvSpPr>
          <p:cNvPr id="19" name="Shape 17"/>
          <p:cNvSpPr/>
          <p:nvPr/>
        </p:nvSpPr>
        <p:spPr>
          <a:xfrm>
            <a:off x="548640" y="4480560"/>
            <a:ext cx="137160" cy="1645920"/>
          </a:xfrm>
          <a:prstGeom prst="rect">
            <a:avLst/>
          </a:prstGeom>
          <a:solidFill>
            <a:srgbClr val="F96167"/>
          </a:solidFill>
          <a:ln w="12700">
            <a:solidFill>
              <a:srgbClr val="F96167"/>
            </a:solidFill>
            <a:prstDash val="solid"/>
          </a:ln>
        </p:spPr>
      </p:sp>
      <p:sp>
        <p:nvSpPr>
          <p:cNvPr id="20" name="Text 18"/>
          <p:cNvSpPr/>
          <p:nvPr/>
        </p:nvSpPr>
        <p:spPr>
          <a:xfrm>
            <a:off x="868680" y="4572000"/>
            <a:ext cx="10515600" cy="365760"/>
          </a:xfrm>
          <a:prstGeom prst="rect">
            <a:avLst/>
          </a:prstGeom>
          <a:noFill/>
          <a:ln/>
        </p:spPr>
        <p:txBody>
          <a:bodyPr wrap="square" rtlCol="0" anchor="ctr"/>
          <a:lstStyle/>
          <a:p>
            <a:pPr indent="0" marL="0">
              <a:buNone/>
            </a:pPr>
            <a:r>
              <a:rPr lang="en-US" sz="1500" b="1" dirty="0">
                <a:solidFill>
                  <a:srgbClr val="F96167"/>
                </a:solidFill>
                <a:latin typeface="Calibri" pitchFamily="34" charset="0"/>
                <a:ea typeface="Calibri" pitchFamily="34" charset="-122"/>
                <a:cs typeface="Calibri" pitchFamily="34" charset="-120"/>
              </a:rPr>
              <a:t>Problema comuna</a:t>
            </a:r>
            <a:endParaRPr lang="en-US" sz="1500" dirty="0"/>
          </a:p>
        </p:txBody>
      </p:sp>
      <p:sp>
        <p:nvSpPr>
          <p:cNvPr id="21" name="Text 19"/>
          <p:cNvSpPr/>
          <p:nvPr/>
        </p:nvSpPr>
        <p:spPr>
          <a:xfrm>
            <a:off x="868680" y="4983480"/>
            <a:ext cx="10515600" cy="1188720"/>
          </a:xfrm>
          <a:prstGeom prst="rect">
            <a:avLst/>
          </a:prstGeom>
          <a:noFill/>
          <a:ln/>
        </p:spPr>
        <p:txBody>
          <a:bodyPr wrap="square" rtlCol="0" anchor="t"/>
          <a:lstStyle/>
          <a:p>
            <a:pPr indent="0" marL="0">
              <a:buNone/>
            </a:pPr>
            <a:r>
              <a:rPr lang="en-US" sz="1300" dirty="0">
                <a:solidFill>
                  <a:srgbClr val="1F2937"/>
                </a:solidFill>
                <a:latin typeface="Calibri" pitchFamily="34" charset="0"/>
                <a:ea typeface="Calibri" pitchFamily="34" charset="-122"/>
                <a:cs typeface="Calibri" pitchFamily="34" charset="-120"/>
              </a:rPr>
              <a:t>Toate cele 3 seturi sunt </a:t>
            </a:r>
            <a:pPr indent="0" marL="0">
              <a:buNone/>
            </a:pPr>
            <a:r>
              <a:rPr lang="en-US" sz="1300" b="1" dirty="0">
                <a:solidFill>
                  <a:srgbClr val="1F2937"/>
                </a:solidFill>
                <a:latin typeface="Calibri" pitchFamily="34" charset="0"/>
                <a:ea typeface="Calibri" pitchFamily="34" charset="-122"/>
                <a:cs typeface="Calibri" pitchFamily="34" charset="-120"/>
              </a:rPr>
              <a:t>time series</a:t>
            </a:r>
            <a:pPr indent="0" marL="0">
              <a:buNone/>
            </a:pPr>
            <a:r>
              <a:rPr lang="en-US" sz="1300" dirty="0">
                <a:solidFill>
                  <a:srgbClr val="1F2937"/>
                </a:solidFill>
                <a:latin typeface="Calibri" pitchFamily="34" charset="0"/>
                <a:ea typeface="Calibri" pitchFamily="34" charset="-122"/>
                <a:cs typeface="Calibri" pitchFamily="34" charset="-120"/>
              </a:rPr>
              <a:t> - serii de valori inregistrate la momente succesive. Datele brute (timestamp, valoare) </a:t>
            </a:r>
            <a:pPr indent="0" marL="0">
              <a:buNone/>
            </a:pPr>
            <a:r>
              <a:rPr lang="en-US" sz="1300" b="1" dirty="0">
                <a:solidFill>
                  <a:srgbClr val="F96167"/>
                </a:solidFill>
                <a:latin typeface="Calibri" pitchFamily="34" charset="0"/>
                <a:ea typeface="Calibri" pitchFamily="34" charset="-122"/>
                <a:cs typeface="Calibri" pitchFamily="34" charset="-120"/>
              </a:rPr>
              <a:t>NU sunt direct utilizabile</a:t>
            </a:r>
            <a:pPr indent="0" marL="0">
              <a:buNone/>
            </a:pPr>
            <a:r>
              <a:rPr lang="en-US" sz="1300" dirty="0">
                <a:solidFill>
                  <a:srgbClr val="1F2937"/>
                </a:solidFill>
                <a:latin typeface="Calibri" pitchFamily="34" charset="0"/>
                <a:ea typeface="Calibri" pitchFamily="34" charset="-122"/>
                <a:cs typeface="Calibri" pitchFamily="34" charset="-120"/>
              </a:rPr>
              <a:t> de modelele clasice de Machine Learning. Aceste modele cer un tabel cu features (coloane) informative.</a:t>
            </a:r>
            <a:endParaRPr lang="en-US" sz="13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b="1" i="1" dirty="0">
                <a:solidFill>
                  <a:srgbClr val="065A82"/>
                </a:solidFill>
                <a:latin typeface="Calibri" pitchFamily="34" charset="0"/>
                <a:ea typeface="Calibri" pitchFamily="34" charset="-122"/>
                <a:cs typeface="Calibri" pitchFamily="34" charset="-120"/>
              </a:rPr>
              <a:t>Astazi: cele 3 tehnici matematice prin care transformam datele brute in features pe care XGBoost le poate folosi.</a:t>
            </a:r>
            <a:endParaRPr lang="en-US" sz="1300" dirty="0"/>
          </a:p>
        </p:txBody>
      </p:sp>
      <p:sp>
        <p:nvSpPr>
          <p:cNvPr id="22" name="Text 20"/>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23" name="Text 21"/>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MOTIVATIE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Problema: time series brute si modelele de ML</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Datele brute arata asa: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5029200" cy="2926080"/>
        </p:xfrm>
        <a:graphic>
          <a:graphicData uri="http://schemas.openxmlformats.org/drawingml/2006/table">
            <a:tbl>
              <a:tblPr/>
              <a:tblGrid>
                <a:gridCol w="2514600"/>
                <a:gridCol w="2514600"/>
              </a:tblGrid>
              <a:tr h="418011">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timestamp</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consum (GW)</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2015-01-07 23:00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00:00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25.1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01:00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02:00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22.8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5"/>
          <p:cNvSpPr/>
          <p:nvPr/>
        </p:nvSpPr>
        <p:spPr>
          <a:xfrm>
            <a:off x="548640" y="5029200"/>
            <a:ext cx="5029200" cy="1280160"/>
          </a:xfrm>
          <a:prstGeom prst="rect">
            <a:avLst/>
          </a:prstGeom>
          <a:noFill/>
          <a:ln/>
        </p:spPr>
        <p:txBody>
          <a:bodyPr wrap="square"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Modelul vede:
</a:t>
            </a:r>
            <a:pPr indent="0" marL="0">
              <a:buNone/>
            </a:pPr>
            <a:r>
              <a:rPr lang="en-US" sz="1200" i="1" dirty="0">
                <a:solidFill>
                  <a:srgbClr val="6B7280"/>
                </a:solidFill>
                <a:latin typeface="Calibri" pitchFamily="34" charset="0"/>
                <a:ea typeface="Calibri" pitchFamily="34" charset="-122"/>
                <a:cs typeface="Calibri" pitchFamily="34" charset="-120"/>
              </a:rPr>
              <a:t>"Aceasta valoare a fost 26.4 si urmatoarea 25.1"
</a:t>
            </a:r>
            <a:pPr indent="0" marL="0">
              <a:buNone/>
            </a:pPr>
            <a:r>
              <a:rPr lang="en-US" sz="1200" dirty="0">
                <a:solidFill>
                  <a:srgbClr val="1F2937"/>
                </a:solidFill>
                <a:latin typeface="Calibri" pitchFamily="34" charset="0"/>
                <a:ea typeface="Calibri" pitchFamily="34" charset="-122"/>
                <a:cs typeface="Calibri" pitchFamily="34" charset="-120"/>
              </a:rPr>
              <a:t>Dar </a:t>
            </a:r>
            <a:pPr indent="0" marL="0">
              <a:buNone/>
            </a:pPr>
            <a:r>
              <a:rPr lang="en-US" sz="1200" b="1" dirty="0">
                <a:solidFill>
                  <a:srgbClr val="F96167"/>
                </a:solidFill>
                <a:latin typeface="Calibri" pitchFamily="34" charset="0"/>
                <a:ea typeface="Calibri" pitchFamily="34" charset="-122"/>
                <a:cs typeface="Calibri" pitchFamily="34" charset="-120"/>
              </a:rPr>
              <a:t>NU stie</a:t>
            </a:r>
            <a:pPr indent="0" marL="0">
              <a:buNone/>
            </a:pPr>
            <a:r>
              <a:rPr lang="en-US" sz="1200" dirty="0">
                <a:solidFill>
                  <a:srgbClr val="1F2937"/>
                </a:solidFill>
                <a:latin typeface="Calibri" pitchFamily="34" charset="0"/>
                <a:ea typeface="Calibri" pitchFamily="34" charset="-122"/>
                <a:cs typeface="Calibri" pitchFamily="34" charset="-120"/>
              </a:rPr>
              <a:t>:
</a:t>
            </a:r>
            <a:pPr indent="0" marL="0">
              <a:buNone/>
            </a:pPr>
            <a:r>
              <a:rPr lang="en-US" sz="1100" dirty="0">
                <a:solidFill>
                  <a:srgbClr val="1F2937"/>
                </a:solidFill>
                <a:latin typeface="Calibri" pitchFamily="34" charset="0"/>
                <a:ea typeface="Calibri" pitchFamily="34" charset="-122"/>
                <a:cs typeface="Calibri" pitchFamily="34" charset="-120"/>
              </a:rPr>
              <a:t>  - Ca 23 si 0 sunt vecine pe ceas
</a:t>
            </a:r>
            <a:pPr indent="0" marL="0">
              <a:buNone/>
            </a:pPr>
            <a:r>
              <a:rPr lang="en-US" sz="1100" dirty="0">
                <a:solidFill>
                  <a:srgbClr val="1F2937"/>
                </a:solidFill>
                <a:latin typeface="Calibri" pitchFamily="34" charset="0"/>
                <a:ea typeface="Calibri" pitchFamily="34" charset="-122"/>
                <a:cs typeface="Calibri" pitchFamily="34" charset="-120"/>
              </a:rPr>
              <a:t>  - Ca exista pattern saptamanal
</a:t>
            </a:r>
            <a:pPr indent="0" marL="0">
              <a:buNone/>
            </a:pPr>
            <a:r>
              <a:rPr lang="en-US" sz="1100" dirty="0">
                <a:solidFill>
                  <a:srgbClr val="1F2937"/>
                </a:solidFill>
                <a:latin typeface="Calibri" pitchFamily="34" charset="0"/>
                <a:ea typeface="Calibri" pitchFamily="34" charset="-122"/>
                <a:cs typeface="Calibri" pitchFamily="34" charset="-120"/>
              </a:rPr>
              <a:t>  - Ca trecutul recent prezice viitorul</a:t>
            </a:r>
            <a:endParaRPr lang="en-US" sz="1200" dirty="0"/>
          </a:p>
        </p:txBody>
      </p:sp>
      <p:sp>
        <p:nvSpPr>
          <p:cNvPr id="9" name="Shape 6"/>
          <p:cNvSpPr/>
          <p:nvPr/>
        </p:nvSpPr>
        <p:spPr>
          <a:xfrm>
            <a:off x="6126480" y="1554480"/>
            <a:ext cx="5486400" cy="4754880"/>
          </a:xfrm>
          <a:prstGeom prst="rect">
            <a:avLst/>
          </a:prstGeom>
          <a:solidFill>
            <a:srgbClr val="F4F5F7"/>
          </a:solidFill>
          <a:ln w="12700">
            <a:solidFill>
              <a:srgbClr val="E5E7EB"/>
            </a:solidFill>
            <a:prstDash val="solid"/>
          </a:ln>
        </p:spPr>
      </p:sp>
      <p:sp>
        <p:nvSpPr>
          <p:cNvPr id="10" name="Shape 7"/>
          <p:cNvSpPr/>
          <p:nvPr/>
        </p:nvSpPr>
        <p:spPr>
          <a:xfrm>
            <a:off x="6126480" y="1554480"/>
            <a:ext cx="137160" cy="4754880"/>
          </a:xfrm>
          <a:prstGeom prst="rect">
            <a:avLst/>
          </a:prstGeom>
          <a:solidFill>
            <a:srgbClr val="065A82"/>
          </a:solidFill>
          <a:ln w="12700">
            <a:solidFill>
              <a:srgbClr val="065A82"/>
            </a:solidFill>
            <a:prstDash val="solid"/>
          </a:ln>
        </p:spPr>
      </p:sp>
      <p:sp>
        <p:nvSpPr>
          <p:cNvPr id="11" name="Text 8"/>
          <p:cNvSpPr/>
          <p:nvPr/>
        </p:nvSpPr>
        <p:spPr>
          <a:xfrm>
            <a:off x="6355080" y="1691640"/>
            <a:ext cx="5120640" cy="365760"/>
          </a:xfrm>
          <a:prstGeom prst="rect">
            <a:avLst/>
          </a:prstGeom>
          <a:noFill/>
          <a:ln/>
        </p:spPr>
        <p:txBody>
          <a:bodyPr wrap="square" rtlCol="0" anchor="ctr"/>
          <a:lstStyle/>
          <a:p>
            <a:pPr indent="0" marL="0">
              <a:buNone/>
            </a:pPr>
            <a:r>
              <a:rPr lang="en-US" sz="1400" b="1" dirty="0">
                <a:solidFill>
                  <a:srgbClr val="065A82"/>
                </a:solidFill>
                <a:latin typeface="Calibri" pitchFamily="34" charset="0"/>
                <a:ea typeface="Calibri" pitchFamily="34" charset="-122"/>
                <a:cs typeface="Calibri" pitchFamily="34" charset="-120"/>
              </a:rPr>
              <a:t>Pattern-uri TIPICE in datele energetice</a:t>
            </a:r>
            <a:endParaRPr lang="en-US" sz="1400" dirty="0"/>
          </a:p>
        </p:txBody>
      </p:sp>
      <p:sp>
        <p:nvSpPr>
          <p:cNvPr id="12" name="Text 9"/>
          <p:cNvSpPr/>
          <p:nvPr/>
        </p:nvSpPr>
        <p:spPr>
          <a:xfrm>
            <a:off x="6355080" y="2103120"/>
            <a:ext cx="5120640" cy="4114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Sezonalitate orara
</a:t>
            </a:r>
            <a:pPr indent="0" marL="0">
              <a:buNone/>
            </a:pPr>
            <a:r>
              <a:rPr lang="en-US" sz="1100" dirty="0">
                <a:solidFill>
                  <a:srgbClr val="1F2937"/>
                </a:solidFill>
                <a:latin typeface="Calibri" pitchFamily="34" charset="0"/>
                <a:ea typeface="Calibri" pitchFamily="34" charset="-122"/>
                <a:cs typeface="Calibri" pitchFamily="34" charset="-120"/>
              </a:rPr>
              <a:t>Cererea creste dimineata (oameni se trezesc) si seara (cina + lumini), scade noaptea. Modelul trebuie sa "stie" ora.
</a:t>
            </a:r>
            <a:pPr indent="0" marL="0">
              <a:buNone/>
            </a:pPr>
            <a:r>
              <a:rPr lang="en-US" sz="1300" b="1" dirty="0">
                <a:solidFill>
                  <a:srgbClr val="065A82"/>
                </a:solidFill>
                <a:latin typeface="Calibri" pitchFamily="34" charset="0"/>
                <a:ea typeface="Calibri" pitchFamily="34" charset="-122"/>
                <a:cs typeface="Calibri" pitchFamily="34" charset="-120"/>
              </a:rPr>
              <a:t>Ciclu saptamanal
</a:t>
            </a:r>
            <a:pPr indent="0" marL="0">
              <a:buNone/>
            </a:pPr>
            <a:r>
              <a:rPr lang="en-US" sz="1100" dirty="0">
                <a:solidFill>
                  <a:srgbClr val="1F2937"/>
                </a:solidFill>
                <a:latin typeface="Calibri" pitchFamily="34" charset="0"/>
                <a:ea typeface="Calibri" pitchFamily="34" charset="-122"/>
                <a:cs typeface="Calibri" pitchFamily="34" charset="-120"/>
              </a:rPr>
              <a:t>Consumul in zilele lucratoare &gt; weekend (fabricile inchise). Modelul trebuie sa stie ziua saptamanii.
</a:t>
            </a:r>
            <a:pPr indent="0" marL="0">
              <a:buNone/>
            </a:pPr>
            <a:r>
              <a:rPr lang="en-US" sz="1300" b="1" dirty="0">
                <a:solidFill>
                  <a:srgbClr val="065A82"/>
                </a:solidFill>
                <a:latin typeface="Calibri" pitchFamily="34" charset="0"/>
                <a:ea typeface="Calibri" pitchFamily="34" charset="-122"/>
                <a:cs typeface="Calibri" pitchFamily="34" charset="-120"/>
              </a:rPr>
              <a:t>Autoregresivitate
</a:t>
            </a:r>
            <a:pPr indent="0" marL="0">
              <a:buNone/>
            </a:pPr>
            <a:r>
              <a:rPr lang="en-US" sz="1100" dirty="0">
                <a:solidFill>
                  <a:srgbClr val="1F2937"/>
                </a:solidFill>
                <a:latin typeface="Calibri" pitchFamily="34" charset="0"/>
                <a:ea typeface="Calibri" pitchFamily="34" charset="-122"/>
                <a:cs typeface="Calibri" pitchFamily="34" charset="-120"/>
              </a:rPr>
              <a:t>Pretul peste o ora va fi aproape de pretul curent. Trecutul recent este "memoria scurta" cea mai utila.
</a:t>
            </a:r>
            <a:pPr indent="0" marL="0">
              <a:buNone/>
            </a:pPr>
            <a:r>
              <a:rPr lang="en-US" sz="1300" b="1" dirty="0">
                <a:solidFill>
                  <a:srgbClr val="065A82"/>
                </a:solidFill>
                <a:latin typeface="Calibri" pitchFamily="34" charset="0"/>
                <a:ea typeface="Calibri" pitchFamily="34" charset="-122"/>
                <a:cs typeface="Calibri" pitchFamily="34" charset="-120"/>
              </a:rPr>
              <a:t>Trend si volatilitate
</a:t>
            </a:r>
            <a:pPr indent="0" marL="0">
              <a:buNone/>
            </a:pPr>
            <a:r>
              <a:rPr lang="en-US" sz="1100" dirty="0">
                <a:solidFill>
                  <a:srgbClr val="1F2937"/>
                </a:solidFill>
                <a:latin typeface="Calibri" pitchFamily="34" charset="0"/>
                <a:ea typeface="Calibri" pitchFamily="34" charset="-122"/>
                <a:cs typeface="Calibri" pitchFamily="34" charset="-120"/>
              </a:rPr>
              <a:t>Media ultimelor ore + dispersia spun cat de stabil este sistemul.</a:t>
            </a:r>
            <a:endParaRPr lang="en-US" sz="1300" dirty="0"/>
          </a:p>
        </p:txBody>
      </p:sp>
      <p:sp>
        <p:nvSpPr>
          <p:cNvPr id="13" name="Text 10"/>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4" name="Text 11"/>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OVERVIEW</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care fac diferenta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4480560"/>
          </a:xfrm>
          <a:prstGeom prst="rect">
            <a:avLst/>
          </a:prstGeom>
          <a:solidFill>
            <a:srgbClr val="FFFFFF"/>
          </a:solidFill>
          <a:ln w="31750">
            <a:solidFill>
              <a:srgbClr val="065A82"/>
            </a:solidFill>
            <a:prstDash val="solid"/>
          </a:ln>
        </p:spPr>
      </p:sp>
      <p:sp>
        <p:nvSpPr>
          <p:cNvPr id="7" name="Shape 5"/>
          <p:cNvSpPr/>
          <p:nvPr/>
        </p:nvSpPr>
        <p:spPr>
          <a:xfrm>
            <a:off x="548640" y="1554480"/>
            <a:ext cx="3611880" cy="777240"/>
          </a:xfrm>
          <a:prstGeom prst="rect">
            <a:avLst/>
          </a:prstGeom>
          <a:solidFill>
            <a:srgbClr val="065A82"/>
          </a:solidFill>
          <a:ln w="12700">
            <a:solidFill>
              <a:srgbClr val="065A82"/>
            </a:solidFill>
            <a:prstDash val="solid"/>
          </a:ln>
        </p:spPr>
      </p:sp>
      <p:sp>
        <p:nvSpPr>
          <p:cNvPr id="8" name="Shape 6"/>
          <p:cNvSpPr/>
          <p:nvPr/>
        </p:nvSpPr>
        <p:spPr>
          <a:xfrm>
            <a:off x="822960" y="1691640"/>
            <a:ext cx="502920" cy="502920"/>
          </a:xfrm>
          <a:prstGeom prst="ellipse">
            <a:avLst/>
          </a:prstGeom>
          <a:solidFill>
            <a:srgbClr val="FFFFFF"/>
          </a:solidFill>
          <a:ln w="12700">
            <a:solidFill>
              <a:srgbClr val="FFFFFF"/>
            </a:solidFill>
            <a:prstDash val="solid"/>
          </a:ln>
        </p:spPr>
      </p:sp>
      <p:sp>
        <p:nvSpPr>
          <p:cNvPr id="9" name="Text 7"/>
          <p:cNvSpPr/>
          <p:nvPr/>
        </p:nvSpPr>
        <p:spPr>
          <a:xfrm>
            <a:off x="822960" y="1691640"/>
            <a:ext cx="502920" cy="502920"/>
          </a:xfrm>
          <a:prstGeom prst="rect">
            <a:avLst/>
          </a:prstGeom>
          <a:noFill/>
          <a:ln/>
        </p:spPr>
        <p:txBody>
          <a:bodyPr wrap="square" rtlCol="0" anchor="ctr"/>
          <a:lstStyle/>
          <a:p>
            <a:pPr algn="ctr" indent="0" marL="0">
              <a:buNone/>
            </a:pPr>
            <a:r>
              <a:rPr lang="en-US" sz="2200" b="1" dirty="0">
                <a:solidFill>
                  <a:srgbClr val="065A82"/>
                </a:solidFill>
                <a:latin typeface="Calibri" pitchFamily="34" charset="0"/>
                <a:ea typeface="Calibri" pitchFamily="34" charset="-122"/>
                <a:cs typeface="Calibri" pitchFamily="34" charset="-120"/>
              </a:rPr>
              <a:t>1</a:t>
            </a:r>
            <a:endParaRPr lang="en-US" sz="2200" dirty="0"/>
          </a:p>
        </p:txBody>
      </p:sp>
      <p:sp>
        <p:nvSpPr>
          <p:cNvPr id="10" name="Text 8"/>
          <p:cNvSpPr/>
          <p:nvPr/>
        </p:nvSpPr>
        <p:spPr>
          <a:xfrm>
            <a:off x="146304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Encoding ciclic</a:t>
            </a:r>
            <a:endParaRPr lang="en-US" sz="1700" dirty="0"/>
          </a:p>
        </p:txBody>
      </p:sp>
      <p:sp>
        <p:nvSpPr>
          <p:cNvPr id="11" name="Text 9"/>
          <p:cNvSpPr/>
          <p:nvPr/>
        </p:nvSpPr>
        <p:spPr>
          <a:xfrm>
            <a:off x="777240" y="2468880"/>
            <a:ext cx="3154680" cy="868680"/>
          </a:xfrm>
          <a:prstGeom prst="rect">
            <a:avLst/>
          </a:prstGeom>
          <a:noFill/>
          <a:ln/>
        </p:spPr>
        <p:txBody>
          <a:bodyPr wrap="square" rtlCol="0" anchor="ctr"/>
          <a:lstStyle/>
          <a:p>
            <a:pPr algn="ctr" indent="0" marL="0">
              <a:buNone/>
            </a:pPr>
            <a:r>
              <a:rPr lang="en-US" sz="1400" i="1" dirty="0">
                <a:solidFill>
                  <a:srgbClr val="065A82"/>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065A82"/>
                </a:solidFill>
                <a:latin typeface="Calibri" pitchFamily="34" charset="0"/>
                <a:ea typeface="Calibri" pitchFamily="34" charset="-122"/>
                <a:cs typeface="Calibri" pitchFamily="34" charset="-120"/>
              </a:rPr>
              <a:t>ce este ora 23:00?</a:t>
            </a:r>
            <a:endParaRPr lang="en-US" sz="1400" dirty="0"/>
          </a:p>
        </p:txBody>
      </p:sp>
      <p:sp>
        <p:nvSpPr>
          <p:cNvPr id="12" name="Text 10"/>
          <p:cNvSpPr/>
          <p:nvPr/>
        </p:nvSpPr>
        <p:spPr>
          <a:xfrm>
            <a:off x="77724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Reprezentam timpul ca pozitie pe un cerc trigonometric, folosind sin si cos.</a:t>
            </a:r>
            <a:endParaRPr lang="en-US" sz="1200" dirty="0"/>
          </a:p>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Asa 23:00 si 00:00 raman vecine.</a:t>
            </a:r>
            <a:endParaRPr lang="en-US" sz="1200" dirty="0"/>
          </a:p>
        </p:txBody>
      </p:sp>
      <p:sp>
        <p:nvSpPr>
          <p:cNvPr id="13" name="Shape 11"/>
          <p:cNvSpPr/>
          <p:nvPr/>
        </p:nvSpPr>
        <p:spPr>
          <a:xfrm>
            <a:off x="4251960" y="1554480"/>
            <a:ext cx="3611880" cy="4480560"/>
          </a:xfrm>
          <a:prstGeom prst="rect">
            <a:avLst/>
          </a:prstGeom>
          <a:solidFill>
            <a:srgbClr val="FFFFFF"/>
          </a:solidFill>
          <a:ln w="31750">
            <a:solidFill>
              <a:srgbClr val="1C7293"/>
            </a:solidFill>
            <a:prstDash val="solid"/>
          </a:ln>
        </p:spPr>
      </p:sp>
      <p:sp>
        <p:nvSpPr>
          <p:cNvPr id="14" name="Shape 12"/>
          <p:cNvSpPr/>
          <p:nvPr/>
        </p:nvSpPr>
        <p:spPr>
          <a:xfrm>
            <a:off x="4251960" y="1554480"/>
            <a:ext cx="3611880" cy="777240"/>
          </a:xfrm>
          <a:prstGeom prst="rect">
            <a:avLst/>
          </a:prstGeom>
          <a:solidFill>
            <a:srgbClr val="1C7293"/>
          </a:solidFill>
          <a:ln w="12700">
            <a:solidFill>
              <a:srgbClr val="1C7293"/>
            </a:solidFill>
            <a:prstDash val="solid"/>
          </a:ln>
        </p:spPr>
      </p:sp>
      <p:sp>
        <p:nvSpPr>
          <p:cNvPr id="15" name="Shape 13"/>
          <p:cNvSpPr/>
          <p:nvPr/>
        </p:nvSpPr>
        <p:spPr>
          <a:xfrm>
            <a:off x="4526280" y="1691640"/>
            <a:ext cx="502920" cy="502920"/>
          </a:xfrm>
          <a:prstGeom prst="ellipse">
            <a:avLst/>
          </a:prstGeom>
          <a:solidFill>
            <a:srgbClr val="FFFFFF"/>
          </a:solidFill>
          <a:ln w="12700">
            <a:solidFill>
              <a:srgbClr val="FFFFFF"/>
            </a:solidFill>
            <a:prstDash val="solid"/>
          </a:ln>
        </p:spPr>
      </p:sp>
      <p:sp>
        <p:nvSpPr>
          <p:cNvPr id="16" name="Text 14"/>
          <p:cNvSpPr/>
          <p:nvPr/>
        </p:nvSpPr>
        <p:spPr>
          <a:xfrm>
            <a:off x="4526280" y="1691640"/>
            <a:ext cx="502920" cy="502920"/>
          </a:xfrm>
          <a:prstGeom prst="rect">
            <a:avLst/>
          </a:prstGeom>
          <a:noFill/>
          <a:ln/>
        </p:spPr>
        <p:txBody>
          <a:bodyPr wrap="square" rtlCol="0" anchor="ctr"/>
          <a:lstStyle/>
          <a:p>
            <a:pPr algn="ctr" indent="0" marL="0">
              <a:buNone/>
            </a:pPr>
            <a:r>
              <a:rPr lang="en-US" sz="2200" b="1" dirty="0">
                <a:solidFill>
                  <a:srgbClr val="1C7293"/>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516636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Lag features</a:t>
            </a:r>
            <a:endParaRPr lang="en-US" sz="1700" dirty="0"/>
          </a:p>
        </p:txBody>
      </p:sp>
      <p:sp>
        <p:nvSpPr>
          <p:cNvPr id="18" name="Text 16"/>
          <p:cNvSpPr/>
          <p:nvPr/>
        </p:nvSpPr>
        <p:spPr>
          <a:xfrm>
            <a:off x="4480560" y="2468880"/>
            <a:ext cx="3154680" cy="868680"/>
          </a:xfrm>
          <a:prstGeom prst="rect">
            <a:avLst/>
          </a:prstGeom>
          <a:noFill/>
          <a:ln/>
        </p:spPr>
        <p:txBody>
          <a:bodyPr wrap="square" rtlCol="0" anchor="ctr"/>
          <a:lstStyle/>
          <a:p>
            <a:pPr algn="ctr" indent="0" marL="0">
              <a:buNone/>
            </a:pPr>
            <a:r>
              <a:rPr lang="en-US" sz="1400" i="1" dirty="0">
                <a:solidFill>
                  <a:srgbClr val="1C7293"/>
                </a:solidFill>
                <a:latin typeface="Calibri" pitchFamily="34" charset="0"/>
                <a:ea typeface="Calibri" pitchFamily="34" charset="-122"/>
                <a:cs typeface="Calibri" pitchFamily="34" charset="-120"/>
              </a:rPr>
              <a:t>Cum dam ML-ului</a:t>
            </a:r>
            <a:endParaRPr lang="en-US" sz="1400" dirty="0"/>
          </a:p>
          <a:p>
            <a:pPr algn="ctr" indent="0" marL="0">
              <a:buNone/>
            </a:pPr>
            <a:r>
              <a:rPr lang="en-US" sz="1400" i="1" dirty="0">
                <a:solidFill>
                  <a:srgbClr val="1C7293"/>
                </a:solidFill>
                <a:latin typeface="Calibri" pitchFamily="34" charset="0"/>
                <a:ea typeface="Calibri" pitchFamily="34" charset="-122"/>
                <a:cs typeface="Calibri" pitchFamily="34" charset="-120"/>
              </a:rPr>
              <a:t>memorie scurta?</a:t>
            </a:r>
            <a:endParaRPr lang="en-US" sz="1400" dirty="0"/>
          </a:p>
        </p:txBody>
      </p:sp>
      <p:sp>
        <p:nvSpPr>
          <p:cNvPr id="19" name="Text 17"/>
          <p:cNvSpPr/>
          <p:nvPr/>
        </p:nvSpPr>
        <p:spPr>
          <a:xfrm>
            <a:off x="448056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Adaugam coloane cu valoarea de acum 1 ora, 24 ore, 168 ore (o saptamana). Modelul invata autocorelatii.</a:t>
            </a:r>
            <a:endParaRPr lang="en-US" sz="1200" dirty="0"/>
          </a:p>
        </p:txBody>
      </p:sp>
      <p:sp>
        <p:nvSpPr>
          <p:cNvPr id="20" name="Shape 18"/>
          <p:cNvSpPr/>
          <p:nvPr/>
        </p:nvSpPr>
        <p:spPr>
          <a:xfrm>
            <a:off x="7955280" y="1554480"/>
            <a:ext cx="3611880" cy="4480560"/>
          </a:xfrm>
          <a:prstGeom prst="rect">
            <a:avLst/>
          </a:prstGeom>
          <a:solidFill>
            <a:srgbClr val="FFFFFF"/>
          </a:solidFill>
          <a:ln w="31750">
            <a:solidFill>
              <a:srgbClr val="F96167"/>
            </a:solidFill>
            <a:prstDash val="solid"/>
          </a:ln>
        </p:spPr>
      </p:sp>
      <p:sp>
        <p:nvSpPr>
          <p:cNvPr id="21" name="Shape 19"/>
          <p:cNvSpPr/>
          <p:nvPr/>
        </p:nvSpPr>
        <p:spPr>
          <a:xfrm>
            <a:off x="7955280" y="1554480"/>
            <a:ext cx="3611880" cy="777240"/>
          </a:xfrm>
          <a:prstGeom prst="rect">
            <a:avLst/>
          </a:prstGeom>
          <a:solidFill>
            <a:srgbClr val="F96167"/>
          </a:solidFill>
          <a:ln w="12700">
            <a:solidFill>
              <a:srgbClr val="F96167"/>
            </a:solidFill>
            <a:prstDash val="solid"/>
          </a:ln>
        </p:spPr>
      </p:sp>
      <p:sp>
        <p:nvSpPr>
          <p:cNvPr id="22" name="Shape 20"/>
          <p:cNvSpPr/>
          <p:nvPr/>
        </p:nvSpPr>
        <p:spPr>
          <a:xfrm>
            <a:off x="8229600" y="1691640"/>
            <a:ext cx="502920" cy="502920"/>
          </a:xfrm>
          <a:prstGeom prst="ellipse">
            <a:avLst/>
          </a:prstGeom>
          <a:solidFill>
            <a:srgbClr val="FFFFFF"/>
          </a:solidFill>
          <a:ln w="12700">
            <a:solidFill>
              <a:srgbClr val="FFFFFF"/>
            </a:solidFill>
            <a:prstDash val="solid"/>
          </a:ln>
        </p:spPr>
      </p:sp>
      <p:sp>
        <p:nvSpPr>
          <p:cNvPr id="23" name="Text 21"/>
          <p:cNvSpPr/>
          <p:nvPr/>
        </p:nvSpPr>
        <p:spPr>
          <a:xfrm>
            <a:off x="8229600" y="1691640"/>
            <a:ext cx="502920" cy="502920"/>
          </a:xfrm>
          <a:prstGeom prst="rect">
            <a:avLst/>
          </a:prstGeom>
          <a:noFill/>
          <a:ln/>
        </p:spPr>
        <p:txBody>
          <a:bodyPr wrap="square" rtlCol="0" anchor="ctr"/>
          <a:lstStyle/>
          <a:p>
            <a:pPr algn="ctr" indent="0" marL="0">
              <a:buNone/>
            </a:pPr>
            <a:r>
              <a:rPr lang="en-US" sz="2200" b="1" dirty="0">
                <a:solidFill>
                  <a:srgbClr val="F96167"/>
                </a:solidFill>
                <a:latin typeface="Calibri" pitchFamily="34" charset="0"/>
                <a:ea typeface="Calibri" pitchFamily="34" charset="-122"/>
                <a:cs typeface="Calibri" pitchFamily="34" charset="-120"/>
              </a:rPr>
              <a:t>3</a:t>
            </a:r>
            <a:endParaRPr lang="en-US" sz="2200" dirty="0"/>
          </a:p>
        </p:txBody>
      </p:sp>
      <p:sp>
        <p:nvSpPr>
          <p:cNvPr id="24" name="Text 22"/>
          <p:cNvSpPr/>
          <p:nvPr/>
        </p:nvSpPr>
        <p:spPr>
          <a:xfrm>
            <a:off x="886968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Rolling features</a:t>
            </a:r>
            <a:endParaRPr lang="en-US" sz="1700" dirty="0"/>
          </a:p>
        </p:txBody>
      </p:sp>
      <p:sp>
        <p:nvSpPr>
          <p:cNvPr id="25" name="Text 23"/>
          <p:cNvSpPr/>
          <p:nvPr/>
        </p:nvSpPr>
        <p:spPr>
          <a:xfrm>
            <a:off x="8183880" y="2468880"/>
            <a:ext cx="3154680" cy="868680"/>
          </a:xfrm>
          <a:prstGeom prst="rect">
            <a:avLst/>
          </a:prstGeom>
          <a:noFill/>
          <a:ln/>
        </p:spPr>
        <p:txBody>
          <a:bodyPr wrap="square" rtlCol="0" anchor="ctr"/>
          <a:lstStyle/>
          <a:p>
            <a:pPr algn="ctr" indent="0" marL="0">
              <a:buNone/>
            </a:pPr>
            <a:r>
              <a:rPr lang="en-US" sz="1400" i="1" dirty="0">
                <a:solidFill>
                  <a:srgbClr val="F96167"/>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F96167"/>
                </a:solidFill>
                <a:latin typeface="Calibri" pitchFamily="34" charset="0"/>
                <a:ea typeface="Calibri" pitchFamily="34" charset="-122"/>
                <a:cs typeface="Calibri" pitchFamily="34" charset="-120"/>
              </a:rPr>
              <a:t>ce trend recent?</a:t>
            </a:r>
            <a:endParaRPr lang="en-US" sz="1400" dirty="0"/>
          </a:p>
        </p:txBody>
      </p:sp>
      <p:sp>
        <p:nvSpPr>
          <p:cNvPr id="26" name="Text 24"/>
          <p:cNvSpPr/>
          <p:nvPr/>
        </p:nvSpPr>
        <p:spPr>
          <a:xfrm>
            <a:off x="818388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Media + deviatia pe un rolling window (ultimele N ore). PARTEA CRITICA: trebuie .shift(1) ca sa nu vedem viitorul.</a:t>
            </a:r>
            <a:endParaRPr lang="en-US" sz="1200" dirty="0"/>
          </a:p>
        </p:txBody>
      </p:sp>
      <p:sp>
        <p:nvSpPr>
          <p:cNvPr id="27" name="Shape 25"/>
          <p:cNvSpPr/>
          <p:nvPr/>
        </p:nvSpPr>
        <p:spPr>
          <a:xfrm>
            <a:off x="548640" y="5897880"/>
            <a:ext cx="11018520" cy="365760"/>
          </a:xfrm>
          <a:prstGeom prst="rect">
            <a:avLst/>
          </a:prstGeom>
          <a:solidFill>
            <a:srgbClr val="21295C"/>
          </a:solidFill>
          <a:ln w="12700">
            <a:solidFill>
              <a:srgbClr val="21295C"/>
            </a:solidFill>
            <a:prstDash val="solid"/>
          </a:ln>
        </p:spPr>
      </p:sp>
      <p:sp>
        <p:nvSpPr>
          <p:cNvPr id="28" name="Text 26"/>
          <p:cNvSpPr/>
          <p:nvPr/>
        </p:nvSpPr>
        <p:spPr>
          <a:xfrm>
            <a:off x="548640" y="5897880"/>
            <a:ext cx="11018520" cy="365760"/>
          </a:xfrm>
          <a:prstGeom prst="rect">
            <a:avLst/>
          </a:prstGeom>
          <a:noFill/>
          <a:ln/>
        </p:spPr>
        <p:txBody>
          <a:bodyPr wrap="square" rtlCol="0" anchor="ctr"/>
          <a:lstStyle/>
          <a:p>
            <a:pPr algn="ctr" indent="0" marL="0">
              <a:buNone/>
            </a:pPr>
            <a:r>
              <a:rPr lang="en-US" sz="1300" b="1" i="1" dirty="0">
                <a:solidFill>
                  <a:srgbClr val="FFFFFF"/>
                </a:solidFill>
                <a:latin typeface="Calibri" pitchFamily="34" charset="0"/>
                <a:ea typeface="Calibri" pitchFamily="34" charset="-122"/>
                <a:cs typeface="Calibri" pitchFamily="34" charset="-120"/>
              </a:rPr>
              <a:t>Toate trei combinate -&gt; XGBoost cu R² = 0.968 pe pretul Spania (validat empiric)</a:t>
            </a:r>
            <a:endParaRPr lang="en-US" sz="1300" dirty="0"/>
          </a:p>
        </p:txBody>
      </p:sp>
      <p:sp>
        <p:nvSpPr>
          <p:cNvPr id="29" name="Text 27"/>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30" name="Text 28"/>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1A. Problema reprezentarii liniare a timpului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problema_orei_liniare.png">    </p:cNvPr>
          <p:cNvPicPr>
            <a:picLocks noChangeAspect="1"/>
          </p:cNvPicPr>
          <p:nvPr/>
        </p:nvPicPr>
        <p:blipFill>
          <a:blip r:embed="rId1"/>
          <a:srcRect l="0" r="0" t="0" b="0"/>
          <a:stretch/>
        </p:blipFill>
        <p:spPr>
          <a:xfrm>
            <a:off x="274320" y="1463040"/>
            <a:ext cx="11612880" cy="3931920"/>
          </a:xfrm>
          <a:prstGeom prst="rect">
            <a:avLst/>
          </a:prstGeom>
        </p:spPr>
      </p:pic>
      <p:sp>
        <p:nvSpPr>
          <p:cNvPr id="7" name="Shape 4"/>
          <p:cNvSpPr/>
          <p:nvPr/>
        </p:nvSpPr>
        <p:spPr>
          <a:xfrm>
            <a:off x="548640" y="5486400"/>
            <a:ext cx="11064240" cy="868680"/>
          </a:xfrm>
          <a:prstGeom prst="rect">
            <a:avLst/>
          </a:prstGeom>
          <a:solidFill>
            <a:srgbClr val="F4F5F7"/>
          </a:solidFill>
          <a:ln w="12700">
            <a:solidFill>
              <a:srgbClr val="F96167"/>
            </a:solidFill>
            <a:prstDash val="solid"/>
          </a:ln>
        </p:spPr>
      </p:sp>
      <p:sp>
        <p:nvSpPr>
          <p:cNvPr id="8" name="Text 5"/>
          <p:cNvSpPr/>
          <p:nvPr/>
        </p:nvSpPr>
        <p:spPr>
          <a:xfrm>
            <a:off x="868680" y="5532120"/>
            <a:ext cx="10515600" cy="77724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Intuitia: </a:t>
            </a:r>
            <a:pPr indent="0" marL="0">
              <a:buNone/>
            </a:pPr>
            <a:r>
              <a:rPr lang="en-US" sz="1300" dirty="0">
                <a:solidFill>
                  <a:srgbClr val="1F2937"/>
                </a:solidFill>
                <a:latin typeface="Calibri" pitchFamily="34" charset="0"/>
                <a:ea typeface="Calibri" pitchFamily="34" charset="-122"/>
                <a:cs typeface="Calibri" pitchFamily="34" charset="-120"/>
              </a:rPr>
              <a:t>ora 23 si ora 0 sunt vecine pe ceas - amandoua sunt noaptea, oameni dorm, fabricile inchise, consum scazut.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Dar daca le reprezentam ca numere 23 si 0, modelul vede o </a:t>
            </a:r>
            <a:pPr indent="0" marL="0">
              <a:buNone/>
            </a:pPr>
            <a:r>
              <a:rPr lang="en-US" sz="1300" b="1" dirty="0">
                <a:solidFill>
                  <a:srgbClr val="F96167"/>
                </a:solidFill>
                <a:latin typeface="Calibri" pitchFamily="34" charset="0"/>
                <a:ea typeface="Calibri" pitchFamily="34" charset="-122"/>
                <a:cs typeface="Calibri" pitchFamily="34" charset="-120"/>
              </a:rPr>
              <a:t>diferenta de 23 unitati - discontinuitate falsa</a:t>
            </a:r>
            <a:pPr indent="0" marL="0">
              <a:buNone/>
            </a:pPr>
            <a:r>
              <a:rPr lang="en-US" sz="1300" dirty="0">
                <a:solidFill>
                  <a:srgbClr val="1F2937"/>
                </a:solidFill>
                <a:latin typeface="Calibri" pitchFamily="34" charset="0"/>
                <a:ea typeface="Calibri" pitchFamily="34" charset="-122"/>
                <a:cs typeface="Calibri" pitchFamily="34" charset="-120"/>
              </a:rPr>
              <a:t>. Asa modelul invata gresit.</a:t>
            </a:r>
            <a:endParaRPr lang="en-US" sz="1300" dirty="0"/>
          </a:p>
        </p:txBody>
      </p:sp>
      <p:sp>
        <p:nvSpPr>
          <p:cNvPr id="9" name="Text 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0" name="Text 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INTERMEZZO MATEMATIC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Functiile sin si cos pe scurt</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sin_cos_basics.png">    </p:cNvPr>
          <p:cNvPicPr>
            <a:picLocks noChangeAspect="1"/>
          </p:cNvPicPr>
          <p:nvPr/>
        </p:nvPicPr>
        <p:blipFill>
          <a:blip r:embed="rId1"/>
          <a:srcRect l="0" r="0" t="0" b="0"/>
          <a:stretch/>
        </p:blipFill>
        <p:spPr>
          <a:xfrm>
            <a:off x="365760" y="1417320"/>
            <a:ext cx="11430000" cy="3291840"/>
          </a:xfrm>
          <a:prstGeom prst="rect">
            <a:avLst/>
          </a:prstGeom>
        </p:spPr>
      </p:pic>
      <p:sp>
        <p:nvSpPr>
          <p:cNvPr id="7" name="Shape 4"/>
          <p:cNvSpPr/>
          <p:nvPr/>
        </p:nvSpPr>
        <p:spPr>
          <a:xfrm>
            <a:off x="548640" y="4846320"/>
            <a:ext cx="3611880" cy="1371600"/>
          </a:xfrm>
          <a:prstGeom prst="rect">
            <a:avLst/>
          </a:prstGeom>
          <a:solidFill>
            <a:srgbClr val="F4F5F7"/>
          </a:solidFill>
          <a:ln w="19050">
            <a:solidFill>
              <a:srgbClr val="065A82"/>
            </a:solidFill>
            <a:prstDash val="solid"/>
          </a:ln>
        </p:spPr>
      </p:sp>
      <p:sp>
        <p:nvSpPr>
          <p:cNvPr id="8" name="Shape 5"/>
          <p:cNvSpPr/>
          <p:nvPr/>
        </p:nvSpPr>
        <p:spPr>
          <a:xfrm>
            <a:off x="548640" y="4846320"/>
            <a:ext cx="109728" cy="1371600"/>
          </a:xfrm>
          <a:prstGeom prst="rect">
            <a:avLst/>
          </a:prstGeom>
          <a:solidFill>
            <a:srgbClr val="065A82"/>
          </a:solidFill>
          <a:ln w="12700">
            <a:solidFill>
              <a:srgbClr val="065A82"/>
            </a:solidFill>
            <a:prstDash val="solid"/>
          </a:ln>
        </p:spPr>
      </p:sp>
      <p:sp>
        <p:nvSpPr>
          <p:cNvPr id="9" name="Text 6"/>
          <p:cNvSpPr/>
          <p:nvPr/>
        </p:nvSpPr>
        <p:spPr>
          <a:xfrm>
            <a:off x="777240" y="4937760"/>
            <a:ext cx="3246120" cy="365760"/>
          </a:xfrm>
          <a:prstGeom prst="rect">
            <a:avLst/>
          </a:prstGeom>
          <a:noFill/>
          <a:ln/>
        </p:spPr>
        <p:txBody>
          <a:bodyPr wrap="square" rtlCol="0" anchor="ctr"/>
          <a:lstStyle/>
          <a:p>
            <a:pPr indent="0" marL="0">
              <a:buNone/>
            </a:pPr>
            <a:r>
              <a:rPr lang="en-US" sz="1300" b="1" dirty="0">
                <a:solidFill>
                  <a:srgbClr val="065A82"/>
                </a:solidFill>
                <a:latin typeface="Calibri" pitchFamily="34" charset="0"/>
                <a:ea typeface="Calibri" pitchFamily="34" charset="-122"/>
                <a:cs typeface="Calibri" pitchFamily="34" charset="-120"/>
              </a:rPr>
              <a:t>Periodice (perioada 2π)</a:t>
            </a:r>
            <a:endParaRPr lang="en-US" sz="1300" dirty="0"/>
          </a:p>
        </p:txBody>
      </p:sp>
      <p:sp>
        <p:nvSpPr>
          <p:cNvPr id="10" name="Text 7"/>
          <p:cNvSpPr/>
          <p:nvPr/>
        </p:nvSpPr>
        <p:spPr>
          <a:xfrm>
            <a:off x="777240" y="5349240"/>
            <a:ext cx="3246120" cy="777240"/>
          </a:xfrm>
          <a:prstGeom prst="rect">
            <a:avLst/>
          </a:prstGeom>
          <a:noFill/>
          <a:ln/>
        </p:spPr>
        <p:txBody>
          <a:bodyPr wrap="square" rtlCol="0" anchor="ctr"/>
          <a:lstStyle/>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Dupa 2π, functiile se repeta identic.</a:t>
            </a:r>
            <a:endParaRPr lang="en-US" sz="1100" dirty="0"/>
          </a:p>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Ideal pentru a reprezenta cicluri (ore, zile, luni).</a:t>
            </a:r>
            <a:endParaRPr lang="en-US" sz="1100" dirty="0"/>
          </a:p>
        </p:txBody>
      </p:sp>
      <p:sp>
        <p:nvSpPr>
          <p:cNvPr id="11" name="Shape 8"/>
          <p:cNvSpPr/>
          <p:nvPr/>
        </p:nvSpPr>
        <p:spPr>
          <a:xfrm>
            <a:off x="4251960" y="4846320"/>
            <a:ext cx="3611880" cy="1371600"/>
          </a:xfrm>
          <a:prstGeom prst="rect">
            <a:avLst/>
          </a:prstGeom>
          <a:solidFill>
            <a:srgbClr val="F4F5F7"/>
          </a:solidFill>
          <a:ln w="19050">
            <a:solidFill>
              <a:srgbClr val="1C7293"/>
            </a:solidFill>
            <a:prstDash val="solid"/>
          </a:ln>
        </p:spPr>
      </p:sp>
      <p:sp>
        <p:nvSpPr>
          <p:cNvPr id="12" name="Shape 9"/>
          <p:cNvSpPr/>
          <p:nvPr/>
        </p:nvSpPr>
        <p:spPr>
          <a:xfrm>
            <a:off x="4251960" y="4846320"/>
            <a:ext cx="109728" cy="1371600"/>
          </a:xfrm>
          <a:prstGeom prst="rect">
            <a:avLst/>
          </a:prstGeom>
          <a:solidFill>
            <a:srgbClr val="1C7293"/>
          </a:solidFill>
          <a:ln w="12700">
            <a:solidFill>
              <a:srgbClr val="1C7293"/>
            </a:solidFill>
            <a:prstDash val="solid"/>
          </a:ln>
        </p:spPr>
      </p:sp>
      <p:sp>
        <p:nvSpPr>
          <p:cNvPr id="13" name="Text 10"/>
          <p:cNvSpPr/>
          <p:nvPr/>
        </p:nvSpPr>
        <p:spPr>
          <a:xfrm>
            <a:off x="4480560" y="4937760"/>
            <a:ext cx="3246120" cy="365760"/>
          </a:xfrm>
          <a:prstGeom prst="rect">
            <a:avLst/>
          </a:prstGeom>
          <a:noFill/>
          <a:ln/>
        </p:spPr>
        <p:txBody>
          <a:bodyPr wrap="square" rtlCol="0" anchor="ctr"/>
          <a:lstStyle/>
          <a:p>
            <a:pPr indent="0" marL="0">
              <a:buNone/>
            </a:pPr>
            <a:r>
              <a:rPr lang="en-US" sz="1300" b="1" dirty="0">
                <a:solidFill>
                  <a:srgbClr val="1C7293"/>
                </a:solidFill>
                <a:latin typeface="Calibri" pitchFamily="34" charset="0"/>
                <a:ea typeface="Calibri" pitchFamily="34" charset="-122"/>
                <a:cs typeface="Calibri" pitchFamily="34" charset="-120"/>
              </a:rPr>
              <a:t>Continue si netede</a:t>
            </a:r>
            <a:endParaRPr lang="en-US" sz="1300" dirty="0"/>
          </a:p>
        </p:txBody>
      </p:sp>
      <p:sp>
        <p:nvSpPr>
          <p:cNvPr id="14" name="Text 11"/>
          <p:cNvSpPr/>
          <p:nvPr/>
        </p:nvSpPr>
        <p:spPr>
          <a:xfrm>
            <a:off x="4480560" y="5349240"/>
            <a:ext cx="3246120" cy="777240"/>
          </a:xfrm>
          <a:prstGeom prst="rect">
            <a:avLst/>
          </a:prstGeom>
          <a:noFill/>
          <a:ln/>
        </p:spPr>
        <p:txBody>
          <a:bodyPr wrap="square" rtlCol="0" anchor="ctr"/>
          <a:lstStyle/>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Trec lin de la o valoare la alta.</a:t>
            </a:r>
            <a:endParaRPr lang="en-US" sz="1100" dirty="0"/>
          </a:p>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Fara salturi sau discontinuitati.</a:t>
            </a:r>
            <a:endParaRPr lang="en-US" sz="1100" dirty="0"/>
          </a:p>
        </p:txBody>
      </p:sp>
      <p:sp>
        <p:nvSpPr>
          <p:cNvPr id="15" name="Shape 12"/>
          <p:cNvSpPr/>
          <p:nvPr/>
        </p:nvSpPr>
        <p:spPr>
          <a:xfrm>
            <a:off x="7955280" y="4846320"/>
            <a:ext cx="3611880" cy="1371600"/>
          </a:xfrm>
          <a:prstGeom prst="rect">
            <a:avLst/>
          </a:prstGeom>
          <a:solidFill>
            <a:srgbClr val="F4F5F7"/>
          </a:solidFill>
          <a:ln w="19050">
            <a:solidFill>
              <a:srgbClr val="F96167"/>
            </a:solidFill>
            <a:prstDash val="solid"/>
          </a:ln>
        </p:spPr>
      </p:sp>
      <p:sp>
        <p:nvSpPr>
          <p:cNvPr id="16" name="Shape 13"/>
          <p:cNvSpPr/>
          <p:nvPr/>
        </p:nvSpPr>
        <p:spPr>
          <a:xfrm>
            <a:off x="7955280" y="4846320"/>
            <a:ext cx="109728" cy="1371600"/>
          </a:xfrm>
          <a:prstGeom prst="rect">
            <a:avLst/>
          </a:prstGeom>
          <a:solidFill>
            <a:srgbClr val="F96167"/>
          </a:solidFill>
          <a:ln w="12700">
            <a:solidFill>
              <a:srgbClr val="F96167"/>
            </a:solidFill>
            <a:prstDash val="solid"/>
          </a:ln>
        </p:spPr>
      </p:sp>
      <p:sp>
        <p:nvSpPr>
          <p:cNvPr id="17" name="Text 14"/>
          <p:cNvSpPr/>
          <p:nvPr/>
        </p:nvSpPr>
        <p:spPr>
          <a:xfrm>
            <a:off x="8183880" y="4937760"/>
            <a:ext cx="3246120" cy="36576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Identifica UNIC un punct pe cerc</a:t>
            </a:r>
            <a:endParaRPr lang="en-US" sz="1300" dirty="0"/>
          </a:p>
        </p:txBody>
      </p:sp>
      <p:sp>
        <p:nvSpPr>
          <p:cNvPr id="18" name="Text 15"/>
          <p:cNvSpPr/>
          <p:nvPr/>
        </p:nvSpPr>
        <p:spPr>
          <a:xfrm>
            <a:off x="8183880" y="5349240"/>
            <a:ext cx="3246120" cy="777240"/>
          </a:xfrm>
          <a:prstGeom prst="rect">
            <a:avLst/>
          </a:prstGeom>
          <a:noFill/>
          <a:ln/>
        </p:spPr>
        <p:txBody>
          <a:bodyPr wrap="square" rtlCol="0" anchor="ctr"/>
          <a:lstStyle/>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Cele 2 valori (sin, cos) impreuna localizeaza precis o pozitie</a:t>
            </a:r>
            <a:endParaRPr lang="en-US" sz="1100" dirty="0"/>
          </a:p>
          <a:p>
            <a:pPr indent="0" marL="0">
              <a:lnSpc>
                <a:spcPct val="120000"/>
              </a:lnSpc>
              <a:buNone/>
            </a:pPr>
            <a:r>
              <a:rPr lang="en-US" sz="1100" dirty="0">
                <a:solidFill>
                  <a:srgbClr val="1F2937"/>
                </a:solidFill>
                <a:latin typeface="Calibri" pitchFamily="34" charset="0"/>
                <a:ea typeface="Calibri" pitchFamily="34" charset="-122"/>
                <a:cs typeface="Calibri" pitchFamily="34" charset="-120"/>
              </a:rPr>
              <a:t>— o singura coloana ar fi ambigua.</a:t>
            </a:r>
            <a:endParaRPr lang="en-US" sz="1100" dirty="0"/>
          </a:p>
        </p:txBody>
      </p:sp>
      <p:sp>
        <p:nvSpPr>
          <p:cNvPr id="19" name="Text 1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20" name="Text 1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1B. Solutia matematica: cercul orelor</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5394960" cy="4572000"/>
          </a:xfrm>
          <a:prstGeom prst="rect">
            <a:avLst/>
          </a:prstGeom>
          <a:solidFill>
            <a:srgbClr val="FFFFFF"/>
          </a:solidFill>
          <a:ln w="25400">
            <a:solidFill>
              <a:srgbClr val="065A82"/>
            </a:solidFill>
            <a:prstDash val="solid"/>
          </a:ln>
        </p:spPr>
      </p:sp>
      <p:sp>
        <p:nvSpPr>
          <p:cNvPr id="7" name="Shape 5"/>
          <p:cNvSpPr/>
          <p:nvPr/>
        </p:nvSpPr>
        <p:spPr>
          <a:xfrm>
            <a:off x="548640" y="1554480"/>
            <a:ext cx="5394960" cy="502920"/>
          </a:xfrm>
          <a:prstGeom prst="rect">
            <a:avLst/>
          </a:prstGeom>
          <a:solidFill>
            <a:srgbClr val="065A82"/>
          </a:solidFill>
          <a:ln w="12700">
            <a:solidFill>
              <a:srgbClr val="065A82"/>
            </a:solidFill>
            <a:prstDash val="solid"/>
          </a:ln>
        </p:spPr>
      </p:sp>
      <p:sp>
        <p:nvSpPr>
          <p:cNvPr id="8" name="Text 6"/>
          <p:cNvSpPr/>
          <p:nvPr/>
        </p:nvSpPr>
        <p:spPr>
          <a:xfrm>
            <a:off x="548640" y="1554480"/>
            <a:ext cx="539496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Formula matematica</a:t>
            </a:r>
            <a:endParaRPr lang="en-US" sz="1600" dirty="0"/>
          </a:p>
        </p:txBody>
      </p:sp>
      <p:sp>
        <p:nvSpPr>
          <p:cNvPr id="9" name="Shape 7"/>
          <p:cNvSpPr/>
          <p:nvPr/>
        </p:nvSpPr>
        <p:spPr>
          <a:xfrm>
            <a:off x="822960" y="2331720"/>
            <a:ext cx="4846320" cy="1554480"/>
          </a:xfrm>
          <a:prstGeom prst="rect">
            <a:avLst/>
          </a:prstGeom>
          <a:solidFill>
            <a:srgbClr val="F4F5F7"/>
          </a:solidFill>
          <a:ln w="12700">
            <a:solidFill>
              <a:srgbClr val="E5E7EB"/>
            </a:solidFill>
            <a:prstDash val="solid"/>
          </a:ln>
        </p:spPr>
      </p:sp>
      <p:sp>
        <p:nvSpPr>
          <p:cNvPr id="10" name="Text 8"/>
          <p:cNvSpPr/>
          <p:nvPr/>
        </p:nvSpPr>
        <p:spPr>
          <a:xfrm>
            <a:off x="914400" y="2468880"/>
            <a:ext cx="4663440" cy="1371600"/>
          </a:xfrm>
          <a:prstGeom prst="rect">
            <a:avLst/>
          </a:prstGeom>
          <a:noFill/>
          <a:ln/>
        </p:spPr>
        <p:txBody>
          <a:bodyPr wrap="square" rtlCol="0" anchor="ctr"/>
          <a:lstStyle/>
          <a:p>
            <a:pPr algn="ctr" indent="0" marL="0">
              <a:buNone/>
            </a:pPr>
            <a:r>
              <a:rPr lang="en-US" sz="1300" b="1" dirty="0">
                <a:solidFill>
                  <a:srgbClr val="1F2937"/>
                </a:solidFill>
                <a:latin typeface="Cambria" pitchFamily="34" charset="0"/>
                <a:ea typeface="Cambria" pitchFamily="34" charset="-122"/>
                <a:cs typeface="Cambria" pitchFamily="34" charset="-120"/>
              </a:rPr>
              <a:t>Inlocuim ora h cu DOUA coloane:</a:t>
            </a:r>
            <a:endParaRPr lang="en-US" sz="1300" dirty="0"/>
          </a:p>
          <a:p>
            <a:pPr algn="ctr" indent="0" marL="0">
              <a:buNone/>
            </a:pPr>
            <a:r>
              <a:rPr lang="en-US" sz="800" dirty="0">
                <a:solidFill>
                  <a:srgbClr val="000000"/>
                </a:solidFill>
                <a:latin typeface="Cambria" pitchFamily="34" charset="0"/>
                <a:ea typeface="Cambria" pitchFamily="34" charset="-122"/>
                <a:cs typeface="Cambria" pitchFamily="34" charset="-120"/>
              </a:rPr>
              <a:t> </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hour_sin = sin(2π · h / 24)</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hour_cos = cos(2π · h / 24)</a:t>
            </a:r>
            <a:endParaRPr lang="en-US" sz="1300" dirty="0"/>
          </a:p>
        </p:txBody>
      </p:sp>
      <p:sp>
        <p:nvSpPr>
          <p:cNvPr id="11" name="Text 9"/>
          <p:cNvSpPr/>
          <p:nvPr/>
        </p:nvSpPr>
        <p:spPr>
          <a:xfrm>
            <a:off x="822960" y="4114800"/>
            <a:ext cx="4846320" cy="1828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De ce functioneaza?
</a:t>
            </a:r>
            <a:pPr indent="0" marL="0">
              <a:buNone/>
            </a:pPr>
            <a:r>
              <a:rPr lang="en-US" sz="1200" dirty="0">
                <a:solidFill>
                  <a:srgbClr val="1F2937"/>
                </a:solidFill>
                <a:latin typeface="Calibri" pitchFamily="34" charset="0"/>
                <a:ea typeface="Calibri" pitchFamily="34" charset="-122"/>
                <a:cs typeface="Calibri" pitchFamily="34" charset="-120"/>
              </a:rPr>
              <a:t>Cele 2 coloane (sin, cos) identifica UNIC fiecare ora ca un punct pe cercul trigonometric.
</a:t>
            </a:r>
            <a:pPr indent="0" marL="0">
              <a:buNone/>
            </a:pPr>
            <a:r>
              <a:rPr lang="en-US" sz="1150" dirty="0">
                <a:solidFill>
                  <a:srgbClr val="6B7280"/>
                </a:solidFill>
                <a:latin typeface="Calibri" pitchFamily="34" charset="0"/>
                <a:ea typeface="Calibri" pitchFamily="34" charset="-122"/>
                <a:cs typeface="Calibri" pitchFamily="34" charset="-120"/>
              </a:rPr>
              <a:t>Ora 23 -&gt; ( cos = 0.97, sin = -0.26 )
</a:t>
            </a:r>
            <a:pPr indent="0" marL="0">
              <a:buNone/>
            </a:pPr>
            <a:r>
              <a:rPr lang="en-US" sz="1150" dirty="0">
                <a:solidFill>
                  <a:srgbClr val="6B7280"/>
                </a:solidFill>
                <a:latin typeface="Calibri" pitchFamily="34" charset="0"/>
                <a:ea typeface="Calibri" pitchFamily="34" charset="-122"/>
                <a:cs typeface="Calibri" pitchFamily="34" charset="-120"/>
              </a:rPr>
              <a:t>Ora  0 -&gt; ( cos = 1.00, sin =  0.00 )
</a:t>
            </a:r>
            <a:pPr indent="0" marL="0">
              <a:buNone/>
            </a:pPr>
            <a:r>
              <a:rPr lang="en-US" sz="1200" b="1" dirty="0">
                <a:solidFill>
                  <a:srgbClr val="6FAE6F"/>
                </a:solidFill>
                <a:latin typeface="Calibri" pitchFamily="34" charset="0"/>
                <a:ea typeface="Calibri" pitchFamily="34" charset="-122"/>
                <a:cs typeface="Calibri" pitchFamily="34" charset="-120"/>
              </a:rPr>
              <a:t>Distanta euclidiana: 0.27 unitati - MICA, ca in realitate.</a:t>
            </a:r>
            <a:endParaRPr lang="en-US" sz="1300" dirty="0"/>
          </a:p>
        </p:txBody>
      </p:sp>
      <p:pic>
        <p:nvPicPr>
          <p:cNvPr id="12" name="Image 0" descr="/sessions/vibrant-elegant-pasteur/mnt/Disertatie_AI_Platform/reports/figures/fig_4_1_cercul_orelor.png">    </p:cNvPr>
          <p:cNvPicPr>
            <a:picLocks noChangeAspect="1"/>
          </p:cNvPicPr>
          <p:nvPr/>
        </p:nvPicPr>
        <p:blipFill>
          <a:blip r:embed="rId1"/>
          <a:srcRect l="0" r="0" t="0" b="0"/>
          <a:stretch/>
        </p:blipFill>
        <p:spPr>
          <a:xfrm>
            <a:off x="6217920" y="1554480"/>
            <a:ext cx="5486400" cy="4572000"/>
          </a:xfrm>
          <a:prstGeom prst="rect">
            <a:avLst/>
          </a:prstGeom>
        </p:spPr>
      </p:pic>
      <p:sp>
        <p:nvSpPr>
          <p:cNvPr id="13" name="Text 10"/>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4" name="Text 11"/>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FUNDAMENTUL TEORETIC PENTRU LAG FEATURES</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Autoregresivitatea seriilor</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5212080" cy="1828800"/>
          </a:xfrm>
          <a:prstGeom prst="rect">
            <a:avLst/>
          </a:prstGeom>
          <a:solidFill>
            <a:srgbClr val="F4F5F7"/>
          </a:solidFill>
          <a:ln w="19050">
            <a:solidFill>
              <a:srgbClr val="065A82"/>
            </a:solidFill>
            <a:prstDash val="solid"/>
          </a:ln>
        </p:spPr>
      </p:sp>
      <p:sp>
        <p:nvSpPr>
          <p:cNvPr id="7" name="Shape 5"/>
          <p:cNvSpPr/>
          <p:nvPr/>
        </p:nvSpPr>
        <p:spPr>
          <a:xfrm>
            <a:off x="548640" y="1554480"/>
            <a:ext cx="109728" cy="1828800"/>
          </a:xfrm>
          <a:prstGeom prst="rect">
            <a:avLst/>
          </a:prstGeom>
          <a:solidFill>
            <a:srgbClr val="065A82"/>
          </a:solidFill>
          <a:ln w="12700">
            <a:solidFill>
              <a:srgbClr val="065A82"/>
            </a:solidFill>
            <a:prstDash val="solid"/>
          </a:ln>
        </p:spPr>
      </p:sp>
      <p:sp>
        <p:nvSpPr>
          <p:cNvPr id="8" name="Text 6"/>
          <p:cNvSpPr/>
          <p:nvPr/>
        </p:nvSpPr>
        <p:spPr>
          <a:xfrm>
            <a:off x="868680" y="1645920"/>
            <a:ext cx="4846320" cy="365760"/>
          </a:xfrm>
          <a:prstGeom prst="rect">
            <a:avLst/>
          </a:prstGeom>
          <a:noFill/>
          <a:ln/>
        </p:spPr>
        <p:txBody>
          <a:bodyPr wrap="square" rtlCol="0" anchor="ctr"/>
          <a:lstStyle/>
          <a:p>
            <a:pPr indent="0" marL="0">
              <a:buNone/>
            </a:pPr>
            <a:r>
              <a:rPr lang="en-US" sz="1500" b="1" dirty="0">
                <a:solidFill>
                  <a:srgbClr val="065A82"/>
                </a:solidFill>
                <a:latin typeface="Calibri" pitchFamily="34" charset="0"/>
                <a:ea typeface="Calibri" pitchFamily="34" charset="-122"/>
                <a:cs typeface="Calibri" pitchFamily="34" charset="-120"/>
              </a:rPr>
              <a:t>Definitie simpla</a:t>
            </a:r>
            <a:endParaRPr lang="en-US" sz="1500" dirty="0"/>
          </a:p>
        </p:txBody>
      </p:sp>
      <p:sp>
        <p:nvSpPr>
          <p:cNvPr id="9" name="Text 7"/>
          <p:cNvSpPr/>
          <p:nvPr/>
        </p:nvSpPr>
        <p:spPr>
          <a:xfrm>
            <a:off x="868680" y="2057400"/>
            <a:ext cx="4846320" cy="1280160"/>
          </a:xfrm>
          <a:prstGeom prst="rect">
            <a:avLst/>
          </a:prstGeom>
          <a:noFill/>
          <a:ln/>
        </p:spPr>
        <p:txBody>
          <a:bodyPr wrap="square" rtlCol="0" anchor="t"/>
          <a:lstStyle/>
          <a:p>
            <a:pPr indent="0" marL="0">
              <a:buNone/>
            </a:pPr>
            <a:r>
              <a:rPr lang="en-US" sz="1300" dirty="0">
                <a:solidFill>
                  <a:srgbClr val="1F2937"/>
                </a:solidFill>
                <a:latin typeface="Calibri" pitchFamily="34" charset="0"/>
                <a:ea typeface="Calibri" pitchFamily="34" charset="-122"/>
                <a:cs typeface="Calibri" pitchFamily="34" charset="-120"/>
              </a:rPr>
              <a:t>O serie temporala este </a:t>
            </a:r>
            <a:pPr indent="0" marL="0">
              <a:buNone/>
            </a:pPr>
            <a:r>
              <a:rPr lang="en-US" sz="1300" b="1" dirty="0">
                <a:solidFill>
                  <a:srgbClr val="065A82"/>
                </a:solidFill>
                <a:latin typeface="Calibri" pitchFamily="34" charset="0"/>
                <a:ea typeface="Calibri" pitchFamily="34" charset="-122"/>
                <a:cs typeface="Calibri" pitchFamily="34" charset="-120"/>
              </a:rPr>
              <a:t>autoregresiva</a:t>
            </a:r>
            <a:pPr indent="0" marL="0">
              <a:buNone/>
            </a:pPr>
            <a:r>
              <a:rPr lang="en-US" sz="1300" dirty="0">
                <a:solidFill>
                  <a:srgbClr val="1F2937"/>
                </a:solidFill>
                <a:latin typeface="Calibri" pitchFamily="34" charset="0"/>
                <a:ea typeface="Calibri" pitchFamily="34" charset="-122"/>
                <a:cs typeface="Calibri" pitchFamily="34" charset="-120"/>
              </a:rPr>
              <a:t> daca </a:t>
            </a:r>
            <a:pPr indent="0" marL="0">
              <a:buNone/>
            </a:pPr>
            <a:r>
              <a:rPr lang="en-US" sz="1300" b="1" dirty="0">
                <a:solidFill>
                  <a:srgbClr val="1F2937"/>
                </a:solidFill>
                <a:latin typeface="Calibri" pitchFamily="34" charset="0"/>
                <a:ea typeface="Calibri" pitchFamily="34" charset="-122"/>
                <a:cs typeface="Calibri" pitchFamily="34" charset="-120"/>
              </a:rPr>
              <a:t>valorile ei viitoare pot fi prezise folosind propriile valori trecute.</a:t>
            </a:r>
            <a:endParaRPr lang="en-US" sz="13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150" i="1" dirty="0">
                <a:solidFill>
                  <a:srgbClr val="6B7280"/>
                </a:solidFill>
                <a:latin typeface="Calibri" pitchFamily="34" charset="0"/>
                <a:ea typeface="Calibri" pitchFamily="34" charset="-122"/>
                <a:cs typeface="Calibri" pitchFamily="34" charset="-120"/>
              </a:rPr>
              <a:t>Pretul de la 14:00 e foarte aproape de pretul de la 13:00, pentru ca cererea si oferta nu se schimba brusc.</a:t>
            </a:r>
            <a:endParaRPr lang="en-US" sz="1300" dirty="0"/>
          </a:p>
        </p:txBody>
      </p:sp>
      <p:sp>
        <p:nvSpPr>
          <p:cNvPr id="10" name="Shape 8"/>
          <p:cNvSpPr/>
          <p:nvPr/>
        </p:nvSpPr>
        <p:spPr>
          <a:xfrm>
            <a:off x="548640" y="3520440"/>
            <a:ext cx="5212080" cy="1188720"/>
          </a:xfrm>
          <a:prstGeom prst="rect">
            <a:avLst/>
          </a:prstGeom>
          <a:solidFill>
            <a:srgbClr val="FFFFFF"/>
          </a:solidFill>
          <a:ln w="12700">
            <a:solidFill>
              <a:srgbClr val="E5E7EB"/>
            </a:solidFill>
            <a:prstDash val="solid"/>
          </a:ln>
        </p:spPr>
      </p:sp>
      <p:sp>
        <p:nvSpPr>
          <p:cNvPr id="11" name="Text 9"/>
          <p:cNvSpPr/>
          <p:nvPr/>
        </p:nvSpPr>
        <p:spPr>
          <a:xfrm>
            <a:off x="777240" y="3611880"/>
            <a:ext cx="4937760" cy="1051560"/>
          </a:xfrm>
          <a:prstGeom prst="rect">
            <a:avLst/>
          </a:prstGeom>
          <a:noFill/>
          <a:ln/>
        </p:spPr>
        <p:txBody>
          <a:bodyPr wrap="square" rtlCol="0" anchor="t"/>
          <a:lstStyle/>
          <a:p>
            <a:pPr indent="0" marL="0">
              <a:buNone/>
            </a:pPr>
            <a:r>
              <a:rPr lang="en-US" sz="1300" b="1" dirty="0">
                <a:solidFill>
                  <a:srgbClr val="1C7293"/>
                </a:solidFill>
                <a:latin typeface="Calibri" pitchFamily="34" charset="0"/>
                <a:ea typeface="Calibri" pitchFamily="34" charset="-122"/>
                <a:cs typeface="Calibri" pitchFamily="34" charset="-120"/>
              </a:rPr>
              <a:t>Etimologie
</a:t>
            </a:r>
            <a:pPr indent="0" marL="0">
              <a:buNone/>
            </a:pPr>
            <a:r>
              <a:rPr lang="en-US" sz="1200" b="1" dirty="0">
                <a:solidFill>
                  <a:srgbClr val="065A82"/>
                </a:solidFill>
                <a:latin typeface="Calibri" pitchFamily="34" charset="0"/>
                <a:ea typeface="Calibri" pitchFamily="34" charset="-122"/>
                <a:cs typeface="Calibri" pitchFamily="34" charset="-120"/>
              </a:rPr>
              <a:t>auto</a:t>
            </a:r>
            <a:pPr indent="0" marL="0">
              <a:buNone/>
            </a:pPr>
            <a:r>
              <a:rPr lang="en-US" sz="1200" dirty="0">
                <a:solidFill>
                  <a:srgbClr val="1F2937"/>
                </a:solidFill>
                <a:latin typeface="Calibri" pitchFamily="34" charset="0"/>
                <a:ea typeface="Calibri" pitchFamily="34" charset="-122"/>
                <a:cs typeface="Calibri" pitchFamily="34" charset="-120"/>
              </a:rPr>
              <a:t> (de la sine) + </a:t>
            </a:r>
            <a:pPr indent="0" marL="0">
              <a:buNone/>
            </a:pPr>
            <a:r>
              <a:rPr lang="en-US" sz="1200" b="1" dirty="0">
                <a:solidFill>
                  <a:srgbClr val="065A82"/>
                </a:solidFill>
                <a:latin typeface="Calibri" pitchFamily="34" charset="0"/>
                <a:ea typeface="Calibri" pitchFamily="34" charset="-122"/>
                <a:cs typeface="Calibri" pitchFamily="34" charset="-120"/>
              </a:rPr>
              <a:t>regresie</a:t>
            </a:r>
            <a:pPr indent="0" marL="0">
              <a:buNone/>
            </a:pPr>
            <a:r>
              <a:rPr lang="en-US" sz="1200" dirty="0">
                <a:solidFill>
                  <a:srgbClr val="1F2937"/>
                </a:solidFill>
                <a:latin typeface="Calibri" pitchFamily="34" charset="0"/>
                <a:ea typeface="Calibri" pitchFamily="34" charset="-122"/>
                <a:cs typeface="Calibri" pitchFamily="34" charset="-120"/>
              </a:rPr>
              <a:t> (explicare a unei variabile)
</a:t>
            </a:r>
            <a:pPr indent="0" marL="0">
              <a:buNone/>
            </a:pPr>
            <a:r>
              <a:rPr lang="en-US" sz="1200" dirty="0">
                <a:solidFill>
                  <a:srgbClr val="1F2937"/>
                </a:solidFill>
                <a:latin typeface="Calibri" pitchFamily="34" charset="0"/>
                <a:ea typeface="Calibri" pitchFamily="34" charset="-122"/>
                <a:cs typeface="Calibri" pitchFamily="34" charset="-120"/>
              </a:rPr>
              <a:t>= </a:t>
            </a:r>
            <a:pPr indent="0" marL="0">
              <a:buNone/>
            </a:pPr>
            <a:r>
              <a:rPr lang="en-US" sz="1200" i="1" dirty="0">
                <a:solidFill>
                  <a:srgbClr val="1F2937"/>
                </a:solidFill>
                <a:latin typeface="Calibri" pitchFamily="34" charset="0"/>
                <a:ea typeface="Calibri" pitchFamily="34" charset="-122"/>
                <a:cs typeface="Calibri" pitchFamily="34" charset="-120"/>
              </a:rPr>
              <a:t>o variabila se explica pe sine prin propriile valori trecute</a:t>
            </a:r>
            <a:endParaRPr lang="en-US" sz="1300" dirty="0"/>
          </a:p>
        </p:txBody>
      </p:sp>
      <p:sp>
        <p:nvSpPr>
          <p:cNvPr id="12" name="Shape 10"/>
          <p:cNvSpPr/>
          <p:nvPr/>
        </p:nvSpPr>
        <p:spPr>
          <a:xfrm>
            <a:off x="548640" y="4846320"/>
            <a:ext cx="5212080" cy="1280160"/>
          </a:xfrm>
          <a:prstGeom prst="rect">
            <a:avLst/>
          </a:prstGeom>
          <a:solidFill>
            <a:srgbClr val="21295C"/>
          </a:solidFill>
          <a:ln w="12700">
            <a:solidFill>
              <a:srgbClr val="21295C"/>
            </a:solidFill>
            <a:prstDash val="solid"/>
          </a:ln>
        </p:spPr>
      </p:sp>
      <p:sp>
        <p:nvSpPr>
          <p:cNvPr id="13" name="Text 11"/>
          <p:cNvSpPr/>
          <p:nvPr/>
        </p:nvSpPr>
        <p:spPr>
          <a:xfrm>
            <a:off x="777240" y="4937760"/>
            <a:ext cx="4937760" cy="1097280"/>
          </a:xfrm>
          <a:prstGeom prst="rect">
            <a:avLst/>
          </a:prstGeom>
          <a:noFill/>
          <a:ln/>
        </p:spPr>
        <p:txBody>
          <a:bodyPr wrap="square" rtlCol="0" anchor="t"/>
          <a:lstStyle/>
          <a:p>
            <a:pPr algn="ctr" indent="0" marL="0">
              <a:buNone/>
            </a:pPr>
            <a:r>
              <a:rPr lang="en-US" sz="1300" b="1" dirty="0">
                <a:solidFill>
                  <a:srgbClr val="F9C846"/>
                </a:solidFill>
                <a:latin typeface="Calibri" pitchFamily="34" charset="0"/>
                <a:ea typeface="Calibri" pitchFamily="34" charset="-122"/>
                <a:cs typeface="Calibri" pitchFamily="34" charset="-120"/>
              </a:rPr>
              <a:t>Model AR(1)
</a:t>
            </a:r>
            <a:pPr algn="ctr" indent="0" marL="0">
              <a:buNone/>
            </a:pPr>
            <a:r>
              <a:rPr lang="en-US" sz="1800" b="1" dirty="0">
                <a:solidFill>
                  <a:srgbClr val="FFFFFF"/>
                </a:solidFill>
                <a:latin typeface="Cambria" pitchFamily="34" charset="0"/>
                <a:ea typeface="Cambria" pitchFamily="34" charset="-122"/>
                <a:cs typeface="Cambria" pitchFamily="34" charset="-120"/>
              </a:rPr>
              <a:t>y(t) = c + φ · y(t−1) + ε</a:t>
            </a:r>
            <a:endParaRPr lang="en-US" sz="1300" dirty="0"/>
          </a:p>
          <a:p>
            <a:pPr algn="ctr" indent="0" marL="0">
              <a:buNone/>
            </a:pPr>
            <a:r>
              <a:rPr lang="en-US" sz="600" dirty="0">
                <a:solidFill>
                  <a:srgbClr val="000000"/>
                </a:solidFill>
                <a:latin typeface="Calibri" pitchFamily="34" charset="0"/>
                <a:ea typeface="Calibri" pitchFamily="34" charset="-122"/>
                <a:cs typeface="Calibri" pitchFamily="34" charset="-120"/>
              </a:rPr>
              <a:t> </a:t>
            </a:r>
            <a:endParaRPr lang="en-US" sz="1300" dirty="0"/>
          </a:p>
          <a:p>
            <a:pPr algn="ctr" indent="0" marL="0">
              <a:buNone/>
            </a:pPr>
            <a:r>
              <a:rPr lang="en-US" sz="1000" i="1" dirty="0">
                <a:solidFill>
                  <a:srgbClr val="CADCFC"/>
                </a:solidFill>
                <a:latin typeface="Calibri" pitchFamily="34" charset="0"/>
                <a:ea typeface="Calibri" pitchFamily="34" charset="-122"/>
                <a:cs typeface="Calibri" pitchFamily="34" charset="-120"/>
              </a:rPr>
              <a:t>φ ≈ 1: autoregresivitate puternica   |   φ ≈ 0: zgomot</a:t>
            </a:r>
            <a:endParaRPr lang="en-US" sz="1300" dirty="0"/>
          </a:p>
        </p:txBody>
      </p:sp>
      <p:pic>
        <p:nvPicPr>
          <p:cNvPr id="14" name="Image 0" descr="/sessions/vibrant-elegant-pasteur/mnt/Disertatie_AI_Platform/reports/figures/fig_fe_autoregresivitate.png">    </p:cNvPr>
          <p:cNvPicPr>
            <a:picLocks noChangeAspect="1"/>
          </p:cNvPicPr>
          <p:nvPr/>
        </p:nvPicPr>
        <p:blipFill>
          <a:blip r:embed="rId1"/>
          <a:srcRect l="0" r="0" t="0" b="0"/>
          <a:stretch/>
        </p:blipFill>
        <p:spPr>
          <a:xfrm>
            <a:off x="5943600" y="1554480"/>
            <a:ext cx="5943600" cy="4480560"/>
          </a:xfrm>
          <a:prstGeom prst="rect">
            <a:avLst/>
          </a:prstGeom>
        </p:spPr>
      </p:pic>
      <p:sp>
        <p:nvSpPr>
          <p:cNvPr id="15" name="Shape 12"/>
          <p:cNvSpPr/>
          <p:nvPr/>
        </p:nvSpPr>
        <p:spPr>
          <a:xfrm>
            <a:off x="548640" y="5870448"/>
            <a:ext cx="11064240" cy="384048"/>
          </a:xfrm>
          <a:prstGeom prst="rect">
            <a:avLst/>
          </a:prstGeom>
          <a:solidFill>
            <a:srgbClr val="F96167"/>
          </a:solidFill>
          <a:ln w="12700">
            <a:solidFill>
              <a:srgbClr val="F96167"/>
            </a:solidFill>
            <a:prstDash val="solid"/>
          </a:ln>
        </p:spPr>
      </p:sp>
      <p:sp>
        <p:nvSpPr>
          <p:cNvPr id="16" name="Text 13"/>
          <p:cNvSpPr/>
          <p:nvPr/>
        </p:nvSpPr>
        <p:spPr>
          <a:xfrm>
            <a:off x="548640" y="5870448"/>
            <a:ext cx="11064240" cy="384048"/>
          </a:xfrm>
          <a:prstGeom prst="rect">
            <a:avLst/>
          </a:prstGeom>
          <a:noFill/>
          <a:ln/>
        </p:spPr>
        <p:txBody>
          <a:bodyPr wrap="square" rtlCol="0" anchor="ctr"/>
          <a:lstStyle/>
          <a:p>
            <a:pPr algn="ctr" indent="0" marL="0">
              <a:buNone/>
            </a:pPr>
            <a:r>
              <a:rPr lang="en-US" sz="1200" b="1" i="1" dirty="0">
                <a:solidFill>
                  <a:srgbClr val="FFFFFF"/>
                </a:solidFill>
                <a:latin typeface="Calibri" pitchFamily="34" charset="0"/>
                <a:ea typeface="Calibri" pitchFamily="34" charset="-122"/>
                <a:cs typeface="Calibri" pitchFamily="34" charset="-120"/>
              </a:rPr>
              <a:t>Pe datele energetice, corelatia pret(t) cu pret(t−1) este ~0.99 -&gt; aici este motivul pentru care lag features functioneaza atat de bine.</a:t>
            </a:r>
            <a:endParaRPr lang="en-US" sz="1200" dirty="0"/>
          </a:p>
        </p:txBody>
      </p:sp>
      <p:sp>
        <p:nvSpPr>
          <p:cNvPr id="17" name="Text 14"/>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8" name="Text 15"/>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AUTOREGRESIVITATE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2. Lag features - memoria scurta a modelului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486400" cy="1645920"/>
          </a:xfrm>
          <a:prstGeom prst="rect">
            <a:avLst/>
          </a:prstGeom>
          <a:noFill/>
          <a:ln/>
        </p:spPr>
        <p:txBody>
          <a:bodyPr wrap="square" rtlCol="0" anchor="t"/>
          <a:lstStyle/>
          <a:p>
            <a:pPr indent="0" marL="0">
              <a:buNone/>
            </a:pPr>
            <a:r>
              <a:rPr lang="en-US" sz="1600" b="1" dirty="0">
                <a:solidFill>
                  <a:srgbClr val="1C7293"/>
                </a:solidFill>
                <a:latin typeface="Calibri" pitchFamily="34" charset="0"/>
                <a:ea typeface="Calibri" pitchFamily="34" charset="-122"/>
                <a:cs typeface="Calibri" pitchFamily="34" charset="-120"/>
              </a:rPr>
              <a:t>Ideea simpla
</a:t>
            </a:r>
            <a:pPr indent="0" marL="0">
              <a:buNone/>
            </a:pPr>
            <a:r>
              <a:rPr lang="en-US" sz="1300" dirty="0">
                <a:solidFill>
                  <a:srgbClr val="1F2937"/>
                </a:solidFill>
                <a:latin typeface="Calibri" pitchFamily="34" charset="0"/>
                <a:ea typeface="Calibri" pitchFamily="34" charset="-122"/>
                <a:cs typeface="Calibri" pitchFamily="34" charset="-120"/>
              </a:rPr>
              <a:t>Pretul peste o ora va fi probabil aproape de pretul actual. Cererea si oferta nu se schimba brusc.
</a:t>
            </a:r>
            <a:pPr indent="0" marL="0">
              <a:buNone/>
            </a:pPr>
            <a:r>
              <a:rPr lang="en-US" sz="1400" b="1" dirty="0">
                <a:solidFill>
                  <a:srgbClr val="1C7293"/>
                </a:solidFill>
                <a:latin typeface="Calibri" pitchFamily="34" charset="0"/>
                <a:ea typeface="Calibri" pitchFamily="34" charset="-122"/>
                <a:cs typeface="Calibri" pitchFamily="34" charset="-120"/>
              </a:rPr>
              <a:t>Cum implementez?
</a:t>
            </a:r>
            <a:pPr indent="0" marL="0">
              <a:buNone/>
            </a:pPr>
            <a:r>
              <a:rPr lang="en-US" sz="1300" dirty="0">
                <a:solidFill>
                  <a:srgbClr val="1F2937"/>
                </a:solidFill>
                <a:latin typeface="Calibri" pitchFamily="34" charset="0"/>
                <a:ea typeface="Calibri" pitchFamily="34" charset="-122"/>
                <a:cs typeface="Calibri" pitchFamily="34" charset="-120"/>
              </a:rPr>
              <a:t>Adaug coloane care contin valoarea cu un decalaj fix in trecut:</a:t>
            </a:r>
            <a:endParaRPr lang="en-US" sz="1600" dirty="0"/>
          </a:p>
        </p:txBody>
      </p:sp>
      <p:sp>
        <p:nvSpPr>
          <p:cNvPr id="7" name="Shape 5"/>
          <p:cNvSpPr/>
          <p:nvPr/>
        </p:nvSpPr>
        <p:spPr>
          <a:xfrm>
            <a:off x="548640" y="3291840"/>
            <a:ext cx="5486400" cy="1371600"/>
          </a:xfrm>
          <a:prstGeom prst="rect">
            <a:avLst/>
          </a:prstGeom>
          <a:solidFill>
            <a:srgbClr val="21295C"/>
          </a:solidFill>
          <a:ln w="12700">
            <a:solidFill>
              <a:srgbClr val="21295C"/>
            </a:solidFill>
            <a:prstDash val="solid"/>
          </a:ln>
        </p:spPr>
      </p:sp>
      <p:sp>
        <p:nvSpPr>
          <p:cNvPr id="8" name="Text 6"/>
          <p:cNvSpPr/>
          <p:nvPr/>
        </p:nvSpPr>
        <p:spPr>
          <a:xfrm>
            <a:off x="777240" y="3429000"/>
            <a:ext cx="5120640" cy="1143000"/>
          </a:xfrm>
          <a:prstGeom prst="rect">
            <a:avLst/>
          </a:prstGeom>
          <a:noFill/>
          <a:ln/>
        </p:spPr>
        <p:txBody>
          <a:bodyPr wrap="square" rtlCol="0" anchor="ctr"/>
          <a:lstStyle/>
          <a:p>
            <a:pPr indent="0" marL="0">
              <a:buNone/>
            </a:pPr>
            <a:r>
              <a:rPr lang="en-US" sz="1100" i="1" dirty="0">
                <a:solidFill>
                  <a:srgbClr val="9CA3AF"/>
                </a:solidFill>
                <a:latin typeface="Consolas" pitchFamily="34" charset="0"/>
                <a:ea typeface="Consolas" pitchFamily="34" charset="-122"/>
                <a:cs typeface="Consolas" pitchFamily="34" charset="-120"/>
              </a:rPr>
              <a:t># Python (pandas)
</a:t>
            </a:r>
            <a:pPr indent="0" marL="0">
              <a:buNone/>
            </a:pPr>
            <a:r>
              <a:rPr lang="en-US" sz="1200" dirty="0">
                <a:solidFill>
                  <a:srgbClr val="FFFFFF"/>
                </a:solidFill>
                <a:latin typeface="Consolas" pitchFamily="34" charset="0"/>
                <a:ea typeface="Consolas" pitchFamily="34" charset="-122"/>
                <a:cs typeface="Consolas" pitchFamily="34" charset="-120"/>
              </a:rPr>
              <a:t>df['lag_1']   = df['pret'].shift(1)
</a:t>
            </a:r>
            <a:pPr indent="0" marL="0">
              <a:buNone/>
            </a:pPr>
            <a:r>
              <a:rPr lang="en-US" sz="1200" dirty="0">
                <a:solidFill>
                  <a:srgbClr val="FFFFFF"/>
                </a:solidFill>
                <a:latin typeface="Consolas" pitchFamily="34" charset="0"/>
                <a:ea typeface="Consolas" pitchFamily="34" charset="-122"/>
                <a:cs typeface="Consolas" pitchFamily="34" charset="-120"/>
              </a:rPr>
              <a:t>df['lag_24']  = df['pret'].shift(24)
</a:t>
            </a:r>
            <a:pPr indent="0" marL="0">
              <a:buNone/>
            </a:pPr>
            <a:r>
              <a:rPr lang="en-US" sz="1200" dirty="0">
                <a:solidFill>
                  <a:srgbClr val="FFFFFF"/>
                </a:solidFill>
                <a:latin typeface="Consolas" pitchFamily="34" charset="0"/>
                <a:ea typeface="Consolas" pitchFamily="34" charset="-122"/>
                <a:cs typeface="Consolas" pitchFamily="34" charset="-120"/>
              </a:rPr>
              <a:t>df['lag_168'] = df['pret'].shift(168)</a:t>
            </a:r>
            <a:endParaRPr lang="en-US" sz="1100" dirty="0"/>
          </a:p>
        </p:txBody>
      </p:sp>
      <p:sp>
        <p:nvSpPr>
          <p:cNvPr id="9" name="Text 7"/>
          <p:cNvSpPr/>
          <p:nvPr/>
        </p:nvSpPr>
        <p:spPr>
          <a:xfrm>
            <a:off x="548640" y="4846320"/>
            <a:ext cx="5486400" cy="1371600"/>
          </a:xfrm>
          <a:prstGeom prst="rect">
            <a:avLst/>
          </a:prstGeom>
          <a:noFill/>
          <a:ln/>
        </p:spPr>
        <p:txBody>
          <a:bodyPr wrap="square" rtlCol="0" anchor="t"/>
          <a:lstStyle/>
          <a:p>
            <a:pPr indent="0" marL="0">
              <a:buNone/>
            </a:pPr>
            <a:r>
              <a:rPr lang="en-US" sz="1300" b="1" dirty="0">
                <a:solidFill>
                  <a:srgbClr val="1C7293"/>
                </a:solidFill>
                <a:latin typeface="Calibri" pitchFamily="34" charset="0"/>
                <a:ea typeface="Calibri" pitchFamily="34" charset="-122"/>
                <a:cs typeface="Calibri" pitchFamily="34" charset="-120"/>
              </a:rPr>
              <a:t>Ce inseamna?
</a:t>
            </a:r>
            <a:pPr indent="0" marL="0">
              <a:buNone/>
            </a:pPr>
            <a:r>
              <a:rPr lang="en-US" sz="1150" dirty="0">
                <a:solidFill>
                  <a:srgbClr val="1F2937"/>
                </a:solidFill>
                <a:latin typeface="Calibri" pitchFamily="34" charset="0"/>
                <a:ea typeface="Calibri" pitchFamily="34" charset="-122"/>
                <a:cs typeface="Calibri" pitchFamily="34" charset="-120"/>
              </a:rPr>
              <a:t>lag_1 = pretul cu o ora inainte (memoria de scurta durata)
</a:t>
            </a:r>
            <a:pPr indent="0" marL="0">
              <a:buNone/>
            </a:pPr>
            <a:r>
              <a:rPr lang="en-US" sz="1150" dirty="0">
                <a:solidFill>
                  <a:srgbClr val="1F2937"/>
                </a:solidFill>
                <a:latin typeface="Calibri" pitchFamily="34" charset="0"/>
                <a:ea typeface="Calibri" pitchFamily="34" charset="-122"/>
                <a:cs typeface="Calibri" pitchFamily="34" charset="-120"/>
              </a:rPr>
              <a:t>lag_24 = pretul cu o zi inainte la aceeasi ora (ritm zilnic)
</a:t>
            </a:r>
            <a:pPr indent="0" marL="0">
              <a:buNone/>
            </a:pPr>
            <a:r>
              <a:rPr lang="en-US" sz="1150" dirty="0">
                <a:solidFill>
                  <a:srgbClr val="1F2937"/>
                </a:solidFill>
                <a:latin typeface="Calibri" pitchFamily="34" charset="0"/>
                <a:ea typeface="Calibri" pitchFamily="34" charset="-122"/>
                <a:cs typeface="Calibri" pitchFamily="34" charset="-120"/>
              </a:rPr>
              <a:t>lag_168 = pretul cu o saptamana inainte (ritm saptamanal)</a:t>
            </a:r>
            <a:endParaRPr lang="en-US" sz="1300" dirty="0"/>
          </a:p>
        </p:txBody>
      </p:sp>
      <p:sp>
        <p:nvSpPr>
          <p:cNvPr id="10" name="Text 8"/>
          <p:cNvSpPr/>
          <p:nvPr/>
        </p:nvSpPr>
        <p:spPr>
          <a:xfrm>
            <a:off x="6309360" y="1554480"/>
            <a:ext cx="5394960" cy="36576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Cum arata datele dupa adaugarea lag-urilor:</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5394960" cy="2286000"/>
        </p:xfrm>
        <a:graphic>
          <a:graphicData uri="http://schemas.openxmlformats.org/drawingml/2006/table">
            <a:tbl>
              <a:tblPr/>
              <a:tblGrid>
                <a:gridCol w="1348740"/>
                <a:gridCol w="1348740"/>
                <a:gridCol w="1348740"/>
                <a:gridCol w="1348740"/>
              </a:tblGrid>
              <a:tr h="326571">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ora</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lag_24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02:00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46.8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Shape 9"/>
          <p:cNvSpPr/>
          <p:nvPr/>
        </p:nvSpPr>
        <p:spPr>
          <a:xfrm>
            <a:off x="6309360" y="4480560"/>
            <a:ext cx="5349240" cy="1783080"/>
          </a:xfrm>
          <a:prstGeom prst="rect">
            <a:avLst/>
          </a:prstGeom>
          <a:solidFill>
            <a:srgbClr val="F4F5F7"/>
          </a:solidFill>
          <a:ln w="12700">
            <a:solidFill>
              <a:srgbClr val="1C7293"/>
            </a:solidFill>
            <a:prstDash val="solid"/>
          </a:ln>
        </p:spPr>
      </p:sp>
      <p:sp>
        <p:nvSpPr>
          <p:cNvPr id="13" name="Shape 10"/>
          <p:cNvSpPr/>
          <p:nvPr/>
        </p:nvSpPr>
        <p:spPr>
          <a:xfrm>
            <a:off x="6309360" y="4480560"/>
            <a:ext cx="137160" cy="1783080"/>
          </a:xfrm>
          <a:prstGeom prst="rect">
            <a:avLst/>
          </a:prstGeom>
          <a:solidFill>
            <a:srgbClr val="F96167"/>
          </a:solidFill>
          <a:ln w="12700">
            <a:solidFill>
              <a:srgbClr val="F96167"/>
            </a:solidFill>
            <a:prstDash val="solid"/>
          </a:ln>
        </p:spPr>
      </p:sp>
      <p:sp>
        <p:nvSpPr>
          <p:cNvPr id="14" name="Text 11"/>
          <p:cNvSpPr/>
          <p:nvPr/>
        </p:nvSpPr>
        <p:spPr>
          <a:xfrm>
            <a:off x="6537960" y="4572000"/>
            <a:ext cx="5029200" cy="1600200"/>
          </a:xfrm>
          <a:prstGeom prst="rect">
            <a:avLst/>
          </a:prstGeom>
          <a:noFill/>
          <a:ln/>
        </p:spPr>
        <p:txBody>
          <a:bodyPr wrap="square" rtlCol="0" anchor="t"/>
          <a:lstStyle/>
          <a:p>
            <a:pPr indent="0" marL="0">
              <a:buNone/>
            </a:pPr>
            <a:r>
              <a:rPr lang="en-US" sz="1400" b="1" dirty="0">
                <a:solidFill>
                  <a:srgbClr val="F96167"/>
                </a:solidFill>
                <a:latin typeface="Calibri" pitchFamily="34" charset="0"/>
                <a:ea typeface="Calibri" pitchFamily="34" charset="-122"/>
                <a:cs typeface="Calibri" pitchFamily="34" charset="-120"/>
              </a:rPr>
              <a:t>Descoperirea cheie
</a:t>
            </a:r>
            <a:pPr indent="0" marL="0">
              <a:buNone/>
            </a:pPr>
            <a:r>
              <a:rPr lang="en-US" sz="1100" i="1" dirty="0">
                <a:solidFill>
                  <a:srgbClr val="6B7280"/>
                </a:solidFill>
                <a:latin typeface="Calibri" pitchFamily="34" charset="0"/>
                <a:ea typeface="Calibri" pitchFamily="34" charset="-122"/>
                <a:cs typeface="Calibri" pitchFamily="34" charset="-120"/>
              </a:rPr>
              <a:t>(capitolul 5.4 al disertatiei)
</a:t>
            </a:r>
            <a:pPr indent="0" marL="0">
              <a:buNone/>
            </a:pPr>
            <a:r>
              <a:rPr lang="en-US" sz="1200" dirty="0">
                <a:solidFill>
                  <a:srgbClr val="1F2937"/>
                </a:solidFill>
                <a:latin typeface="Calibri" pitchFamily="34" charset="0"/>
                <a:ea typeface="Calibri" pitchFamily="34" charset="-122"/>
                <a:cs typeface="Calibri" pitchFamily="34" charset="-120"/>
              </a:rPr>
              <a:t>Pe modelul USA: lag_1 (pretul cu o ora inainte) explica </a:t>
            </a:r>
            <a:pPr indent="0" marL="0">
              <a:buNone/>
            </a:pPr>
            <a:r>
              <a:rPr lang="en-US" sz="1200" b="1" dirty="0">
                <a:solidFill>
                  <a:srgbClr val="F96167"/>
                </a:solidFill>
                <a:latin typeface="Calibri" pitchFamily="34" charset="0"/>
                <a:ea typeface="Calibri" pitchFamily="34" charset="-122"/>
                <a:cs typeface="Calibri" pitchFamily="34" charset="-120"/>
              </a:rPr>
              <a:t>peste 90% </a:t>
            </a:r>
            <a:pPr indent="0" marL="0">
              <a:buNone/>
            </a:pPr>
            <a:r>
              <a:rPr lang="en-US" sz="1200" dirty="0">
                <a:solidFill>
                  <a:srgbClr val="1F2937"/>
                </a:solidFill>
                <a:latin typeface="Calibri" pitchFamily="34" charset="0"/>
                <a:ea typeface="Calibri" pitchFamily="34" charset="-122"/>
                <a:cs typeface="Calibri" pitchFamily="34" charset="-120"/>
              </a:rPr>
              <a:t>din variantia predictiei XGBoost. Toate celelalte 28 de features combinate explica restul de 10%.</a:t>
            </a:r>
            <a:endParaRPr lang="en-US" sz="1400" dirty="0"/>
          </a:p>
        </p:txBody>
      </p:sp>
      <p:sp>
        <p:nvSpPr>
          <p:cNvPr id="15" name="Text 12"/>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6" name="Text 13"/>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TREND SI VOLATILITATE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3A. Rolling features - rolling window</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11018520" cy="1554480"/>
          </a:xfrm>
          <a:prstGeom prst="rect">
            <a:avLst/>
          </a:prstGeom>
          <a:noFill/>
          <a:ln/>
        </p:spPr>
        <p:txBody>
          <a:bodyPr wrap="square" rtlCol="0" anchor="t"/>
          <a:lstStyle/>
          <a:p>
            <a:pPr indent="0" marL="0">
              <a:buNone/>
            </a:pPr>
            <a:r>
              <a:rPr lang="en-US" sz="1600" b="1" dirty="0">
                <a:solidFill>
                  <a:srgbClr val="F96167"/>
                </a:solidFill>
                <a:latin typeface="Calibri" pitchFamily="34" charset="0"/>
                <a:ea typeface="Calibri" pitchFamily="34" charset="-122"/>
                <a:cs typeface="Calibri" pitchFamily="34" charset="-120"/>
              </a:rPr>
              <a:t>Ideea
</a:t>
            </a:r>
            <a:pPr indent="0" marL="0">
              <a:buNone/>
            </a:pPr>
            <a:r>
              <a:rPr lang="en-US" sz="1250" dirty="0">
                <a:solidFill>
                  <a:srgbClr val="1F2937"/>
                </a:solidFill>
                <a:latin typeface="Calibri" pitchFamily="34" charset="0"/>
                <a:ea typeface="Calibri" pitchFamily="34" charset="-122"/>
                <a:cs typeface="Calibri" pitchFamily="34" charset="-120"/>
              </a:rPr>
              <a:t>Cat de bine prezice un singur punct din trecut? Nu intotdeauna - poate fi un punct atipic. Mai bine combinam mai multe valori recente.
</a:t>
            </a:r>
            <a:pPr indent="0" marL="0">
              <a:buNone/>
            </a:pPr>
            <a:r>
              <a:rPr lang="en-US" sz="1400" b="1" dirty="0">
                <a:solidFill>
                  <a:srgbClr val="F96167"/>
                </a:solidFill>
                <a:latin typeface="Calibri" pitchFamily="34" charset="0"/>
                <a:ea typeface="Calibri" pitchFamily="34" charset="-122"/>
                <a:cs typeface="Calibri" pitchFamily="34" charset="-120"/>
              </a:rPr>
              <a:t>Solutia
</a:t>
            </a:r>
            <a:pPr indent="0" marL="0">
              <a:buNone/>
            </a:pPr>
            <a:r>
              <a:rPr lang="en-US" sz="1250" dirty="0">
                <a:solidFill>
                  <a:srgbClr val="1F2937"/>
                </a:solidFill>
                <a:latin typeface="Calibri" pitchFamily="34" charset="0"/>
                <a:ea typeface="Calibri" pitchFamily="34" charset="-122"/>
                <a:cs typeface="Calibri" pitchFamily="34" charset="-120"/>
              </a:rPr>
              <a:t>Calculez statistici (medie, deviatie) pe o </a:t>
            </a:r>
            <a:pPr indent="0" marL="0">
              <a:buNone/>
            </a:pPr>
            <a:r>
              <a:rPr lang="en-US" sz="1250" b="1" dirty="0">
                <a:solidFill>
                  <a:srgbClr val="1F2937"/>
                </a:solidFill>
                <a:latin typeface="Calibri" pitchFamily="34" charset="0"/>
                <a:ea typeface="Calibri" pitchFamily="34" charset="-122"/>
                <a:cs typeface="Calibri" pitchFamily="34" charset="-120"/>
              </a:rPr>
              <a:t>rolling window</a:t>
            </a:r>
            <a:pPr indent="0" marL="0">
              <a:buNone/>
            </a:pPr>
            <a:r>
              <a:rPr lang="en-US" sz="1250" dirty="0">
                <a:solidFill>
                  <a:srgbClr val="1F2937"/>
                </a:solidFill>
                <a:latin typeface="Calibri" pitchFamily="34" charset="0"/>
                <a:ea typeface="Calibri" pitchFamily="34" charset="-122"/>
                <a:cs typeface="Calibri" pitchFamily="34" charset="-120"/>
              </a:rPr>
              <a:t> de N ore din trecut. Aceasta fereastra se 'plimba' odata cu timpul.</a:t>
            </a:r>
            <a:endParaRPr lang="en-US" sz="1600" dirty="0"/>
          </a:p>
        </p:txBody>
      </p:sp>
      <p:sp>
        <p:nvSpPr>
          <p:cNvPr id="7" name="Shape 5"/>
          <p:cNvSpPr/>
          <p:nvPr/>
        </p:nvSpPr>
        <p:spPr>
          <a:xfrm>
            <a:off x="548640" y="3200400"/>
            <a:ext cx="5486400" cy="3017520"/>
          </a:xfrm>
          <a:prstGeom prst="rect">
            <a:avLst/>
          </a:prstGeom>
          <a:solidFill>
            <a:srgbClr val="FFFFFF"/>
          </a:solidFill>
          <a:ln w="25400">
            <a:solidFill>
              <a:srgbClr val="F96167"/>
            </a:solidFill>
            <a:prstDash val="solid"/>
          </a:ln>
        </p:spPr>
      </p:sp>
      <p:sp>
        <p:nvSpPr>
          <p:cNvPr id="8" name="Shape 6"/>
          <p:cNvSpPr/>
          <p:nvPr/>
        </p:nvSpPr>
        <p:spPr>
          <a:xfrm>
            <a:off x="548640" y="3200400"/>
            <a:ext cx="5486400" cy="502920"/>
          </a:xfrm>
          <a:prstGeom prst="rect">
            <a:avLst/>
          </a:prstGeom>
          <a:solidFill>
            <a:srgbClr val="F96167"/>
          </a:solidFill>
          <a:ln w="12700">
            <a:solidFill>
              <a:srgbClr val="F96167"/>
            </a:solidFill>
            <a:prstDash val="solid"/>
          </a:ln>
        </p:spPr>
      </p:sp>
      <p:sp>
        <p:nvSpPr>
          <p:cNvPr id="9" name="Text 7"/>
          <p:cNvSpPr/>
          <p:nvPr/>
        </p:nvSpPr>
        <p:spPr>
          <a:xfrm>
            <a:off x="54864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roll_mean - trend recent</a:t>
            </a:r>
            <a:endParaRPr lang="en-US" sz="1500" dirty="0"/>
          </a:p>
        </p:txBody>
      </p:sp>
      <p:sp>
        <p:nvSpPr>
          <p:cNvPr id="10" name="Text 8"/>
          <p:cNvSpPr/>
          <p:nvPr/>
        </p:nvSpPr>
        <p:spPr>
          <a:xfrm>
            <a:off x="77724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df['roll_mean_3']  = df['pret'].rolling(3).mean()</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df['roll_mean_24'] = df['pret'].rolling(24).mean()</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directia generala</a:t>
            </a:r>
            <a:pPr indent="0" marL="0">
              <a:buNone/>
            </a:pPr>
            <a:r>
              <a:rPr lang="en-US" sz="1200" dirty="0">
                <a:solidFill>
                  <a:srgbClr val="1F2937"/>
                </a:solidFill>
                <a:latin typeface="Calibri" pitchFamily="34" charset="0"/>
                <a:ea typeface="Calibri" pitchFamily="34" charset="-122"/>
                <a:cs typeface="Calibri" pitchFamily="34" charset="-120"/>
              </a:rPr>
              <a:t> - daca media ultimelor 3 ore e ridicata, pretul actual e probabil tot ridicat. Filtreaza zgomotul.</a:t>
            </a:r>
            <a:endParaRPr lang="en-US" sz="1100" dirty="0"/>
          </a:p>
        </p:txBody>
      </p:sp>
      <p:sp>
        <p:nvSpPr>
          <p:cNvPr id="11" name="Shape 9"/>
          <p:cNvSpPr/>
          <p:nvPr/>
        </p:nvSpPr>
        <p:spPr>
          <a:xfrm>
            <a:off x="6172200" y="3200400"/>
            <a:ext cx="5486400" cy="3017520"/>
          </a:xfrm>
          <a:prstGeom prst="rect">
            <a:avLst/>
          </a:prstGeom>
          <a:solidFill>
            <a:srgbClr val="FFFFFF"/>
          </a:solidFill>
          <a:ln w="25400">
            <a:solidFill>
              <a:srgbClr val="F96167"/>
            </a:solidFill>
            <a:prstDash val="solid"/>
          </a:ln>
        </p:spPr>
      </p:sp>
      <p:sp>
        <p:nvSpPr>
          <p:cNvPr id="12" name="Shape 10"/>
          <p:cNvSpPr/>
          <p:nvPr/>
        </p:nvSpPr>
        <p:spPr>
          <a:xfrm>
            <a:off x="6172200" y="3200400"/>
            <a:ext cx="5486400" cy="502920"/>
          </a:xfrm>
          <a:prstGeom prst="rect">
            <a:avLst/>
          </a:prstGeom>
          <a:solidFill>
            <a:srgbClr val="F96167"/>
          </a:solidFill>
          <a:ln w="12700">
            <a:solidFill>
              <a:srgbClr val="F96167"/>
            </a:solidFill>
            <a:prstDash val="solid"/>
          </a:ln>
        </p:spPr>
      </p:sp>
      <p:sp>
        <p:nvSpPr>
          <p:cNvPr id="13" name="Text 11"/>
          <p:cNvSpPr/>
          <p:nvPr/>
        </p:nvSpPr>
        <p:spPr>
          <a:xfrm>
            <a:off x="617220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roll_std - volatilitate recenta</a:t>
            </a:r>
            <a:endParaRPr lang="en-US" sz="1500" dirty="0"/>
          </a:p>
        </p:txBody>
      </p:sp>
      <p:sp>
        <p:nvSpPr>
          <p:cNvPr id="14" name="Text 12"/>
          <p:cNvSpPr/>
          <p:nvPr/>
        </p:nvSpPr>
        <p:spPr>
          <a:xfrm>
            <a:off x="640080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df['roll_std_24']  = df['pret'].rolling(24).std()</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df['roll_std_168'] = df['pret'].rolling(168).std()</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cat de instabil</a:t>
            </a:r>
            <a:pPr indent="0" marL="0">
              <a:buNone/>
            </a:pPr>
            <a:r>
              <a:rPr lang="en-US" sz="1200" dirty="0">
                <a:solidFill>
                  <a:srgbClr val="1F2937"/>
                </a:solidFill>
                <a:latin typeface="Calibri" pitchFamily="34" charset="0"/>
                <a:ea typeface="Calibri" pitchFamily="34" charset="-122"/>
                <a:cs typeface="Calibri" pitchFamily="34" charset="-120"/>
              </a:rPr>
              <a:t> a fost pretul recent. Volatilitate mare = piata sub presiune, valorile pot fluctua mult.</a:t>
            </a:r>
            <a:endParaRPr lang="en-US" sz="1100" dirty="0"/>
          </a:p>
        </p:txBody>
      </p:sp>
      <p:sp>
        <p:nvSpPr>
          <p:cNvPr id="15" name="Shape 13"/>
          <p:cNvSpPr/>
          <p:nvPr/>
        </p:nvSpPr>
        <p:spPr>
          <a:xfrm>
            <a:off x="548640" y="5943600"/>
            <a:ext cx="11064240" cy="365760"/>
          </a:xfrm>
          <a:prstGeom prst="rect">
            <a:avLst/>
          </a:prstGeom>
          <a:solidFill>
            <a:srgbClr val="F9C846"/>
          </a:solidFill>
          <a:ln w="12700">
            <a:solidFill>
              <a:srgbClr val="F9C846"/>
            </a:solidFill>
            <a:prstDash val="solid"/>
          </a:ln>
        </p:spPr>
      </p:sp>
      <p:sp>
        <p:nvSpPr>
          <p:cNvPr id="16" name="Text 14"/>
          <p:cNvSpPr/>
          <p:nvPr/>
        </p:nvSpPr>
        <p:spPr>
          <a:xfrm>
            <a:off x="548640" y="5943600"/>
            <a:ext cx="11064240" cy="365760"/>
          </a:xfrm>
          <a:prstGeom prst="rect">
            <a:avLst/>
          </a:prstGeom>
          <a:noFill/>
          <a:ln/>
        </p:spPr>
        <p:txBody>
          <a:bodyPr wrap="square" rtlCol="0" anchor="ctr"/>
          <a:lstStyle/>
          <a:p>
            <a:pPr algn="ctr" indent="0" marL="0">
              <a:buNone/>
            </a:pPr>
            <a:r>
              <a:rPr lang="en-US" sz="1150" b="1" i="1" dirty="0">
                <a:solidFill>
                  <a:srgbClr val="1F2937"/>
                </a:solidFill>
                <a:latin typeface="Calibri" pitchFamily="34" charset="0"/>
                <a:ea typeface="Calibri" pitchFamily="34" charset="-122"/>
                <a:cs typeface="Calibri" pitchFamily="34" charset="-120"/>
              </a:rPr>
              <a:t>DAR cele de mai sus contin o eroare critica! Vom vedea pe slide-ul urmator de ce e necesar .shift(1).</a:t>
            </a:r>
            <a:endParaRPr lang="en-US" sz="1150" dirty="0"/>
          </a:p>
        </p:txBody>
      </p:sp>
      <p:sp>
        <p:nvSpPr>
          <p:cNvPr id="17" name="Text 15"/>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8" name="Text 16"/>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ANTI DATA-LEAKAGE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3B. Detaliul critic: .shift(1) anti-leakage</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shift1_demonstratie.png">    </p:cNvPr>
          <p:cNvPicPr>
            <a:picLocks noChangeAspect="1"/>
          </p:cNvPicPr>
          <p:nvPr/>
        </p:nvPicPr>
        <p:blipFill>
          <a:blip r:embed="rId1"/>
          <a:srcRect l="0" r="0" t="0" b="0"/>
          <a:stretch/>
        </p:blipFill>
        <p:spPr>
          <a:xfrm>
            <a:off x="274320" y="1417320"/>
            <a:ext cx="11612880" cy="3931920"/>
          </a:xfrm>
          <a:prstGeom prst="rect">
            <a:avLst/>
          </a:prstGeom>
        </p:spPr>
      </p:pic>
      <p:sp>
        <p:nvSpPr>
          <p:cNvPr id="7" name="Shape 4"/>
          <p:cNvSpPr/>
          <p:nvPr/>
        </p:nvSpPr>
        <p:spPr>
          <a:xfrm>
            <a:off x="548640" y="5440680"/>
            <a:ext cx="11064240" cy="841248"/>
          </a:xfrm>
          <a:prstGeom prst="rect">
            <a:avLst/>
          </a:prstGeom>
          <a:solidFill>
            <a:srgbClr val="F4F5F7"/>
          </a:solidFill>
          <a:ln w="12700">
            <a:solidFill>
              <a:srgbClr val="6B7280"/>
            </a:solidFill>
            <a:prstDash val="solid"/>
          </a:ln>
        </p:spPr>
      </p:sp>
      <p:sp>
        <p:nvSpPr>
          <p:cNvPr id="8" name="Text 5"/>
          <p:cNvSpPr/>
          <p:nvPr/>
        </p:nvSpPr>
        <p:spPr>
          <a:xfrm>
            <a:off x="777240" y="5468112"/>
            <a:ext cx="10607040" cy="77724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Ce s-a intamplat? </a:t>
            </a:r>
            <a:pPr indent="0" marL="0">
              <a:buNone/>
            </a:pPr>
            <a:r>
              <a:rPr lang="en-US" sz="1200" dirty="0">
                <a:solidFill>
                  <a:srgbClr val="1F2937"/>
                </a:solidFill>
                <a:latin typeface="Calibri" pitchFamily="34" charset="0"/>
                <a:ea typeface="Calibri" pitchFamily="34" charset="-122"/>
                <a:cs typeface="Calibri" pitchFamily="34" charset="-120"/>
              </a:rPr>
              <a:t>rolling(3).mean() la momentul t include si valoarea de la t! Modelul foloseste raspunsul ca sa-l prezica. </a:t>
            </a:r>
            <a:endParaRPr lang="en-US" sz="1300" dirty="0"/>
          </a:p>
          <a:p>
            <a:pPr indent="0" marL="0">
              <a:buNone/>
            </a:pPr>
            <a:r>
              <a:rPr lang="en-US" sz="1300" b="1" dirty="0">
                <a:solidFill>
                  <a:srgbClr val="6FAE6F"/>
                </a:solidFill>
                <a:latin typeface="Calibri" pitchFamily="34" charset="0"/>
                <a:ea typeface="Calibri" pitchFamily="34" charset="-122"/>
                <a:cs typeface="Calibri" pitchFamily="34" charset="-120"/>
              </a:rPr>
              <a:t>Solutia: </a:t>
            </a:r>
            <a:pPr indent="0" marL="0">
              <a:buNone/>
            </a:pPr>
            <a:r>
              <a:rPr lang="en-US" sz="1200" dirty="0">
                <a:solidFill>
                  <a:srgbClr val="1F2937"/>
                </a:solidFill>
                <a:latin typeface="Calibri" pitchFamily="34" charset="0"/>
                <a:ea typeface="Calibri" pitchFamily="34" charset="-122"/>
                <a:cs typeface="Calibri" pitchFamily="34" charset="-120"/>
              </a:rPr>
              <a:t>scriem </a:t>
            </a:r>
            <a:pPr indent="0" marL="0">
              <a:buNone/>
            </a:pPr>
            <a:r>
              <a:rPr lang="en-US" sz="1200" b="1" dirty="0">
                <a:solidFill>
                  <a:srgbClr val="21295C"/>
                </a:solidFill>
                <a:latin typeface="Consolas" pitchFamily="34" charset="0"/>
                <a:ea typeface="Consolas" pitchFamily="34" charset="-122"/>
                <a:cs typeface="Consolas" pitchFamily="34" charset="-120"/>
              </a:rPr>
              <a:t>df['pret'].shift(1).rolling(3).mean()</a:t>
            </a:r>
            <a:pPr indent="0" marL="0">
              <a:buNone/>
            </a:pPr>
            <a:r>
              <a:rPr lang="en-US" sz="1200" dirty="0">
                <a:solidFill>
                  <a:srgbClr val="1F2937"/>
                </a:solidFill>
                <a:latin typeface="Calibri" pitchFamily="34" charset="0"/>
                <a:ea typeface="Calibri" pitchFamily="34" charset="-122"/>
                <a:cs typeface="Calibri" pitchFamily="34" charset="-120"/>
              </a:rPr>
              <a:t> - mutam mai intai valoarea cu un pas in trecut, apoi facem media. Acum feature-ul foloseste DOAR trecutul.</a:t>
            </a:r>
            <a:endParaRPr lang="en-US" sz="1300" dirty="0"/>
          </a:p>
        </p:txBody>
      </p:sp>
      <p:sp>
        <p:nvSpPr>
          <p:cNvPr id="9" name="Text 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0" name="Text 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SINERGIE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impreuna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4_2_lag_vs_real_vs_rolling.png">    </p:cNvPr>
          <p:cNvPicPr>
            <a:picLocks noChangeAspect="1"/>
          </p:cNvPicPr>
          <p:nvPr/>
        </p:nvPicPr>
        <p:blipFill>
          <a:blip r:embed="rId1"/>
          <a:srcRect l="0" r="0" t="0" b="0"/>
          <a:stretch/>
        </p:blipFill>
        <p:spPr>
          <a:xfrm>
            <a:off x="914400" y="1463040"/>
            <a:ext cx="10332720" cy="4114800"/>
          </a:xfrm>
          <a:prstGeom prst="rect">
            <a:avLst/>
          </a:prstGeom>
        </p:spPr>
      </p:pic>
      <p:sp>
        <p:nvSpPr>
          <p:cNvPr id="7" name="Shape 4"/>
          <p:cNvSpPr/>
          <p:nvPr/>
        </p:nvSpPr>
        <p:spPr>
          <a:xfrm>
            <a:off x="548640" y="5669280"/>
            <a:ext cx="11064240" cy="868680"/>
          </a:xfrm>
          <a:prstGeom prst="rect">
            <a:avLst/>
          </a:prstGeom>
          <a:solidFill>
            <a:srgbClr val="F4F5F7"/>
          </a:solidFill>
          <a:ln w="12700">
            <a:solidFill>
              <a:srgbClr val="E5E7EB"/>
            </a:solidFill>
            <a:prstDash val="solid"/>
          </a:ln>
        </p:spPr>
      </p:sp>
      <p:sp>
        <p:nvSpPr>
          <p:cNvPr id="8" name="Text 5"/>
          <p:cNvSpPr/>
          <p:nvPr/>
        </p:nvSpPr>
        <p:spPr>
          <a:xfrm>
            <a:off x="868680" y="5760720"/>
            <a:ext cx="10515600" cy="77724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Trei perspective complementare: </a:t>
            </a:r>
            <a:pPr indent="0" marL="0">
              <a:buNone/>
            </a:pPr>
            <a:r>
              <a:rPr lang="en-US" sz="1300" dirty="0">
                <a:solidFill>
                  <a:srgbClr val="1F2937"/>
                </a:solidFill>
                <a:latin typeface="Calibri" pitchFamily="34" charset="0"/>
                <a:ea typeface="Calibri" pitchFamily="34" charset="-122"/>
                <a:cs typeface="Calibri" pitchFamily="34" charset="-120"/>
              </a:rPr>
              <a:t>valoarea reala (ce vrem sa prezicem) + lag_1 (memoria scurta, replica decalata) + roll_mean_24 (trendul ultimelor 24 ore).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Combinate cu encoding ciclic al timpului, formeaza </a:t>
            </a:r>
            <a:pPr indent="0" marL="0">
              <a:buNone/>
            </a:pPr>
            <a:r>
              <a:rPr lang="en-US" sz="1300" b="1" dirty="0">
                <a:solidFill>
                  <a:srgbClr val="065A82"/>
                </a:solidFill>
                <a:latin typeface="Calibri" pitchFamily="34" charset="0"/>
                <a:ea typeface="Calibri" pitchFamily="34" charset="-122"/>
                <a:cs typeface="Calibri" pitchFamily="34" charset="-120"/>
              </a:rPr>
              <a:t>setul minimal de features</a:t>
            </a:r>
            <a:pPr indent="0" marL="0">
              <a:buNone/>
            </a:pPr>
            <a:r>
              <a:rPr lang="en-US" sz="1300" dirty="0">
                <a:solidFill>
                  <a:srgbClr val="1F2937"/>
                </a:solidFill>
                <a:latin typeface="Calibri" pitchFamily="34" charset="0"/>
                <a:ea typeface="Calibri" pitchFamily="34" charset="-122"/>
                <a:cs typeface="Calibri" pitchFamily="34" charset="-120"/>
              </a:rPr>
              <a:t> pentru predictie energetica.</a:t>
            </a:r>
            <a:endParaRPr lang="en-US" sz="1300" dirty="0"/>
          </a:p>
        </p:txBody>
      </p:sp>
      <p:sp>
        <p:nvSpPr>
          <p:cNvPr id="9" name="Text 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0" name="Text 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REZULTATE PROPRII</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Validare empirica: cele 3 tehnici aplicate pe pretul Spania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tabel_modele.png">    </p:cNvPr>
          <p:cNvPicPr>
            <a:picLocks noChangeAspect="1"/>
          </p:cNvPicPr>
          <p:nvPr/>
        </p:nvPicPr>
        <p:blipFill>
          <a:blip r:embed="rId1"/>
          <a:srcRect l="0" r="0" t="0" b="0"/>
          <a:stretch/>
        </p:blipFill>
        <p:spPr>
          <a:xfrm>
            <a:off x="365760" y="1463040"/>
            <a:ext cx="11430000" cy="4114800"/>
          </a:xfrm>
          <a:prstGeom prst="rect">
            <a:avLst/>
          </a:prstGeom>
        </p:spPr>
      </p:pic>
      <p:sp>
        <p:nvSpPr>
          <p:cNvPr id="7" name="Shape 4"/>
          <p:cNvSpPr/>
          <p:nvPr/>
        </p:nvSpPr>
        <p:spPr>
          <a:xfrm>
            <a:off x="548640" y="5440680"/>
            <a:ext cx="5440680" cy="749808"/>
          </a:xfrm>
          <a:prstGeom prst="rect">
            <a:avLst/>
          </a:prstGeom>
          <a:solidFill>
            <a:srgbClr val="F4F5F7"/>
          </a:solidFill>
          <a:ln w="12700">
            <a:solidFill>
              <a:srgbClr val="6FAE6F"/>
            </a:solidFill>
            <a:prstDash val="solid"/>
          </a:ln>
        </p:spPr>
      </p:sp>
      <p:sp>
        <p:nvSpPr>
          <p:cNvPr id="8" name="Text 5"/>
          <p:cNvSpPr/>
          <p:nvPr/>
        </p:nvSpPr>
        <p:spPr>
          <a:xfrm>
            <a:off x="777240" y="5468112"/>
            <a:ext cx="5120640" cy="685800"/>
          </a:xfrm>
          <a:prstGeom prst="rect">
            <a:avLst/>
          </a:prstGeom>
          <a:noFill/>
          <a:ln/>
        </p:spPr>
        <p:txBody>
          <a:bodyPr wrap="square" rtlCol="0" anchor="ctr"/>
          <a:lstStyle/>
          <a:p>
            <a:pPr indent="0" marL="0">
              <a:buNone/>
            </a:pPr>
            <a:r>
              <a:rPr lang="en-US" sz="1300" b="1" dirty="0">
                <a:solidFill>
                  <a:srgbClr val="6FAE6F"/>
                </a:solidFill>
                <a:latin typeface="Calibri" pitchFamily="34" charset="0"/>
                <a:ea typeface="Calibri" pitchFamily="34" charset="-122"/>
                <a:cs typeface="Calibri" pitchFamily="34" charset="-120"/>
              </a:rPr>
              <a:t>Castigatorul: XGBoost
</a:t>
            </a:r>
            <a:pPr indent="0" marL="0">
              <a:buNone/>
            </a:pPr>
            <a:r>
              <a:rPr lang="en-US" sz="1150" dirty="0">
                <a:solidFill>
                  <a:srgbClr val="1F2937"/>
                </a:solidFill>
                <a:latin typeface="Calibri" pitchFamily="34" charset="0"/>
                <a:ea typeface="Calibri" pitchFamily="34" charset="-122"/>
                <a:cs typeface="Calibri" pitchFamily="34" charset="-120"/>
              </a:rPr>
              <a:t>R² = 0.968, RMSE = 2.07 EUR/MWh, MAPE = 2.57%</a:t>
            </a:r>
            <a:endParaRPr lang="en-US" sz="1300" dirty="0"/>
          </a:p>
        </p:txBody>
      </p:sp>
      <p:sp>
        <p:nvSpPr>
          <p:cNvPr id="9" name="Shape 6"/>
          <p:cNvSpPr/>
          <p:nvPr/>
        </p:nvSpPr>
        <p:spPr>
          <a:xfrm>
            <a:off x="6172200" y="5440680"/>
            <a:ext cx="5440680" cy="749808"/>
          </a:xfrm>
          <a:prstGeom prst="rect">
            <a:avLst/>
          </a:prstGeom>
          <a:solidFill>
            <a:srgbClr val="F4F5F7"/>
          </a:solidFill>
          <a:ln w="12700">
            <a:solidFill>
              <a:srgbClr val="F96167"/>
            </a:solidFill>
            <a:prstDash val="solid"/>
          </a:ln>
        </p:spPr>
      </p:sp>
      <p:sp>
        <p:nvSpPr>
          <p:cNvPr id="10" name="Text 7"/>
          <p:cNvSpPr/>
          <p:nvPr/>
        </p:nvSpPr>
        <p:spPr>
          <a:xfrm>
            <a:off x="6400800" y="5468112"/>
            <a:ext cx="5120640" cy="68580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LSTM in mod demo (1000 ore): R² negativ
</a:t>
            </a:r>
            <a:pPr indent="0" marL="0">
              <a:buNone/>
            </a:pPr>
            <a:r>
              <a:rPr lang="en-US" sz="1150" dirty="0">
                <a:solidFill>
                  <a:srgbClr val="1F2937"/>
                </a:solidFill>
                <a:latin typeface="Calibri" pitchFamily="34" charset="0"/>
                <a:ea typeface="Calibri" pitchFamily="34" charset="-122"/>
                <a:cs typeface="Calibri" pitchFamily="34" charset="-120"/>
              </a:rPr>
              <a:t>Date insuficiente. In MODE=full pe Databricks va recupera.</a:t>
            </a:r>
            <a:endParaRPr lang="en-US" sz="1300" dirty="0"/>
          </a:p>
        </p:txBody>
      </p:sp>
      <p:sp>
        <p:nvSpPr>
          <p:cNvPr id="11" name="Text 8"/>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2" name="Text 9"/>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13 / 15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LECTII INVATATE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Concluzii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640080" y="1554480"/>
            <a:ext cx="685800" cy="685800"/>
          </a:xfrm>
          <a:prstGeom prst="ellipse">
            <a:avLst/>
          </a:prstGeom>
          <a:solidFill>
            <a:srgbClr val="065A82"/>
          </a:solidFill>
          <a:ln w="12700">
            <a:solidFill>
              <a:srgbClr val="065A82"/>
            </a:solidFill>
            <a:prstDash val="solid"/>
          </a:ln>
        </p:spPr>
      </p:sp>
      <p:sp>
        <p:nvSpPr>
          <p:cNvPr id="7" name="Text 5"/>
          <p:cNvSpPr/>
          <p:nvPr/>
        </p:nvSpPr>
        <p:spPr>
          <a:xfrm>
            <a:off x="640080" y="155448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554480" y="150876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Feature engineering &gt; selectia modelului (pe time series)</a:t>
            </a:r>
            <a:endParaRPr lang="en-US" sz="1700" dirty="0"/>
          </a:p>
        </p:txBody>
      </p:sp>
      <p:sp>
        <p:nvSpPr>
          <p:cNvPr id="9" name="Text 7"/>
          <p:cNvSpPr/>
          <p:nvPr/>
        </p:nvSpPr>
        <p:spPr>
          <a:xfrm>
            <a:off x="1554480" y="196596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Pe pretul Spania, toate modelele clasice obtin R² intre 0.947 si 0.968. Diferentele sunt minime. Ceea ce a contat cu adevarat au fost cele 3 tehnici de feature engineering aplicate corect pe datele brute.</a:t>
            </a:r>
            <a:endParaRPr lang="en-US" sz="1300" dirty="0"/>
          </a:p>
        </p:txBody>
      </p:sp>
      <p:sp>
        <p:nvSpPr>
          <p:cNvPr id="10" name="Shape 8"/>
          <p:cNvSpPr/>
          <p:nvPr/>
        </p:nvSpPr>
        <p:spPr>
          <a:xfrm>
            <a:off x="640080" y="3108960"/>
            <a:ext cx="685800" cy="685800"/>
          </a:xfrm>
          <a:prstGeom prst="ellipse">
            <a:avLst/>
          </a:prstGeom>
          <a:solidFill>
            <a:srgbClr val="F96167"/>
          </a:solidFill>
          <a:ln w="12700">
            <a:solidFill>
              <a:srgbClr val="F96167"/>
            </a:solidFill>
            <a:prstDash val="solid"/>
          </a:ln>
        </p:spPr>
      </p:sp>
      <p:sp>
        <p:nvSpPr>
          <p:cNvPr id="11" name="Text 9"/>
          <p:cNvSpPr/>
          <p:nvPr/>
        </p:nvSpPr>
        <p:spPr>
          <a:xfrm>
            <a:off x="640080" y="310896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1554480" y="306324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Detaliile tehnice (.shift(1)) decid intre cinstit si fals</a:t>
            </a:r>
            <a:endParaRPr lang="en-US" sz="1700" dirty="0"/>
          </a:p>
        </p:txBody>
      </p:sp>
      <p:sp>
        <p:nvSpPr>
          <p:cNvPr id="13" name="Text 11"/>
          <p:cNvSpPr/>
          <p:nvPr/>
        </p:nvSpPr>
        <p:spPr>
          <a:xfrm>
            <a:off x="1554480" y="352044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Un detaliu de o linie de cod - .shift(1) inainte de rolling - este diferenta intre un model care arata bine pe test si esueaza in productie, si un model care performeaza consistent. Atentia la detaliu este esentiala.</a:t>
            </a:r>
            <a:endParaRPr lang="en-US" sz="1300" dirty="0"/>
          </a:p>
        </p:txBody>
      </p:sp>
      <p:sp>
        <p:nvSpPr>
          <p:cNvPr id="14" name="Shape 12"/>
          <p:cNvSpPr/>
          <p:nvPr/>
        </p:nvSpPr>
        <p:spPr>
          <a:xfrm>
            <a:off x="640080" y="4663440"/>
            <a:ext cx="685800" cy="685800"/>
          </a:xfrm>
          <a:prstGeom prst="ellipse">
            <a:avLst/>
          </a:prstGeom>
          <a:solidFill>
            <a:srgbClr val="6FAE6F"/>
          </a:solidFill>
          <a:ln w="12700">
            <a:solidFill>
              <a:srgbClr val="6FAE6F"/>
            </a:solidFill>
            <a:prstDash val="solid"/>
          </a:ln>
        </p:spPr>
      </p:sp>
      <p:sp>
        <p:nvSpPr>
          <p:cNvPr id="15" name="Text 13"/>
          <p:cNvSpPr/>
          <p:nvPr/>
        </p:nvSpPr>
        <p:spPr>
          <a:xfrm>
            <a:off x="640080" y="466344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4"/>
          <p:cNvSpPr/>
          <p:nvPr/>
        </p:nvSpPr>
        <p:spPr>
          <a:xfrm>
            <a:off x="1554480" y="461772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Tehnicile sunt universale - aplicabile la orice time series</a:t>
            </a:r>
            <a:endParaRPr lang="en-US" sz="1700" dirty="0"/>
          </a:p>
        </p:txBody>
      </p:sp>
      <p:sp>
        <p:nvSpPr>
          <p:cNvPr id="17" name="Text 15"/>
          <p:cNvSpPr/>
          <p:nvPr/>
        </p:nvSpPr>
        <p:spPr>
          <a:xfrm>
            <a:off x="1554480" y="507492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Encoding ciclic, lag si rolling features functioneaza la fel pe consum (USA), pret (Spania) si productie solara (India). Le voi aplica si pe sesiunile 2 si 3 cu acelasi pipeline.</a:t>
            </a:r>
            <a:endParaRPr lang="en-US" sz="1300" dirty="0"/>
          </a:p>
        </p:txBody>
      </p:sp>
      <p:sp>
        <p:nvSpPr>
          <p:cNvPr id="18" name="Text 16"/>
          <p:cNvSpPr/>
          <p:nvPr/>
        </p:nvSpPr>
        <p:spPr>
          <a:xfrm>
            <a:off x="457200" y="6355080"/>
            <a:ext cx="10058400" cy="411480"/>
          </a:xfrm>
          <a:prstGeom prst="rect">
            <a:avLst/>
          </a:prstGeom>
          <a:noFill/>
          <a:ln/>
        </p:spPr>
        <p:txBody>
          <a:bodyPr wrap="square" rtlCol="0" anchor="ctr"/>
          <a:lstStyle/>
          <a:p>
            <a:pPr indent="0" marL="0">
              <a:buNone/>
            </a:pPr>
            <a:r>
              <a:rPr lang="en-US" sz="800" b="1" dirty="0">
                <a:solidFill>
                  <a:srgbClr val="6B7280"/>
                </a:solidFill>
                <a:latin typeface="Calibri" pitchFamily="34" charset="0"/>
                <a:ea typeface="Calibri" pitchFamily="34" charset="-122"/>
                <a:cs typeface="Calibri" pitchFamily="34" charset="-120"/>
              </a:rPr>
              <a:t>Sesiune Comunicari Stiintifice Mai 2026</a:t>
            </a:r>
            <a:endParaRPr lang="en-US" sz="800" dirty="0"/>
          </a:p>
          <a:p>
            <a:pPr indent="0" marL="0">
              <a:buNone/>
            </a:pPr>
            <a:r>
              <a:rPr lang="en-US" sz="800" i="1" dirty="0">
                <a:solidFill>
                  <a:srgbClr val="6B7280"/>
                </a:solidFill>
                <a:latin typeface="Calibri" pitchFamily="34" charset="0"/>
                <a:ea typeface="Calibri" pitchFamily="34" charset="-122"/>
                <a:cs typeface="Calibri" pitchFamily="34" charset="-120"/>
              </a:rPr>
              <a:t>Tehnici de feature engineering pentru serii temporale, cu aplicatii in domeniul energetic</a:t>
            </a:r>
            <a:endParaRPr lang="en-US" sz="800" dirty="0"/>
          </a:p>
        </p:txBody>
      </p:sp>
      <p:sp>
        <p:nvSpPr>
          <p:cNvPr id="19" name="Text 17"/>
          <p:cNvSpPr/>
          <p:nvPr/>
        </p:nvSpPr>
        <p:spPr>
          <a:xfrm>
            <a:off x="10789920" y="6400800"/>
            <a:ext cx="914400" cy="32004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14 / 15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193292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1371600"/>
            <a:ext cx="10515600" cy="548640"/>
          </a:xfrm>
          <a:prstGeom prst="rect">
            <a:avLst/>
          </a:prstGeom>
          <a:noFill/>
          <a:ln/>
        </p:spPr>
        <p:txBody>
          <a:bodyPr wrap="square" rtlCol="0" anchor="ctr"/>
          <a:lstStyle/>
          <a:p>
            <a:pPr indent="0" marL="0">
              <a:buNone/>
            </a:pPr>
            <a:r>
              <a:rPr lang="en-US" sz="1400" b="1" spc="800" kern="0" dirty="0">
                <a:solidFill>
                  <a:srgbClr val="F96167"/>
                </a:solidFill>
                <a:latin typeface="Calibri" pitchFamily="34" charset="0"/>
                <a:ea typeface="Calibri" pitchFamily="34" charset="-122"/>
                <a:cs typeface="Calibri" pitchFamily="34" charset="-120"/>
              </a:rPr>
              <a:t>MULTUMESC PENTRU ATENTIE</a:t>
            </a:r>
            <a:endParaRPr lang="en-US" sz="1400" dirty="0"/>
          </a:p>
        </p:txBody>
      </p:sp>
      <p:sp>
        <p:nvSpPr>
          <p:cNvPr id="4" name="Text 2"/>
          <p:cNvSpPr/>
          <p:nvPr/>
        </p:nvSpPr>
        <p:spPr>
          <a:xfrm>
            <a:off x="731520" y="2011680"/>
            <a:ext cx="10515600" cy="91440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Astept intrebarile dumneavoastra</a:t>
            </a:r>
            <a:endParaRPr lang="en-US" sz="3600" dirty="0"/>
          </a:p>
        </p:txBody>
      </p:sp>
      <p:sp>
        <p:nvSpPr>
          <p:cNvPr id="5" name="Shape 3"/>
          <p:cNvSpPr/>
          <p:nvPr/>
        </p:nvSpPr>
        <p:spPr>
          <a:xfrm>
            <a:off x="731520" y="3657600"/>
            <a:ext cx="10515600" cy="2103120"/>
          </a:xfrm>
          <a:prstGeom prst="rect">
            <a:avLst/>
          </a:prstGeom>
          <a:solidFill>
            <a:srgbClr val="1F2A4D"/>
          </a:solidFill>
          <a:ln w="12700">
            <a:solidFill>
              <a:srgbClr val="1F2A4D"/>
            </a:solidFill>
            <a:prstDash val="solid"/>
          </a:ln>
        </p:spPr>
      </p:sp>
      <p:sp>
        <p:nvSpPr>
          <p:cNvPr id="6" name="Text 4"/>
          <p:cNvSpPr/>
          <p:nvPr/>
        </p:nvSpPr>
        <p:spPr>
          <a:xfrm>
            <a:off x="1097280" y="3840480"/>
            <a:ext cx="10058400" cy="1828800"/>
          </a:xfrm>
          <a:prstGeom prst="rect">
            <a:avLst/>
          </a:prstGeom>
          <a:noFill/>
          <a:ln/>
        </p:spPr>
        <p:txBody>
          <a:bodyPr wrap="square" rtlCol="0" anchor="t"/>
          <a:lstStyle/>
          <a:p>
            <a:pPr indent="0" marL="0">
              <a:buNone/>
            </a:pPr>
            <a:r>
              <a:rPr lang="en-US" sz="1400" b="1" spc="400" kern="0" dirty="0">
                <a:solidFill>
                  <a:srgbClr val="F96167"/>
                </a:solidFill>
                <a:latin typeface="Calibri" pitchFamily="34" charset="0"/>
                <a:ea typeface="Calibri" pitchFamily="34" charset="-122"/>
                <a:cs typeface="Calibri" pitchFamily="34" charset="-120"/>
              </a:rPr>
              <a:t>TREI IDEI DE RETINUT
</a:t>
            </a:r>
            <a:pPr indent="0" marL="0">
              <a:buNone/>
            </a:pPr>
            <a:r>
              <a:rPr lang="en-US" sz="1400" b="1" dirty="0">
                <a:solidFill>
                  <a:srgbClr val="F96167"/>
                </a:solidFill>
                <a:latin typeface="Calibri" pitchFamily="34" charset="0"/>
                <a:ea typeface="Calibri" pitchFamily="34" charset="-122"/>
                <a:cs typeface="Calibri" pitchFamily="34" charset="-120"/>
              </a:rPr>
              <a:t>1. </a:t>
            </a:r>
            <a:pPr indent="0" marL="0">
              <a:buNone/>
            </a:pPr>
            <a:r>
              <a:rPr lang="en-US" sz="1400" dirty="0">
                <a:solidFill>
                  <a:srgbClr val="FFFFFF"/>
                </a:solidFill>
                <a:latin typeface="Calibri" pitchFamily="34" charset="0"/>
                <a:ea typeface="Calibri" pitchFamily="34" charset="-122"/>
                <a:cs typeface="Calibri" pitchFamily="34" charset="-120"/>
              </a:rPr>
              <a:t>Encoding ciclic transforma orele liniare in pozitii pe cerc - 23 si 0 redevin vecine.
</a:t>
            </a:r>
            <a:pPr indent="0" marL="0">
              <a:buNone/>
            </a:pPr>
            <a:r>
              <a:rPr lang="en-US" sz="1400" b="1" dirty="0">
                <a:solidFill>
                  <a:srgbClr val="F96167"/>
                </a:solidFill>
                <a:latin typeface="Calibri" pitchFamily="34" charset="0"/>
                <a:ea typeface="Calibri" pitchFamily="34" charset="-122"/>
                <a:cs typeface="Calibri" pitchFamily="34" charset="-120"/>
              </a:rPr>
              <a:t>2. </a:t>
            </a:r>
            <a:pPr indent="0" marL="0">
              <a:buNone/>
            </a:pPr>
            <a:r>
              <a:rPr lang="en-US" sz="1400" dirty="0">
                <a:solidFill>
                  <a:srgbClr val="FFFFFF"/>
                </a:solidFill>
                <a:latin typeface="Calibri" pitchFamily="34" charset="0"/>
                <a:ea typeface="Calibri" pitchFamily="34" charset="-122"/>
                <a:cs typeface="Calibri" pitchFamily="34" charset="-120"/>
              </a:rPr>
              <a:t>Lag features dau modelului memorie scurta - lag_1 explica peste 90% din predictie pe USA.
</a:t>
            </a:r>
            <a:pPr indent="0" marL="0">
              <a:buNone/>
            </a:pPr>
            <a:r>
              <a:rPr lang="en-US" sz="1400" b="1" dirty="0">
                <a:solidFill>
                  <a:srgbClr val="F96167"/>
                </a:solidFill>
                <a:latin typeface="Calibri" pitchFamily="34" charset="0"/>
                <a:ea typeface="Calibri" pitchFamily="34" charset="-122"/>
                <a:cs typeface="Calibri" pitchFamily="34" charset="-120"/>
              </a:rPr>
              <a:t>3. </a:t>
            </a:r>
            <a:pPr indent="0" marL="0">
              <a:buNone/>
            </a:pPr>
            <a:r>
              <a:rPr lang="en-US" sz="1400" dirty="0">
                <a:solidFill>
                  <a:srgbClr val="FFFFFF"/>
                </a:solidFill>
                <a:latin typeface="Calibri" pitchFamily="34" charset="0"/>
                <a:ea typeface="Calibri" pitchFamily="34" charset="-122"/>
                <a:cs typeface="Calibri" pitchFamily="34" charset="-120"/>
              </a:rPr>
              <a:t>Rolling features cu .shift(1) sunt diferenta intre cinstit si fals.</a:t>
            </a:r>
            <a:endParaRPr lang="en-US" sz="1400" dirty="0"/>
          </a:p>
        </p:txBody>
      </p:sp>
      <p:sp>
        <p:nvSpPr>
          <p:cNvPr id="7" name="Text 5"/>
          <p:cNvSpPr/>
          <p:nvPr/>
        </p:nvSpPr>
        <p:spPr>
          <a:xfrm>
            <a:off x="731520" y="6126480"/>
            <a:ext cx="10515600" cy="365760"/>
          </a:xfrm>
          <a:prstGeom prst="rect">
            <a:avLst/>
          </a:prstGeom>
          <a:noFill/>
          <a:ln/>
        </p:spPr>
        <p:txBody>
          <a:bodyPr wrap="square"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Diana Nenu  ·  </a:t>
            </a:r>
            <a:pPr algn="ctr" indent="0" marL="0">
              <a:buNone/>
            </a:pPr>
            <a:r>
              <a:rPr lang="en-US" sz="1200" dirty="0">
                <a:solidFill>
                  <a:srgbClr val="CADCFC"/>
                </a:solidFill>
                <a:latin typeface="Calibri" pitchFamily="34" charset="0"/>
                <a:ea typeface="Calibri" pitchFamily="34" charset="-122"/>
                <a:cs typeface="Calibri" pitchFamily="34" charset="-120"/>
              </a:rPr>
              <a:t>diana_nenu@yahoo.com  ·  </a:t>
            </a:r>
            <a:pPr algn="ctr" indent="0" marL="0">
              <a:buNone/>
            </a:pPr>
            <a:r>
              <a:rPr lang="en-US" sz="1200" i="1" dirty="0">
                <a:solidFill>
                  <a:srgbClr val="CADCFC"/>
                </a:solidFill>
                <a:latin typeface="Calibri" pitchFamily="34" charset="0"/>
                <a:ea typeface="Calibri" pitchFamily="34" charset="-122"/>
                <a:cs typeface="Calibri" pitchFamily="34" charset="-120"/>
              </a:rPr>
              <a:t>Universitatea Titu Maiorescu - Master DSAI</a:t>
            </a:r>
            <a:endParaRPr lang="en-US" sz="1200" dirty="0"/>
          </a:p>
        </p:txBody>
      </p:sp>
      <p:sp>
        <p:nvSpPr>
          <p:cNvPr id="8" name="Text 6"/>
          <p:cNvSpPr/>
          <p:nvPr/>
        </p:nvSpPr>
        <p:spPr>
          <a:xfrm>
            <a:off x="10607040" y="6446520"/>
            <a:ext cx="914400" cy="274320"/>
          </a:xfrm>
          <a:prstGeom prst="rect">
            <a:avLst/>
          </a:prstGeom>
          <a:noFill/>
          <a:ln/>
        </p:spPr>
        <p:txBody>
          <a:bodyPr wrap="square" rtlCol="0" anchor="ctr"/>
          <a:lstStyle/>
          <a:p>
            <a:pPr algn="r" indent="0" marL="0">
              <a:buNone/>
            </a:pPr>
            <a:r>
              <a:rPr lang="en-US" sz="900" dirty="0">
                <a:solidFill>
                  <a:srgbClr val="CADCFC"/>
                </a:solidFill>
                <a:latin typeface="Calibri" pitchFamily="34" charset="0"/>
                <a:ea typeface="Calibri" pitchFamily="34" charset="-122"/>
                <a:cs typeface="Calibri" pitchFamily="34" charset="-120"/>
              </a:rPr>
              <a:t>15 / 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Tehnici de feature engineering pentru serii temporale, cu aplicatii in domeniul energetic - SCSS 2026</dc:title>
  <dc:subject>PptxGenJS Presentation</dc:subject>
  <dc:creator>Diana Nenu</dc:creator>
  <cp:lastModifiedBy>Diana Nenu</cp:lastModifiedBy>
  <cp:revision>1</cp:revision>
  <dcterms:created xsi:type="dcterms:W3CDTF">2026-05-15T19:25:12Z</dcterms:created>
  <dcterms:modified xsi:type="dcterms:W3CDTF">2026-05-15T19:25:12Z</dcterms:modified>
</cp:coreProperties>
</file>