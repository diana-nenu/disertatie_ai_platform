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Buna ziua. Numele meu este Diana Nenu si sunt studenta in anul 2 al programului de master Data Science si Artificial Intelligence de la Universitatea Titu Maiorescu. Lucrarea mea de disertatie propune o platforma integrata de inteligenta artificiala pentru domeniul energetic, care combina trei familii de tehnici: machine learning predictiv, optimizare neliniara, si modele de limbaj. Astazi voi prezenta o componenta esentiala a acestei lucrari - feature engineering pentru serii temporale. Voi arata trei tehnici matematice simple dar fundamentale, care transforma datele brute in features cu care modelele ML pot lucra eficient, si voi demonstra impactul lor empiric pe propriile mele rezultate.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Lucrarea mea de disertatie propune o platforma de inteligenta artificiala care prezice si optimizeaza decizii in domeniul energetic. Ca sa validez ca abordarea functioneaza in contexte diferite si nu doar pe un caz particular, am ales sa lucrez cu 3 seturi de date din 3 zone diferite ale sistemului energetic. In total, lucrez cu 30 de ani de date orare cumulate. Cele 3 seturi acopera impreuna lantul complet al sistemului energetic - cererea (consumul), pretul (piata) si productia (renewable). In urmatoarele 3 slide-uri voi explica detaliat ce contine fiecare set, la ce ne ajuta si cum contribuie la scopul final al platformei.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set descrie cererea de energie - consumul electric inregistrat orar pe 16 ani intr-o tara dezvoltata. Avem peste 140.000 de ore de date. Acest set ne ajuta modelul sa invete ritmul cererii: cum variaza consumul intre zi si noapte, intre zilele lucratoare si weekend, intre sezoane. Cu cat avem mai mult timp inregistrat, cu atat pattern-urile sunt mai bine prezise. 16 ani inseamna ca am inregistrat aproape orice scenariu - crize energetice, ierni grele, veri caniculare. Cum contribuie la scopul final: in platforma de decizie pe care o construiesc, predictia exacta a cererii viitoare este punctul de plecare. Operatorii de retea trebuie sa balanseze in timp real productia cu consumul. Daca cererea creste si productia ramane la fel, apare pana de curent. Daca scade si productia ramane mare, apare supraproductie cu costuri irecuperabile. Predictia exacta ajuta echilibrarea.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set descrie pretul energiei electrice - pretul orar pe piata libera intr-o tara europeana, inregistrat pe 4 ani. Avem peste 34.000 de ore. Setul include nu doar pretul, ci si indicatori auxiliari care explica de ce pretul fluctueaza: productia pe surse (carbune, gaz, eolian, solar, nuclear), conditii meteo, prognoze. Acest set ne ajuta sa intelegem dinamica pietei. Modelul invata cat de mult fluctueaza pretul, cum reactioneaza la dezechilibrele cerere-oferta, si - foarte interesant - cum influenteaza productia eoliana pretul (vant puternic = mai multa oferta = pret scazut). Cum contribuie la scopul final: in platforma, predictia exacta a pretului permite decizii economice optime. Companii energointensive pot decide sa amane productia pentru orele cu pret mic, baterii pot fi incarcate ieftin si descarcate scump, fermele solare pot maximiza venitul.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set descrie productia regenerabila - productia a doua centrale fotovoltaice industriale, plus masuratori de la senzori pentru iradiere solara, temperatura mediu si temperatura modul. Datele sunt inregistrate la fiecare 15 minute. Acest set ne ajuta sa intelegem cum conditiile fizice exterioare se transforma in energie produsa. Relatia este puternic neliniara - panourile au eficienta diferita la temperaturi diferite, iradierea solara variaza in functie de unghi si nori. Cum contribuie la scopul final: in platforma de decizie, predictia productiei regenerabile e cruciala pentru integrare. Anticipam orele cu surplus solar si propunem stocare in baterii sau export. Anticipam orele cu productie redusa si pregatim surse conventionale de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rezumam de ce am ales aceste 3 seturi anume. Sistemul energetic functioneaza ca o piata: pe o parte avem CEREREA (consumul), pe alta parte OFERTA (productia), iar la intersectia lor avem PRETUL. Setul 1 (consum) ne da o vedere directa asupra cererii. Setul 3 (productie regenerabila) ne da o componenta importanta a ofertei. Setul 2 (pret) este rezultatul dezechilibrului dintre cele doua. Cu cele 3 seturi impreuna, modelul are o vedere completa asupra sistemului. Asta valideaza ca tehnicile mele functioneaza nu doar pe un caz particular, ci pe toate componentele esentiale. Important pentru SCSS: tehnicile pe care le voi prezenta sunt GENERALE - functioneaza la fel pe cele 3 seturi diferite. Aceasta este o demonstratie puternica a transferabilitatii 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privim cum arata datele brute in toate cele 3 seturi. Avem doar doua coloane: un timestamp si o valoare. Datele sunt 'curate' tehnic, dar sunt complet inutilizabile pentru un model de Machine Learning clasic. Modelele ca XGBoost, Random Forest sau regresie liniara NU stiu sa interpreteze un string de tipul '2018-03-15 22:00'. Pentru ele, e doar text. Ele au nevoie de un tabel cu coloane NUMERICE INFORMATIVE - ora ca numar, ziua saptamanii ca numar, indicatori de trend, etc. Acesta este motivul fundamental pentru care nu putem pune direct datele brute intr-un model. In urmatoarele slide-uri voi arata exact ce pattern-uri sunt ascunse in date si de ce avem nevoie de feature engineering ca sa le scoatem la lumina.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datele energetice exista 4 tipuri de pattern-uri majore, pe care modelul trebuie sa le invete. Primul - sezonalitatea orara. Oamenii se trezesc dimineata si consumul creste. Seara intre 18 si 22, cu cina si iluminat, consumul atinge varful. Noaptea cand totul e inchis, consumul scade. Al doilea - ciclu saptamanal. Fabricile si birourile lucreaza luni pana vineri. In weekend, multe se opresc. Consumul industrial scade vizibil. Al treilea - autoregresivitatea. Pretul peste o ora va fi aproape sigur foarte aproape de pretul curent. Sistemul are inertie - cererea si oferta nu se schimba brusc. Al patrulea - trend si volatilitate. Pe perioade scurte exista o directie generala. Si exista volatilitatea, masura cat de instabil este sistemul. Aceste pattern-uri sunt PREZENTE in datele brute - dar sunt invizibile pentru model in forma de (timestamp, valoare). Trebuie sa le facem EXPLICITE prin features dedicate.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langa pattern-urile ascunse, exista doua capcane tehnice subtile care pot face un model sa para excelent pe hartie dar sa esueze in realitate. Prima capcana - discontinuitatile false in reprezentare. Daca codez ora ca numar liniar 0 pana la 23, modelul percepe ora 23 si ora 0 ca fiind la distanta 23. Dar fizic, ele sunt vecine. Modelul invata greu si ineficient. A doua capcana - data leakage. Daca calculez gresit un feature de medie 'plimbatoare', acel feature poate include accidental valoarea-tinta pe care vrem sa o prezicem. Modelul 'vede' raspunsul si obtine performanta aparent excelenta, dar este COMPLET INUTIL in productie pentru ca acolo nu putem cunoaste viitorul. De ce sunt periculoase aceste capcane: modelele construite cu ele arata extraordinar la evaluare - R² peste 0.99, eroare procentuala sub 1%. Toata lumea e fericita. Apoi modelul intra in productie si esueaza catastrofal. In urmatoarele slide-uri voi prezenta cele 3 tehnici care evita aceste capcane si ne dau features cinstite si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a rezolva problemele pe care le-am prezentat, folosim trei tehnici de feature engineering complementare. Prima - encoding ciclic. Raspunde la intrebarea: cum reprezentam timpul ca modelul sa-l inteleaga corect? Solutia: asezam orele pe un cerc trigonometric folosind functiile sin si cos. A doua - lag features. Raspunde la intrebarea: cum dam modelului memorie despre trecut? Solutia: adaugam coloane care contin valoarea de acum o ora, acum 24 de ore, acum o saptamana. A treia - rolling features. Raspunde la intrebarea: cum spunem modelului ce trend recent este? Solutia: calculam media si deviatia pe o fereastra alunecatoare, ATENTIE cu metoda corecta sa evitam data leakage. In urmatoarele 8 slide-uri voi explica fiecare tehnica in detaliu - ce problema rezolva, cum functioneaza matematic, si cum ne ajuta in practica.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concretizam prima problema cu un exemplu real - consumul tipic intr-o zi. In stanga vedem profilul orar - maxim seara, minim noaptea. Ora 23 si ora 0 au consum aproape identic (ambele noaptea, lume doarme). Daca codificam ora ca numar liniar - 0, 1, 2, pana la 23 - modelul vede o saritura uriasa intre ora 23 si ora 0 (distanta 23 unitati), desi fizic sunt vecine. In dreapta vedem solutia - cand asezam orele pe un cerc, 23 si 0 devin vecine, exact cum sunt fizic. Aceasta intelegere ne ghideaza spre o solutie matematica: avem nevoie de o reprezentare care sa pastreze natura ciclica a timpului. Cu alte cuvinte, avem nevoie de cercul orelor.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Inainte sa aplicam solutia, sa ne reamintim pe scurt ce sunt functiile sin si cos. Sin si cos sunt coordonatele (x, y) ale unui punct pe cercul unitate. Cand unghiul creste de la 0 la 2 pi, punctul parcurge un cerc complet. Trei proprietati sunt esentiale pentru noi: Periodicitatea - dupa 2 pi functiile se repeta identic. Asta inseamna ca daca mapam orele 0-23 in unghiuri 0 la 2 pi, fiecare zi se repeta natural - exact ce ne trebuie pentru cicluri. Continuitatea - nu exista salturi. Doi ora consecutive vor avea valori sin si cos foarte apropiate. Identificarea unica - daca am folosi doar sin, ora 1 si ora 11 ar avea aproape aceeasi valoare. Doar combinatia sin + cos identifica unic un punct pe cerc. De aceea NU folosim o singura coloana, ci doua.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Solutia este sa inlocuim coloana 'ora' cu DOUA coloane noi: hour_sin si hour_cos, calculate prin formula trigonometrica. Asta inseamna ca pentru fiecare ora din dataset, punem doua valori care impreuna localizeaza pozitia ei pe un cerc cu raza 1. Cum ne ajuta concret aceasta solutie? Prima imbunatatire: ora 23 si ora 0 redevin vecine. Pe cerc, distanta euclidiana intre cele doua puncte este 0.27, nu 23 ca in reprezentarea liniara. Modelul nu mai vede o discontinuitate falsa. A doua: modelul invata mai usor pattern-urile orare. Cu reprezentarea liniara, modelul trebuie sa invete o regula complicata 'cand ora trece de la 23 la 0, comportamentul se inverseaza'. Cu cercul, asta se invata natural. A treia: aceeasi tehnica functioneaza si pentru alte variabile ciclice - ziua saptamanii, luna anului, ziua din an. In dreapta vedeti animatia care arata cum ora calatoreste pe cerc. Treceti cu privirea de la 22 la 23 la 0 la 1 - punctul se misca lin, fara nicio sariutra.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Inainte sa introducem lag features, sa intelegem fundamentul teoretic - autoregresivitatea. Definitia simpla: o serie temporala este autoregresiva daca valorile ei viitoare pot fi prezise folosind propriile valori trecute. Cel mai simplu model matematic se numeste AR(1) si arata asa: valoarea la momentul t este combinatie intre o constanta c, valoarea anterioara y(t-1) inmultita cu un coeficient phi, si un zgomot aleator epsilon. Coeficientul phi masoara puterea autoregresivitatii. Daca phi este aproape de 1, seria este puternic autoregresiva - trecutul prezice excelent viitorul. Daca phi e aproape de 0, seria este zgomot pur - trecutul nu spune nimic. Pe datele energetice reale, corelatia pret(t) cu pret(t-1) este aproape 0.99. Asta inseamna ca pretul de acum o ora este de departe cel mai bun predictor pentru pretul peste o ora. In dreapta vedeti animatia: pe masura ce phi creste de la 0 la 0.99, scatter-ul t-1 vs t se aliniaza pe diagonala - autoregresivitatea creste in fata ochilor.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Acum sa vedem cum aplicam autoregresivitatea in practica - prin lag features. Implementarea in Python este foarte simpla: functia shift din pandas muta coloana cu un numar de pozitii. Lag_1 contine valoarea de acum o ora - memoria foarte scurta. Lag_24 contine valoarea de acum 24 de ore - acelasi moment ieri, captureaza ritmul zilnic. Lag_168 contine valoarea de acum 168 de ore, adica 7 zile - acelasi moment saptamana trecuta, captureaza ritmul saptamanal. Cum ne ajuta concret aceasta tehnica: pe modelul XGBoost antrenat pe consumul SUA in cadrul disertatiei mele, am descoperit ca feature-ul lag_1 explica peste 90% din decizia modelului. Toate celelalte 28 de features pe care le-am construit explica impreuna doar 10%. Acesta este unul dintre cele mai puternice rezultate ale lucrarii mele: pe serii energetice cu autoregresivitate puternica, lag_1 este DE DEPARTE cel mai important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treia tehnica - rolling features. Lag-urile pe care le-am vazut dau puncte exacte din trecut. Dar uneori un singur punct poate fi atipic - poate o anomalie sau o eroare de masurare. Mai bine combinam mai multe valori recente intr-o statistica agregata. Folosim doua statistici principale: Rolling mean - media pe ultimele N ore. Captureaza directia generala. Daca media ultimelor 24 ore este ridicata, pretul actual este probabil tot ridicat. Filtreaza zgomotul punctual. Rolling std - deviatia standard pe aceleasi ore. Captureaza volatilitatea. Volatilitate mare inseamna piata sub presiune, valorile pot fluctua mult. Modelul stie sa fie mai prudent in aceste perioade. Cum ne ajuta concret: combinatia mean + std da o reprezentare bogata a starii recente a sistemului. Modelul nu se uita doar la un singur punct, ci la tot contextul. ATENTIE - codul de pe slide contine deja .shift(1). FARA el, apare o problema critica de data leakage. Vom vedea in urmatorul slide ce se intampla.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Acesta este momentul cel mai important al prezentarii - showpiece-ul tehnic. Sa privim animatia care alterneaza intre cele 2 variante. VARIANTA GRESITA: cand calculez rolling mean fara shift, media la momentul t include valorile de la t-2, t-1 SI t. Modelul vede deja valoarea pe care vrem sa o prezicem - data leakage. R-patrat aparent 0.93. VARIANTA CORECTA: cand pun shift(1) inainte de rolling, media include doar t-3, t-2, t-1 - DOAR trecutul. Feature-ul este cinstit. R-patrat realistic 0.74. Diferenta de 0.18 in R-patrat este diferenta intre un model care arata bine pe hartie si esueaza in productie, si un model care performeaza consistent in lumea reala. De ce e periculos modelul fara shift? In productie, la momentul t, nu cunoastem valoarea de la t - exact pe ea o prezicem. Deci feature-ul nu poate fi calculat real-time. Modelul antrenat pe asa ceva este MATEMATIC CORECT dar OPERATIONAL INUTIL. Acest detaliu - un singur shift(1) - este genul de capcana pe care literatura tehnica nu o evidentiaza dar care decide intre proiecte reusite si esecuri.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vedem cum cele 3 tehnici se completeaza. In acest grafic vedeti pretul real in albastru. Cu portocaliu, lag_1 - copia decalata, urmareste cu un pas de decalaj. Cu verde, rolling mean 24 - o linie mai neteda care arata trend-ul de fond. Cele 3 perspective sunt complementare. Lag-ul spune 'unde era acum'. Rolling spune 'unde a fost in medie recent'. Encoding ciclic spune 'unde suntem in ciclurile temporale'. Cand le combinam, modelul XGBoost are toate ingredientele de care are nevoie: memorie precisa, context agregat, si pozitia in cicluri. Este setul minimal de features pentru predictie pe orice serie temporala - validat empiric pe cele 3 seturi diferite din lucrarea mea.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vedem rezultatele empirice. Am aplicat cele 3 tehnici pe setul 2 (pretul Spania), care are 34.896 ore pe 4 ani. Am antrenat 7 modele in paralel cu validare cronologica. Castigatorul este XGBoost cu R-patrat 0.968 si eroare medie patratica 2.07 EUR/MWh. Dar observatia cheie este alta: TOATE modelele clasice obtin R-patrat peste 0.94. Diferenta intre cel mai slab (LinearRegression cu 0.947) si cel mai bun (XGBoost cu 0.968) este doar 2 procente. Ce inseamna asta? Ca pe time series, ALEGEREA MODELULUI conteaza mai putin decat CALITATEA FEATURES-URILOR. Daca features-urile sunt construite corect cu cele 3 tehnici, aproape orice model performeaza bine. LSTM-ul are R-patrat negativ doar pentru ca l-am rulat in mod demo cu 1000 randuri - va recupera cu mai multe date. Acesta este unul dintre cele mai importante rezultate practice ale lucrarii mele.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rezumam in puncte cheie. Prima concluzie: feature engineering este mai important decat selectia modelului pe time series. Pe pretul Spania, toate cele 6 modele clasice au obtinut scoruri foarte apropiate - diferenta minima. Ce a contat au fost cele 3 tehnici de feature engineering aplicate corect. Asta este un principiu fundamental pentru orice profesionist Data Science. A doua concluzie: detaliile tehnice fac diferenta intre cinstit si fals. Un simplu shift(1) este diferenta intre un model care arata bine si esueaza si un model care performeaza consistent. Aceasta capcana este subestimata in tutoriale dar fundamentala in practica.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treia concluzie: tehnicile sunt universal aplicabile. Encoding ciclic, lag features si rolling features functioneaza la fel pe consum, pret, si productie solara. Sunt un fundament metodologic care se transfera intre domenii. Care sunt pasii urmatori in lucrarea de disertatie? Primul: aplicarea acelorasi tehnici pe setul de productie solara - sesiunea 3. Al doilea: integrarea optimizarii neliniare pentru recomandari prescriptive - capitolul de optimizare. Al treilea: integrarea unui Large Language Model care transforma rezultatele in explicatii in limbaj natural. Al patrulea: deployment in cloud cu Streamlit pentru o aplicatie completa de decizie. Tehnica pe care am prezentat-o astazi este blocul de baza pe care se construieste intreaga platforma.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 multumesc pentru atentie. Aceasta a fost prezentarea celor trei tehnici de feature engineering pentru serii temporale, asa cum le-am implementat eu in lucrarea de disertatie pentru domeniul energetic. Trei idei de retinut: encoding ciclic transforma orele liniare in pozitii pe cerc - 23 si 0 redevin vecine. Lag features dau modelului memorie scurta - lag_1 explica peste 90% din decizia modelului pe consum. Rolling features cu shift(1) sunt diferenta intre cinstit si fals. Astept acum intrebarile dumneavoastra. Intrebari posibile pe care le-am pregatit: 1. De ce nu folosesti deep learning direct? Raspuns: am incercat LSTM, dar pe pretul Spania XGBoost cu features-urile mele il bate. Plus XGBoost se antreneaza in secunde, LSTM in zeci de minute. 2. De ce numar de ore in lag? Raspuns: lag 1 - memoria foarte scurta, lag 24 - acelasi moment ieri, lag 168 - acelasi moment saptamana trecuta. Sunt valori canonice. 3. Cum tratezi NaN-urile? Raspuns: shift(168) creeaza 168 NaN-uri la inceputul seriei. Le elimin cu .dropna() inainte de antrenare. 4. Cum se transfera pe productie solara? Raspuns: aceleasi tehnici, dar lag-urile relevante difera - productia solara are periodicitate zilnica puternica (lag_24) si nu saptamanala. Voi calibra in sesiunea 3 a lucrarii.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1828800" y="-1828800"/>
            <a:ext cx="4114800" cy="4114800"/>
          </a:xfrm>
          <a:prstGeom prst="ellipse">
            <a:avLst/>
          </a:prstGeom>
          <a:solidFill>
            <a:srgbClr val="4338CA">
              <a:alpha val="50000"/>
            </a:srgbClr>
          </a:solidFill>
          <a:ln w="12700">
            <a:solidFill>
              <a:srgbClr val="4338CA"/>
            </a:solidFill>
            <a:prstDash val="solid"/>
          </a:ln>
        </p:spPr>
      </p:sp>
      <p:sp>
        <p:nvSpPr>
          <p:cNvPr id="3" name="Shape 1"/>
          <p:cNvSpPr/>
          <p:nvPr/>
        </p:nvSpPr>
        <p:spPr>
          <a:xfrm>
            <a:off x="10332720" y="5029200"/>
            <a:ext cx="4572000" cy="4572000"/>
          </a:xfrm>
          <a:prstGeom prst="ellipse">
            <a:avLst/>
          </a:prstGeom>
          <a:solidFill>
            <a:srgbClr val="EC4899">
              <a:alpha val="30000"/>
            </a:srgbClr>
          </a:solidFill>
          <a:ln w="12700">
            <a:solidFill>
              <a:srgbClr val="EC4899">
                <a:alpha val="30000"/>
              </a:srgbClr>
            </a:solidFill>
            <a:prstDash val="solid"/>
          </a:ln>
        </p:spPr>
      </p:sp>
      <p:sp>
        <p:nvSpPr>
          <p:cNvPr id="4" name="Shape 2"/>
          <p:cNvSpPr/>
          <p:nvPr/>
        </p:nvSpPr>
        <p:spPr>
          <a:xfrm>
            <a:off x="0" y="0"/>
            <a:ext cx="274320" cy="6858000"/>
          </a:xfrm>
          <a:prstGeom prst="rect">
            <a:avLst/>
          </a:prstGeom>
          <a:solidFill>
            <a:srgbClr val="FBBF24"/>
          </a:solidFill>
          <a:ln w="12700">
            <a:solidFill>
              <a:srgbClr val="FBBF24"/>
            </a:solidFill>
            <a:prstDash val="solid"/>
          </a:ln>
        </p:spPr>
      </p:sp>
      <p:sp>
        <p:nvSpPr>
          <p:cNvPr id="5" name="Text 3"/>
          <p:cNvSpPr/>
          <p:nvPr/>
        </p:nvSpPr>
        <p:spPr>
          <a:xfrm>
            <a:off x="822960" y="1005840"/>
            <a:ext cx="10515600" cy="457200"/>
          </a:xfrm>
          <a:prstGeom prst="rect">
            <a:avLst/>
          </a:prstGeom>
          <a:noFill/>
          <a:ln/>
        </p:spPr>
        <p:txBody>
          <a:bodyPr wrap="square" rtlCol="0" anchor="ctr"/>
          <a:lstStyle/>
          <a:p>
            <a:pPr indent="0" marL="0">
              <a:buNone/>
            </a:pPr>
            <a:r>
              <a:rPr lang="en-US" sz="1500" b="1" spc="1000" kern="0" dirty="0">
                <a:solidFill>
                  <a:srgbClr val="FBBF24"/>
                </a:solidFill>
                <a:latin typeface="Calibri" pitchFamily="34" charset="0"/>
                <a:ea typeface="Calibri" pitchFamily="34" charset="-122"/>
                <a:cs typeface="Calibri" pitchFamily="34" charset="-120"/>
              </a:rPr>
              <a:t>SESIUNE COMUNICARI STIINTIFICE  •  MAI 2026</a:t>
            </a:r>
            <a:endParaRPr lang="en-US" sz="1500" dirty="0"/>
          </a:p>
        </p:txBody>
      </p:sp>
      <p:sp>
        <p:nvSpPr>
          <p:cNvPr id="6" name="Text 4"/>
          <p:cNvSpPr/>
          <p:nvPr/>
        </p:nvSpPr>
        <p:spPr>
          <a:xfrm>
            <a:off x="822960" y="1828800"/>
            <a:ext cx="10515600" cy="2286000"/>
          </a:xfrm>
          <a:prstGeom prst="rect">
            <a:avLst/>
          </a:prstGeom>
          <a:noFill/>
          <a:ln/>
        </p:spPr>
        <p:txBody>
          <a:bodyPr wrap="square" rtlCol="0" anchor="ctr"/>
          <a:lstStyle/>
          <a:p>
            <a:pPr indent="0" marL="0">
              <a:lnSpc>
                <a:spcPct val="100000"/>
              </a:lnSpc>
              <a:buNone/>
            </a:pPr>
            <a:r>
              <a:rPr lang="en-US" sz="5000" b="1" dirty="0">
                <a:solidFill>
                  <a:srgbClr val="FFFFFF"/>
                </a:solidFill>
                <a:latin typeface="Calibri" pitchFamily="34" charset="0"/>
                <a:ea typeface="Calibri" pitchFamily="34" charset="-122"/>
                <a:cs typeface="Calibri" pitchFamily="34" charset="-120"/>
              </a:rPr>
              <a:t>Tehnici de feature engineering</a:t>
            </a:r>
            <a:endParaRPr lang="en-US" sz="5000" dirty="0"/>
          </a:p>
          <a:p>
            <a:pPr indent="0" marL="0">
              <a:lnSpc>
                <a:spcPct val="100000"/>
              </a:lnSpc>
              <a:buNone/>
            </a:pPr>
            <a:r>
              <a:rPr lang="en-US" sz="5000" b="1" dirty="0">
                <a:solidFill>
                  <a:srgbClr val="FFFFFF"/>
                </a:solidFill>
                <a:latin typeface="Calibri" pitchFamily="34" charset="0"/>
                <a:ea typeface="Calibri" pitchFamily="34" charset="-122"/>
                <a:cs typeface="Calibri" pitchFamily="34" charset="-120"/>
              </a:rPr>
              <a:t>pentru serii temporale</a:t>
            </a:r>
            <a:endParaRPr lang="en-US" sz="5000" dirty="0"/>
          </a:p>
        </p:txBody>
      </p:sp>
      <p:sp>
        <p:nvSpPr>
          <p:cNvPr id="7" name="Text 5"/>
          <p:cNvSpPr/>
          <p:nvPr/>
        </p:nvSpPr>
        <p:spPr>
          <a:xfrm>
            <a:off x="822960" y="4114800"/>
            <a:ext cx="10515600" cy="640080"/>
          </a:xfrm>
          <a:prstGeom prst="rect">
            <a:avLst/>
          </a:prstGeom>
          <a:noFill/>
          <a:ln/>
        </p:spPr>
        <p:txBody>
          <a:bodyPr wrap="square" rtlCol="0" anchor="ctr"/>
          <a:lstStyle/>
          <a:p>
            <a:pPr indent="0" marL="0">
              <a:buNone/>
            </a:pPr>
            <a:r>
              <a:rPr lang="en-US" sz="2400" i="1" dirty="0">
                <a:solidFill>
                  <a:srgbClr val="A5B4FC"/>
                </a:solidFill>
                <a:latin typeface="Calibri" pitchFamily="34" charset="0"/>
                <a:ea typeface="Calibri" pitchFamily="34" charset="-122"/>
                <a:cs typeface="Calibri" pitchFamily="34" charset="-120"/>
              </a:rPr>
              <a:t>Cu aplicatii in domeniul energetic</a:t>
            </a:r>
            <a:endParaRPr lang="en-US" sz="2400" dirty="0"/>
          </a:p>
        </p:txBody>
      </p:sp>
      <p:sp>
        <p:nvSpPr>
          <p:cNvPr id="8" name="Shape 6"/>
          <p:cNvSpPr/>
          <p:nvPr/>
        </p:nvSpPr>
        <p:spPr>
          <a:xfrm>
            <a:off x="822960" y="5029200"/>
            <a:ext cx="2286000" cy="54864"/>
          </a:xfrm>
          <a:prstGeom prst="rect">
            <a:avLst/>
          </a:prstGeom>
          <a:solidFill>
            <a:srgbClr val="FBBF24"/>
          </a:solidFill>
          <a:ln w="12700">
            <a:solidFill>
              <a:srgbClr val="FBBF24"/>
            </a:solidFill>
            <a:prstDash val="solid"/>
          </a:ln>
        </p:spPr>
      </p:sp>
      <p:sp>
        <p:nvSpPr>
          <p:cNvPr id="9" name="Text 7"/>
          <p:cNvSpPr/>
          <p:nvPr/>
        </p:nvSpPr>
        <p:spPr>
          <a:xfrm>
            <a:off x="822960" y="5212080"/>
            <a:ext cx="10515600" cy="1371600"/>
          </a:xfrm>
          <a:prstGeom prst="rect">
            <a:avLst/>
          </a:prstGeom>
          <a:noFill/>
          <a:ln/>
        </p:spPr>
        <p:txBody>
          <a:bodyPr wrap="square"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Diana Nenu</a:t>
            </a:r>
            <a:endParaRPr lang="en-US" sz="2400" dirty="0"/>
          </a:p>
          <a:p>
            <a:pPr indent="0" marL="0">
              <a:buNone/>
            </a:pPr>
            <a:r>
              <a:rPr lang="en-US" sz="1500" dirty="0">
                <a:solidFill>
                  <a:srgbClr val="A5B4FC"/>
                </a:solidFill>
                <a:latin typeface="Calibri" pitchFamily="34" charset="0"/>
                <a:ea typeface="Calibri" pitchFamily="34" charset="-122"/>
                <a:cs typeface="Calibri" pitchFamily="34" charset="-120"/>
              </a:rPr>
              <a:t>Universitatea Titu Maiorescu  -  Master Data Science &amp; Artificial Intelligence</a:t>
            </a:r>
            <a:endParaRPr lang="en-US" sz="2400" dirty="0"/>
          </a:p>
          <a:p>
            <a:pPr indent="0" marL="0">
              <a:buNone/>
            </a:pPr>
            <a:r>
              <a:rPr lang="en-US" sz="1500" dirty="0">
                <a:solidFill>
                  <a:srgbClr val="A5B4FC"/>
                </a:solidFill>
                <a:latin typeface="Calibri" pitchFamily="34" charset="0"/>
                <a:ea typeface="Calibri" pitchFamily="34" charset="-122"/>
                <a:cs typeface="Calibri" pitchFamily="34" charset="-120"/>
              </a:rPr>
              <a:t>Lucrare de disertatie - sesiune 2026</a:t>
            </a:r>
            <a:endParaRPr lang="en-US" sz="2400" dirty="0"/>
          </a:p>
        </p:txBody>
      </p:sp>
    </p:spTree>
  </p:cSld>
  <p:transition xmlns:p="http://schemas.openxmlformats.org/presentationml/2006/main" spd="med">
    <p:fade/>
  </p:transition>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CADRU GENERAL</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Contextul lucrarii de disertatie</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Text 4"/>
          <p:cNvSpPr/>
          <p:nvPr/>
        </p:nvSpPr>
        <p:spPr>
          <a:xfrm>
            <a:off x="548640" y="1920240"/>
            <a:ext cx="11064240" cy="914400"/>
          </a:xfrm>
          <a:prstGeom prst="rect">
            <a:avLst/>
          </a:prstGeom>
          <a:noFill/>
          <a:ln/>
        </p:spPr>
        <p:txBody>
          <a:bodyPr wrap="square" rtlCol="0" anchor="ctr"/>
          <a:lstStyle/>
          <a:p>
            <a:pPr indent="0" marL="0">
              <a:buNone/>
            </a:pPr>
            <a:r>
              <a:rPr lang="en-US" sz="1900" dirty="0">
                <a:solidFill>
                  <a:srgbClr val="334155"/>
                </a:solidFill>
                <a:latin typeface="Calibri" pitchFamily="34" charset="0"/>
                <a:ea typeface="Calibri" pitchFamily="34" charset="-122"/>
                <a:cs typeface="Calibri" pitchFamily="34" charset="-120"/>
              </a:rPr>
              <a:t>Lucrarea propune o platforma de inteligenta artificiala care prezice si optimizeaza decizii in domeniul energetic. Pentru a valida ca abordarea este robusta si transferabila intre contexte diferite, am folosit</a:t>
            </a:r>
            <a:endParaRPr lang="en-US" sz="1900" dirty="0"/>
          </a:p>
        </p:txBody>
      </p:sp>
      <p:sp>
        <p:nvSpPr>
          <p:cNvPr id="7" name="Shape 5"/>
          <p:cNvSpPr/>
          <p:nvPr/>
        </p:nvSpPr>
        <p:spPr>
          <a:xfrm>
            <a:off x="548640" y="3291840"/>
            <a:ext cx="3611880" cy="2194560"/>
          </a:xfrm>
          <a:prstGeom prst="rect">
            <a:avLst/>
          </a:prstGeom>
          <a:solidFill>
            <a:srgbClr val="FFFFFF"/>
          </a:solidFill>
          <a:ln w="38100">
            <a:solidFill>
              <a:srgbClr val="6366F1"/>
            </a:solidFill>
            <a:prstDash val="solid"/>
          </a:ln>
        </p:spPr>
      </p:sp>
      <p:sp>
        <p:nvSpPr>
          <p:cNvPr id="8" name="Text 6"/>
          <p:cNvSpPr/>
          <p:nvPr/>
        </p:nvSpPr>
        <p:spPr>
          <a:xfrm>
            <a:off x="548640" y="3429000"/>
            <a:ext cx="3611880" cy="1188720"/>
          </a:xfrm>
          <a:prstGeom prst="rect">
            <a:avLst/>
          </a:prstGeom>
          <a:noFill/>
          <a:ln/>
        </p:spPr>
        <p:txBody>
          <a:bodyPr wrap="square" rtlCol="0" anchor="ctr"/>
          <a:lstStyle/>
          <a:p>
            <a:pPr algn="ctr" indent="0" marL="0">
              <a:buNone/>
            </a:pPr>
            <a:r>
              <a:rPr lang="en-US" sz="5600" b="1" dirty="0">
                <a:solidFill>
                  <a:srgbClr val="6366F1"/>
                </a:solidFill>
                <a:latin typeface="Calibri" pitchFamily="34" charset="0"/>
                <a:ea typeface="Calibri" pitchFamily="34" charset="-122"/>
                <a:cs typeface="Calibri" pitchFamily="34" charset="-120"/>
              </a:rPr>
              <a:t>3</a:t>
            </a:r>
            <a:endParaRPr lang="en-US" sz="5600" dirty="0"/>
          </a:p>
        </p:txBody>
      </p:sp>
      <p:sp>
        <p:nvSpPr>
          <p:cNvPr id="9" name="Text 7"/>
          <p:cNvSpPr/>
          <p:nvPr/>
        </p:nvSpPr>
        <p:spPr>
          <a:xfrm>
            <a:off x="548640" y="4572000"/>
            <a:ext cx="3611880" cy="914400"/>
          </a:xfrm>
          <a:prstGeom prst="rect">
            <a:avLst/>
          </a:prstGeom>
          <a:noFill/>
          <a:ln/>
        </p:spPr>
        <p:txBody>
          <a:bodyPr wrap="square" rtlCol="0" anchor="t"/>
          <a:lstStyle/>
          <a:p>
            <a:pPr algn="ctr" indent="0" marL="0">
              <a:buNone/>
            </a:pPr>
            <a:r>
              <a:rPr lang="en-US" sz="1600" dirty="0">
                <a:solidFill>
                  <a:srgbClr val="334155"/>
                </a:solidFill>
                <a:latin typeface="Calibri" pitchFamily="34" charset="0"/>
                <a:ea typeface="Calibri" pitchFamily="34" charset="-122"/>
                <a:cs typeface="Calibri" pitchFamily="34" charset="-120"/>
              </a:rPr>
              <a:t>seturi de date</a:t>
            </a:r>
            <a:endParaRPr lang="en-US" sz="1600" dirty="0"/>
          </a:p>
        </p:txBody>
      </p:sp>
      <p:sp>
        <p:nvSpPr>
          <p:cNvPr id="10" name="Shape 8"/>
          <p:cNvSpPr/>
          <p:nvPr/>
        </p:nvSpPr>
        <p:spPr>
          <a:xfrm>
            <a:off x="4251960" y="3291840"/>
            <a:ext cx="3611880" cy="2194560"/>
          </a:xfrm>
          <a:prstGeom prst="rect">
            <a:avLst/>
          </a:prstGeom>
          <a:solidFill>
            <a:srgbClr val="FFFFFF"/>
          </a:solidFill>
          <a:ln w="38100">
            <a:solidFill>
              <a:srgbClr val="EC4899"/>
            </a:solidFill>
            <a:prstDash val="solid"/>
          </a:ln>
        </p:spPr>
      </p:sp>
      <p:sp>
        <p:nvSpPr>
          <p:cNvPr id="11" name="Text 9"/>
          <p:cNvSpPr/>
          <p:nvPr/>
        </p:nvSpPr>
        <p:spPr>
          <a:xfrm>
            <a:off x="4251960" y="3429000"/>
            <a:ext cx="3611880" cy="1188720"/>
          </a:xfrm>
          <a:prstGeom prst="rect">
            <a:avLst/>
          </a:prstGeom>
          <a:noFill/>
          <a:ln/>
        </p:spPr>
        <p:txBody>
          <a:bodyPr wrap="square" rtlCol="0" anchor="ctr"/>
          <a:lstStyle/>
          <a:p>
            <a:pPr algn="ctr" indent="0" marL="0">
              <a:buNone/>
            </a:pPr>
            <a:r>
              <a:rPr lang="en-US" sz="5600" b="1" dirty="0">
                <a:solidFill>
                  <a:srgbClr val="EC4899"/>
                </a:solidFill>
                <a:latin typeface="Calibri" pitchFamily="34" charset="0"/>
                <a:ea typeface="Calibri" pitchFamily="34" charset="-122"/>
                <a:cs typeface="Calibri" pitchFamily="34" charset="-120"/>
              </a:rPr>
              <a:t>30 ani</a:t>
            </a:r>
            <a:endParaRPr lang="en-US" sz="5600" dirty="0"/>
          </a:p>
        </p:txBody>
      </p:sp>
      <p:sp>
        <p:nvSpPr>
          <p:cNvPr id="12" name="Text 10"/>
          <p:cNvSpPr/>
          <p:nvPr/>
        </p:nvSpPr>
        <p:spPr>
          <a:xfrm>
            <a:off x="4251960" y="4572000"/>
            <a:ext cx="3611880" cy="914400"/>
          </a:xfrm>
          <a:prstGeom prst="rect">
            <a:avLst/>
          </a:prstGeom>
          <a:noFill/>
          <a:ln/>
        </p:spPr>
        <p:txBody>
          <a:bodyPr wrap="square" rtlCol="0" anchor="t"/>
          <a:lstStyle/>
          <a:p>
            <a:pPr algn="ctr" indent="0" marL="0">
              <a:buNone/>
            </a:pPr>
            <a:r>
              <a:rPr lang="en-US" sz="1600" dirty="0">
                <a:solidFill>
                  <a:srgbClr val="334155"/>
                </a:solidFill>
                <a:latin typeface="Calibri" pitchFamily="34" charset="0"/>
                <a:ea typeface="Calibri" pitchFamily="34" charset="-122"/>
                <a:cs typeface="Calibri" pitchFamily="34" charset="-120"/>
              </a:rPr>
              <a:t>de date orare cumulate</a:t>
            </a:r>
            <a:endParaRPr lang="en-US" sz="1600" dirty="0"/>
          </a:p>
        </p:txBody>
      </p:sp>
      <p:sp>
        <p:nvSpPr>
          <p:cNvPr id="13" name="Shape 11"/>
          <p:cNvSpPr/>
          <p:nvPr/>
        </p:nvSpPr>
        <p:spPr>
          <a:xfrm>
            <a:off x="7955280" y="3291840"/>
            <a:ext cx="3611880" cy="2194560"/>
          </a:xfrm>
          <a:prstGeom prst="rect">
            <a:avLst/>
          </a:prstGeom>
          <a:solidFill>
            <a:srgbClr val="FFFFFF"/>
          </a:solidFill>
          <a:ln w="38100">
            <a:solidFill>
              <a:srgbClr val="FBBF24"/>
            </a:solidFill>
            <a:prstDash val="solid"/>
          </a:ln>
        </p:spPr>
      </p:sp>
      <p:sp>
        <p:nvSpPr>
          <p:cNvPr id="14" name="Text 12"/>
          <p:cNvSpPr/>
          <p:nvPr/>
        </p:nvSpPr>
        <p:spPr>
          <a:xfrm>
            <a:off x="7955280" y="3429000"/>
            <a:ext cx="3611880" cy="1188720"/>
          </a:xfrm>
          <a:prstGeom prst="rect">
            <a:avLst/>
          </a:prstGeom>
          <a:noFill/>
          <a:ln/>
        </p:spPr>
        <p:txBody>
          <a:bodyPr wrap="square" rtlCol="0" anchor="ctr"/>
          <a:lstStyle/>
          <a:p>
            <a:pPr algn="ctr" indent="0" marL="0">
              <a:buNone/>
            </a:pPr>
            <a:r>
              <a:rPr lang="en-US" sz="5600" b="1" dirty="0">
                <a:solidFill>
                  <a:srgbClr val="FBBF24"/>
                </a:solidFill>
                <a:latin typeface="Calibri" pitchFamily="34" charset="0"/>
                <a:ea typeface="Calibri" pitchFamily="34" charset="-122"/>
                <a:cs typeface="Calibri" pitchFamily="34" charset="-120"/>
              </a:rPr>
              <a:t>3 contexte</a:t>
            </a:r>
            <a:endParaRPr lang="en-US" sz="5600" dirty="0"/>
          </a:p>
        </p:txBody>
      </p:sp>
      <p:sp>
        <p:nvSpPr>
          <p:cNvPr id="15" name="Text 13"/>
          <p:cNvSpPr/>
          <p:nvPr/>
        </p:nvSpPr>
        <p:spPr>
          <a:xfrm>
            <a:off x="7955280" y="4572000"/>
            <a:ext cx="3611880" cy="914400"/>
          </a:xfrm>
          <a:prstGeom prst="rect">
            <a:avLst/>
          </a:prstGeom>
          <a:noFill/>
          <a:ln/>
        </p:spPr>
        <p:txBody>
          <a:bodyPr wrap="square" rtlCol="0" anchor="t"/>
          <a:lstStyle/>
          <a:p>
            <a:pPr algn="ctr" indent="0" marL="0">
              <a:buNone/>
            </a:pPr>
            <a:r>
              <a:rPr lang="en-US" sz="1600" dirty="0">
                <a:solidFill>
                  <a:srgbClr val="334155"/>
                </a:solidFill>
                <a:latin typeface="Calibri" pitchFamily="34" charset="0"/>
                <a:ea typeface="Calibri" pitchFamily="34" charset="-122"/>
                <a:cs typeface="Calibri" pitchFamily="34" charset="-120"/>
              </a:rPr>
              <a:t>diferite ale sistemului energetic</a:t>
            </a:r>
            <a:endParaRPr lang="en-US" sz="1600" dirty="0"/>
          </a:p>
        </p:txBody>
      </p:sp>
      <p:sp>
        <p:nvSpPr>
          <p:cNvPr id="16" name="Text 14"/>
          <p:cNvSpPr/>
          <p:nvPr/>
        </p:nvSpPr>
        <p:spPr>
          <a:xfrm>
            <a:off x="548640" y="5669280"/>
            <a:ext cx="11064240" cy="365760"/>
          </a:xfrm>
          <a:prstGeom prst="rect">
            <a:avLst/>
          </a:prstGeom>
          <a:noFill/>
          <a:ln/>
        </p:spPr>
        <p:txBody>
          <a:bodyPr wrap="square" rtlCol="0" anchor="ctr"/>
          <a:lstStyle/>
          <a:p>
            <a:pPr algn="ctr" indent="0" marL="0">
              <a:buNone/>
            </a:pPr>
            <a:r>
              <a:rPr lang="en-US" sz="1600" b="1" i="1" dirty="0">
                <a:solidFill>
                  <a:srgbClr val="6366F1"/>
                </a:solidFill>
                <a:latin typeface="Calibri" pitchFamily="34" charset="0"/>
                <a:ea typeface="Calibri" pitchFamily="34" charset="-122"/>
                <a:cs typeface="Calibri" pitchFamily="34" charset="-120"/>
              </a:rPr>
              <a:t>Cele 3 seturi acopera impreuna lantul complet: cererea, pretul si productia.</a:t>
            </a:r>
            <a:endParaRPr lang="en-US" sz="1600" dirty="0"/>
          </a:p>
        </p:txBody>
      </p:sp>
      <p:sp>
        <p:nvSpPr>
          <p:cNvPr id="17" name="Text 15"/>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8" name="Text 16"/>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2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DATE DESPRE CERERE</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Setul 1: Cererea de energie (consumul)</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548640" y="1783080"/>
            <a:ext cx="1371600" cy="1371600"/>
          </a:xfrm>
          <a:prstGeom prst="ellipse">
            <a:avLst/>
          </a:prstGeom>
          <a:solidFill>
            <a:srgbClr val="6366F1"/>
          </a:solidFill>
          <a:ln w="12700">
            <a:solidFill>
              <a:srgbClr val="6366F1"/>
            </a:solidFill>
            <a:prstDash val="solid"/>
          </a:ln>
        </p:spPr>
      </p:sp>
      <p:sp>
        <p:nvSpPr>
          <p:cNvPr id="7" name="Text 5"/>
          <p:cNvSpPr/>
          <p:nvPr/>
        </p:nvSpPr>
        <p:spPr>
          <a:xfrm>
            <a:off x="548640" y="1783080"/>
            <a:ext cx="1371600" cy="1371600"/>
          </a:xfrm>
          <a:prstGeom prst="rect">
            <a:avLst/>
          </a:prstGeom>
          <a:noFill/>
          <a:ln/>
        </p:spPr>
        <p:txBody>
          <a:bodyPr wrap="square"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1</a:t>
            </a:r>
            <a:endParaRPr lang="en-US" sz="6400" dirty="0"/>
          </a:p>
        </p:txBody>
      </p:sp>
      <p:sp>
        <p:nvSpPr>
          <p:cNvPr id="8" name="Shape 6"/>
          <p:cNvSpPr/>
          <p:nvPr/>
        </p:nvSpPr>
        <p:spPr>
          <a:xfrm>
            <a:off x="2103120" y="3108960"/>
            <a:ext cx="9509760" cy="1005840"/>
          </a:xfrm>
          <a:prstGeom prst="rect">
            <a:avLst/>
          </a:prstGeom>
          <a:solidFill>
            <a:srgbClr val="F1F5F9"/>
          </a:solidFill>
          <a:ln w="12700">
            <a:solidFill>
              <a:srgbClr val="E2E8F0"/>
            </a:solidFill>
            <a:prstDash val="solid"/>
          </a:ln>
        </p:spPr>
      </p:sp>
      <p:sp>
        <p:nvSpPr>
          <p:cNvPr id="9" name="Shape 7"/>
          <p:cNvSpPr/>
          <p:nvPr/>
        </p:nvSpPr>
        <p:spPr>
          <a:xfrm>
            <a:off x="2103120" y="3108960"/>
            <a:ext cx="137160" cy="1005840"/>
          </a:xfrm>
          <a:prstGeom prst="rect">
            <a:avLst/>
          </a:prstGeom>
          <a:solidFill>
            <a:srgbClr val="6366F1"/>
          </a:solidFill>
          <a:ln w="12700">
            <a:solidFill>
              <a:srgbClr val="6366F1"/>
            </a:solidFill>
            <a:prstDash val="solid"/>
          </a:ln>
        </p:spPr>
      </p:sp>
      <p:sp>
        <p:nvSpPr>
          <p:cNvPr id="10" name="Text 8"/>
          <p:cNvSpPr/>
          <p:nvPr/>
        </p:nvSpPr>
        <p:spPr>
          <a:xfrm>
            <a:off x="2331720" y="3172968"/>
            <a:ext cx="9189720" cy="914400"/>
          </a:xfrm>
          <a:prstGeom prst="rect">
            <a:avLst/>
          </a:prstGeom>
          <a:noFill/>
          <a:ln/>
        </p:spPr>
        <p:txBody>
          <a:bodyPr wrap="square" rtlCol="0" anchor="t"/>
          <a:lstStyle/>
          <a:p>
            <a:pPr indent="0" marL="0">
              <a:lnSpc>
                <a:spcPct val="115000"/>
              </a:lnSpc>
              <a:buNone/>
            </a:pPr>
            <a:r>
              <a:rPr lang="en-US" sz="1700" b="1" dirty="0">
                <a:solidFill>
                  <a:srgbClr val="6366F1"/>
                </a:solidFill>
                <a:latin typeface="Calibri" pitchFamily="34" charset="0"/>
                <a:ea typeface="Calibri" pitchFamily="34" charset="-122"/>
                <a:cs typeface="Calibri" pitchFamily="34" charset="-120"/>
              </a:rPr>
              <a:t>Ce contine setul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Consumul orar al energiei electrice intr-o tara dezvoltata, inregistrat pe 16 ani (peste 140.000 ore). Doua coloane: timestamp si valoare in MegaWati.</a:t>
            </a:r>
            <a:endParaRPr lang="en-US" sz="1700" dirty="0"/>
          </a:p>
        </p:txBody>
      </p:sp>
      <p:sp>
        <p:nvSpPr>
          <p:cNvPr id="11" name="Shape 9"/>
          <p:cNvSpPr/>
          <p:nvPr/>
        </p:nvSpPr>
        <p:spPr>
          <a:xfrm>
            <a:off x="2103120" y="4160520"/>
            <a:ext cx="9509760" cy="1005840"/>
          </a:xfrm>
          <a:prstGeom prst="rect">
            <a:avLst/>
          </a:prstGeom>
          <a:solidFill>
            <a:srgbClr val="F1F5F9"/>
          </a:solidFill>
          <a:ln w="12700">
            <a:solidFill>
              <a:srgbClr val="E2E8F0"/>
            </a:solidFill>
            <a:prstDash val="solid"/>
          </a:ln>
        </p:spPr>
      </p:sp>
      <p:sp>
        <p:nvSpPr>
          <p:cNvPr id="12" name="Shape 10"/>
          <p:cNvSpPr/>
          <p:nvPr/>
        </p:nvSpPr>
        <p:spPr>
          <a:xfrm>
            <a:off x="2103120" y="4160520"/>
            <a:ext cx="137160" cy="1005840"/>
          </a:xfrm>
          <a:prstGeom prst="rect">
            <a:avLst/>
          </a:prstGeom>
          <a:solidFill>
            <a:srgbClr val="EC4899"/>
          </a:solidFill>
          <a:ln w="12700">
            <a:solidFill>
              <a:srgbClr val="EC4899"/>
            </a:solidFill>
            <a:prstDash val="solid"/>
          </a:ln>
        </p:spPr>
      </p:sp>
      <p:sp>
        <p:nvSpPr>
          <p:cNvPr id="13" name="Text 11"/>
          <p:cNvSpPr/>
          <p:nvPr/>
        </p:nvSpPr>
        <p:spPr>
          <a:xfrm>
            <a:off x="2331720" y="4224528"/>
            <a:ext cx="9189720" cy="914400"/>
          </a:xfrm>
          <a:prstGeom prst="rect">
            <a:avLst/>
          </a:prstGeom>
          <a:noFill/>
          <a:ln/>
        </p:spPr>
        <p:txBody>
          <a:bodyPr wrap="square" rtlCol="0" anchor="t"/>
          <a:lstStyle/>
          <a:p>
            <a:pPr indent="0" marL="0">
              <a:lnSpc>
                <a:spcPct val="115000"/>
              </a:lnSpc>
              <a:buNone/>
            </a:pPr>
            <a:r>
              <a:rPr lang="en-US" sz="1700" b="1" dirty="0">
                <a:solidFill>
                  <a:srgbClr val="EC4899"/>
                </a:solidFill>
                <a:latin typeface="Calibri" pitchFamily="34" charset="0"/>
                <a:ea typeface="Calibri" pitchFamily="34" charset="-122"/>
                <a:cs typeface="Calibri" pitchFamily="34" charset="-120"/>
              </a:rPr>
              <a:t>La ce ne ajuta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Modelul invata ritmul cererii - cum variaza consumul intre zi si noapte, intre zilele lucratoare si weekend, intre sezoane. Cu cat ai mai mult timp inregistrat, cu atat pattern-urile sunt mai clare.</a:t>
            </a:r>
            <a:endParaRPr lang="en-US" sz="1700" dirty="0"/>
          </a:p>
        </p:txBody>
      </p:sp>
      <p:sp>
        <p:nvSpPr>
          <p:cNvPr id="14" name="Shape 12"/>
          <p:cNvSpPr/>
          <p:nvPr/>
        </p:nvSpPr>
        <p:spPr>
          <a:xfrm>
            <a:off x="2103120" y="5212080"/>
            <a:ext cx="9509760" cy="1005840"/>
          </a:xfrm>
          <a:prstGeom prst="rect">
            <a:avLst/>
          </a:prstGeom>
          <a:solidFill>
            <a:srgbClr val="F1F5F9"/>
          </a:solidFill>
          <a:ln w="12700">
            <a:solidFill>
              <a:srgbClr val="E2E8F0"/>
            </a:solidFill>
            <a:prstDash val="solid"/>
          </a:ln>
        </p:spPr>
      </p:sp>
      <p:sp>
        <p:nvSpPr>
          <p:cNvPr id="15" name="Shape 13"/>
          <p:cNvSpPr/>
          <p:nvPr/>
        </p:nvSpPr>
        <p:spPr>
          <a:xfrm>
            <a:off x="2103120" y="5212080"/>
            <a:ext cx="137160" cy="1005840"/>
          </a:xfrm>
          <a:prstGeom prst="rect">
            <a:avLst/>
          </a:prstGeom>
          <a:solidFill>
            <a:srgbClr val="FBBF24"/>
          </a:solidFill>
          <a:ln w="12700">
            <a:solidFill>
              <a:srgbClr val="FBBF24"/>
            </a:solidFill>
            <a:prstDash val="solid"/>
          </a:ln>
        </p:spPr>
      </p:sp>
      <p:sp>
        <p:nvSpPr>
          <p:cNvPr id="16" name="Text 14"/>
          <p:cNvSpPr/>
          <p:nvPr/>
        </p:nvSpPr>
        <p:spPr>
          <a:xfrm>
            <a:off x="2331720" y="5276088"/>
            <a:ext cx="9189720" cy="914400"/>
          </a:xfrm>
          <a:prstGeom prst="rect">
            <a:avLst/>
          </a:prstGeom>
          <a:noFill/>
          <a:ln/>
        </p:spPr>
        <p:txBody>
          <a:bodyPr wrap="square" rtlCol="0" anchor="t"/>
          <a:lstStyle/>
          <a:p>
            <a:pPr indent="0" marL="0">
              <a:lnSpc>
                <a:spcPct val="115000"/>
              </a:lnSpc>
              <a:buNone/>
            </a:pPr>
            <a:r>
              <a:rPr lang="en-US" sz="1700" b="1" dirty="0">
                <a:solidFill>
                  <a:srgbClr val="FBBF24"/>
                </a:solidFill>
                <a:latin typeface="Calibri" pitchFamily="34" charset="0"/>
                <a:ea typeface="Calibri" pitchFamily="34" charset="-122"/>
                <a:cs typeface="Calibri" pitchFamily="34" charset="-120"/>
              </a:rPr>
              <a:t>Cum contribuie la scopul final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Predictia exacta a cererii viitoare permite operatorilor de retea sa balanseze in timp real productia cu consumul, evitand pene de curent si supraproductie.</a:t>
            </a:r>
            <a:endParaRPr lang="en-US" sz="1700" dirty="0"/>
          </a:p>
        </p:txBody>
      </p:sp>
      <p:sp>
        <p:nvSpPr>
          <p:cNvPr id="17" name="Text 15"/>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8" name="Text 16"/>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3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DATE DESPRE PIATA</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Setul 2: Pretul energiei electrice</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548640" y="1783080"/>
            <a:ext cx="1371600" cy="1371600"/>
          </a:xfrm>
          <a:prstGeom prst="ellipse">
            <a:avLst/>
          </a:prstGeom>
          <a:solidFill>
            <a:srgbClr val="EC4899"/>
          </a:solidFill>
          <a:ln w="12700">
            <a:solidFill>
              <a:srgbClr val="EC4899"/>
            </a:solidFill>
            <a:prstDash val="solid"/>
          </a:ln>
        </p:spPr>
      </p:sp>
      <p:sp>
        <p:nvSpPr>
          <p:cNvPr id="7" name="Text 5"/>
          <p:cNvSpPr/>
          <p:nvPr/>
        </p:nvSpPr>
        <p:spPr>
          <a:xfrm>
            <a:off x="548640" y="1783080"/>
            <a:ext cx="1371600" cy="1371600"/>
          </a:xfrm>
          <a:prstGeom prst="rect">
            <a:avLst/>
          </a:prstGeom>
          <a:noFill/>
          <a:ln/>
        </p:spPr>
        <p:txBody>
          <a:bodyPr wrap="square"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2</a:t>
            </a:r>
            <a:endParaRPr lang="en-US" sz="6400" dirty="0"/>
          </a:p>
        </p:txBody>
      </p:sp>
      <p:sp>
        <p:nvSpPr>
          <p:cNvPr id="8" name="Shape 6"/>
          <p:cNvSpPr/>
          <p:nvPr/>
        </p:nvSpPr>
        <p:spPr>
          <a:xfrm>
            <a:off x="2103120" y="3108960"/>
            <a:ext cx="9509760" cy="1005840"/>
          </a:xfrm>
          <a:prstGeom prst="rect">
            <a:avLst/>
          </a:prstGeom>
          <a:solidFill>
            <a:srgbClr val="F1F5F9"/>
          </a:solidFill>
          <a:ln w="12700">
            <a:solidFill>
              <a:srgbClr val="E2E8F0"/>
            </a:solidFill>
            <a:prstDash val="solid"/>
          </a:ln>
        </p:spPr>
      </p:sp>
      <p:sp>
        <p:nvSpPr>
          <p:cNvPr id="9" name="Shape 7"/>
          <p:cNvSpPr/>
          <p:nvPr/>
        </p:nvSpPr>
        <p:spPr>
          <a:xfrm>
            <a:off x="2103120" y="3108960"/>
            <a:ext cx="137160" cy="1005840"/>
          </a:xfrm>
          <a:prstGeom prst="rect">
            <a:avLst/>
          </a:prstGeom>
          <a:solidFill>
            <a:srgbClr val="6366F1"/>
          </a:solidFill>
          <a:ln w="12700">
            <a:solidFill>
              <a:srgbClr val="6366F1"/>
            </a:solidFill>
            <a:prstDash val="solid"/>
          </a:ln>
        </p:spPr>
      </p:sp>
      <p:sp>
        <p:nvSpPr>
          <p:cNvPr id="10" name="Text 8"/>
          <p:cNvSpPr/>
          <p:nvPr/>
        </p:nvSpPr>
        <p:spPr>
          <a:xfrm>
            <a:off x="2331720" y="3172968"/>
            <a:ext cx="9189720" cy="914400"/>
          </a:xfrm>
          <a:prstGeom prst="rect">
            <a:avLst/>
          </a:prstGeom>
          <a:noFill/>
          <a:ln/>
        </p:spPr>
        <p:txBody>
          <a:bodyPr wrap="square" rtlCol="0" anchor="t"/>
          <a:lstStyle/>
          <a:p>
            <a:pPr indent="0" marL="0">
              <a:lnSpc>
                <a:spcPct val="115000"/>
              </a:lnSpc>
              <a:buNone/>
            </a:pPr>
            <a:r>
              <a:rPr lang="en-US" sz="1700" b="1" dirty="0">
                <a:solidFill>
                  <a:srgbClr val="6366F1"/>
                </a:solidFill>
                <a:latin typeface="Calibri" pitchFamily="34" charset="0"/>
                <a:ea typeface="Calibri" pitchFamily="34" charset="-122"/>
                <a:cs typeface="Calibri" pitchFamily="34" charset="-120"/>
              </a:rPr>
              <a:t>Ce contine setul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Pretul orar al energiei electrice intr-o tara europeana pe o piata libera, inregistrat pe 4 ani (peste 34.000 ore). Plus indicatori auxiliari: productie pe surse, conditii meteo, prognoze.</a:t>
            </a:r>
            <a:endParaRPr lang="en-US" sz="1700" dirty="0"/>
          </a:p>
        </p:txBody>
      </p:sp>
      <p:sp>
        <p:nvSpPr>
          <p:cNvPr id="11" name="Shape 9"/>
          <p:cNvSpPr/>
          <p:nvPr/>
        </p:nvSpPr>
        <p:spPr>
          <a:xfrm>
            <a:off x="2103120" y="4160520"/>
            <a:ext cx="9509760" cy="1005840"/>
          </a:xfrm>
          <a:prstGeom prst="rect">
            <a:avLst/>
          </a:prstGeom>
          <a:solidFill>
            <a:srgbClr val="F1F5F9"/>
          </a:solidFill>
          <a:ln w="12700">
            <a:solidFill>
              <a:srgbClr val="E2E8F0"/>
            </a:solidFill>
            <a:prstDash val="solid"/>
          </a:ln>
        </p:spPr>
      </p:sp>
      <p:sp>
        <p:nvSpPr>
          <p:cNvPr id="12" name="Shape 10"/>
          <p:cNvSpPr/>
          <p:nvPr/>
        </p:nvSpPr>
        <p:spPr>
          <a:xfrm>
            <a:off x="2103120" y="4160520"/>
            <a:ext cx="137160" cy="1005840"/>
          </a:xfrm>
          <a:prstGeom prst="rect">
            <a:avLst/>
          </a:prstGeom>
          <a:solidFill>
            <a:srgbClr val="EC4899"/>
          </a:solidFill>
          <a:ln w="12700">
            <a:solidFill>
              <a:srgbClr val="EC4899"/>
            </a:solidFill>
            <a:prstDash val="solid"/>
          </a:ln>
        </p:spPr>
      </p:sp>
      <p:sp>
        <p:nvSpPr>
          <p:cNvPr id="13" name="Text 11"/>
          <p:cNvSpPr/>
          <p:nvPr/>
        </p:nvSpPr>
        <p:spPr>
          <a:xfrm>
            <a:off x="2331720" y="4224528"/>
            <a:ext cx="9189720" cy="914400"/>
          </a:xfrm>
          <a:prstGeom prst="rect">
            <a:avLst/>
          </a:prstGeom>
          <a:noFill/>
          <a:ln/>
        </p:spPr>
        <p:txBody>
          <a:bodyPr wrap="square" rtlCol="0" anchor="t"/>
          <a:lstStyle/>
          <a:p>
            <a:pPr indent="0" marL="0">
              <a:lnSpc>
                <a:spcPct val="115000"/>
              </a:lnSpc>
              <a:buNone/>
            </a:pPr>
            <a:r>
              <a:rPr lang="en-US" sz="1700" b="1" dirty="0">
                <a:solidFill>
                  <a:srgbClr val="EC4899"/>
                </a:solidFill>
                <a:latin typeface="Calibri" pitchFamily="34" charset="0"/>
                <a:ea typeface="Calibri" pitchFamily="34" charset="-122"/>
                <a:cs typeface="Calibri" pitchFamily="34" charset="-120"/>
              </a:rPr>
              <a:t>La ce ne ajuta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Modelul invata cum se misca pretul - cat de mult fluctueaza, cum reactioneaza la dezechilibre intre cerere si oferta, cum influenteaza productia eoliana sau solara pretul total.</a:t>
            </a:r>
            <a:endParaRPr lang="en-US" sz="1700" dirty="0"/>
          </a:p>
        </p:txBody>
      </p:sp>
      <p:sp>
        <p:nvSpPr>
          <p:cNvPr id="14" name="Shape 12"/>
          <p:cNvSpPr/>
          <p:nvPr/>
        </p:nvSpPr>
        <p:spPr>
          <a:xfrm>
            <a:off x="2103120" y="5212080"/>
            <a:ext cx="9509760" cy="1005840"/>
          </a:xfrm>
          <a:prstGeom prst="rect">
            <a:avLst/>
          </a:prstGeom>
          <a:solidFill>
            <a:srgbClr val="F1F5F9"/>
          </a:solidFill>
          <a:ln w="12700">
            <a:solidFill>
              <a:srgbClr val="E2E8F0"/>
            </a:solidFill>
            <a:prstDash val="solid"/>
          </a:ln>
        </p:spPr>
      </p:sp>
      <p:sp>
        <p:nvSpPr>
          <p:cNvPr id="15" name="Shape 13"/>
          <p:cNvSpPr/>
          <p:nvPr/>
        </p:nvSpPr>
        <p:spPr>
          <a:xfrm>
            <a:off x="2103120" y="5212080"/>
            <a:ext cx="137160" cy="1005840"/>
          </a:xfrm>
          <a:prstGeom prst="rect">
            <a:avLst/>
          </a:prstGeom>
          <a:solidFill>
            <a:srgbClr val="FBBF24"/>
          </a:solidFill>
          <a:ln w="12700">
            <a:solidFill>
              <a:srgbClr val="FBBF24"/>
            </a:solidFill>
            <a:prstDash val="solid"/>
          </a:ln>
        </p:spPr>
      </p:sp>
      <p:sp>
        <p:nvSpPr>
          <p:cNvPr id="16" name="Text 14"/>
          <p:cNvSpPr/>
          <p:nvPr/>
        </p:nvSpPr>
        <p:spPr>
          <a:xfrm>
            <a:off x="2331720" y="5276088"/>
            <a:ext cx="9189720" cy="914400"/>
          </a:xfrm>
          <a:prstGeom prst="rect">
            <a:avLst/>
          </a:prstGeom>
          <a:noFill/>
          <a:ln/>
        </p:spPr>
        <p:txBody>
          <a:bodyPr wrap="square" rtlCol="0" anchor="t"/>
          <a:lstStyle/>
          <a:p>
            <a:pPr indent="0" marL="0">
              <a:lnSpc>
                <a:spcPct val="115000"/>
              </a:lnSpc>
              <a:buNone/>
            </a:pPr>
            <a:r>
              <a:rPr lang="en-US" sz="1700" b="1" dirty="0">
                <a:solidFill>
                  <a:srgbClr val="FBBF24"/>
                </a:solidFill>
                <a:latin typeface="Calibri" pitchFamily="34" charset="0"/>
                <a:ea typeface="Calibri" pitchFamily="34" charset="-122"/>
                <a:cs typeface="Calibri" pitchFamily="34" charset="-120"/>
              </a:rPr>
              <a:t>Cum contribuie la scopul final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Predictia pretului permite decizii economice optime: cand sa cumperi energie ieftin pentru a o stoca, cand sa vinzi productia surplus, cand sa amani consumul industrial pentru orele cu pret mic.</a:t>
            </a:r>
            <a:endParaRPr lang="en-US" sz="1700" dirty="0"/>
          </a:p>
        </p:txBody>
      </p:sp>
      <p:sp>
        <p:nvSpPr>
          <p:cNvPr id="17" name="Text 15"/>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8" name="Text 16"/>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4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DATE DESPRE OFERTA REGENERABILA</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Setul 3: Productia panourilor fotovoltaice</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548640" y="1783080"/>
            <a:ext cx="1371600" cy="1371600"/>
          </a:xfrm>
          <a:prstGeom prst="ellipse">
            <a:avLst/>
          </a:prstGeom>
          <a:solidFill>
            <a:srgbClr val="FBBF24"/>
          </a:solidFill>
          <a:ln w="12700">
            <a:solidFill>
              <a:srgbClr val="FBBF24"/>
            </a:solidFill>
            <a:prstDash val="solid"/>
          </a:ln>
        </p:spPr>
      </p:sp>
      <p:sp>
        <p:nvSpPr>
          <p:cNvPr id="7" name="Text 5"/>
          <p:cNvSpPr/>
          <p:nvPr/>
        </p:nvSpPr>
        <p:spPr>
          <a:xfrm>
            <a:off x="548640" y="1783080"/>
            <a:ext cx="1371600" cy="1371600"/>
          </a:xfrm>
          <a:prstGeom prst="rect">
            <a:avLst/>
          </a:prstGeom>
          <a:noFill/>
          <a:ln/>
        </p:spPr>
        <p:txBody>
          <a:bodyPr wrap="square"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3</a:t>
            </a:r>
            <a:endParaRPr lang="en-US" sz="6400" dirty="0"/>
          </a:p>
        </p:txBody>
      </p:sp>
      <p:sp>
        <p:nvSpPr>
          <p:cNvPr id="8" name="Shape 6"/>
          <p:cNvSpPr/>
          <p:nvPr/>
        </p:nvSpPr>
        <p:spPr>
          <a:xfrm>
            <a:off x="2103120" y="3108960"/>
            <a:ext cx="9509760" cy="1005840"/>
          </a:xfrm>
          <a:prstGeom prst="rect">
            <a:avLst/>
          </a:prstGeom>
          <a:solidFill>
            <a:srgbClr val="F1F5F9"/>
          </a:solidFill>
          <a:ln w="12700">
            <a:solidFill>
              <a:srgbClr val="E2E8F0"/>
            </a:solidFill>
            <a:prstDash val="solid"/>
          </a:ln>
        </p:spPr>
      </p:sp>
      <p:sp>
        <p:nvSpPr>
          <p:cNvPr id="9" name="Shape 7"/>
          <p:cNvSpPr/>
          <p:nvPr/>
        </p:nvSpPr>
        <p:spPr>
          <a:xfrm>
            <a:off x="2103120" y="3108960"/>
            <a:ext cx="137160" cy="1005840"/>
          </a:xfrm>
          <a:prstGeom prst="rect">
            <a:avLst/>
          </a:prstGeom>
          <a:solidFill>
            <a:srgbClr val="6366F1"/>
          </a:solidFill>
          <a:ln w="12700">
            <a:solidFill>
              <a:srgbClr val="6366F1"/>
            </a:solidFill>
            <a:prstDash val="solid"/>
          </a:ln>
        </p:spPr>
      </p:sp>
      <p:sp>
        <p:nvSpPr>
          <p:cNvPr id="10" name="Text 8"/>
          <p:cNvSpPr/>
          <p:nvPr/>
        </p:nvSpPr>
        <p:spPr>
          <a:xfrm>
            <a:off x="2331720" y="3172968"/>
            <a:ext cx="9189720" cy="914400"/>
          </a:xfrm>
          <a:prstGeom prst="rect">
            <a:avLst/>
          </a:prstGeom>
          <a:noFill/>
          <a:ln/>
        </p:spPr>
        <p:txBody>
          <a:bodyPr wrap="square" rtlCol="0" anchor="t"/>
          <a:lstStyle/>
          <a:p>
            <a:pPr indent="0" marL="0">
              <a:lnSpc>
                <a:spcPct val="115000"/>
              </a:lnSpc>
              <a:buNone/>
            </a:pPr>
            <a:r>
              <a:rPr lang="en-US" sz="1700" b="1" dirty="0">
                <a:solidFill>
                  <a:srgbClr val="6366F1"/>
                </a:solidFill>
                <a:latin typeface="Calibri" pitchFamily="34" charset="0"/>
                <a:ea typeface="Calibri" pitchFamily="34" charset="-122"/>
                <a:cs typeface="Calibri" pitchFamily="34" charset="-120"/>
              </a:rPr>
              <a:t>Ce contine setul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Productia electrica a doua centrale fotovoltaice industriale + masuratori de la senzori (iradiere solara, temperatura ambient, temperatura modul). Date inregistrate la fiecare 15 minute.</a:t>
            </a:r>
            <a:endParaRPr lang="en-US" sz="1700" dirty="0"/>
          </a:p>
        </p:txBody>
      </p:sp>
      <p:sp>
        <p:nvSpPr>
          <p:cNvPr id="11" name="Shape 9"/>
          <p:cNvSpPr/>
          <p:nvPr/>
        </p:nvSpPr>
        <p:spPr>
          <a:xfrm>
            <a:off x="2103120" y="4160520"/>
            <a:ext cx="9509760" cy="1005840"/>
          </a:xfrm>
          <a:prstGeom prst="rect">
            <a:avLst/>
          </a:prstGeom>
          <a:solidFill>
            <a:srgbClr val="F1F5F9"/>
          </a:solidFill>
          <a:ln w="12700">
            <a:solidFill>
              <a:srgbClr val="E2E8F0"/>
            </a:solidFill>
            <a:prstDash val="solid"/>
          </a:ln>
        </p:spPr>
      </p:sp>
      <p:sp>
        <p:nvSpPr>
          <p:cNvPr id="12" name="Shape 10"/>
          <p:cNvSpPr/>
          <p:nvPr/>
        </p:nvSpPr>
        <p:spPr>
          <a:xfrm>
            <a:off x="2103120" y="4160520"/>
            <a:ext cx="137160" cy="1005840"/>
          </a:xfrm>
          <a:prstGeom prst="rect">
            <a:avLst/>
          </a:prstGeom>
          <a:solidFill>
            <a:srgbClr val="EC4899"/>
          </a:solidFill>
          <a:ln w="12700">
            <a:solidFill>
              <a:srgbClr val="EC4899"/>
            </a:solidFill>
            <a:prstDash val="solid"/>
          </a:ln>
        </p:spPr>
      </p:sp>
      <p:sp>
        <p:nvSpPr>
          <p:cNvPr id="13" name="Text 11"/>
          <p:cNvSpPr/>
          <p:nvPr/>
        </p:nvSpPr>
        <p:spPr>
          <a:xfrm>
            <a:off x="2331720" y="4224528"/>
            <a:ext cx="9189720" cy="914400"/>
          </a:xfrm>
          <a:prstGeom prst="rect">
            <a:avLst/>
          </a:prstGeom>
          <a:noFill/>
          <a:ln/>
        </p:spPr>
        <p:txBody>
          <a:bodyPr wrap="square" rtlCol="0" anchor="t"/>
          <a:lstStyle/>
          <a:p>
            <a:pPr indent="0" marL="0">
              <a:lnSpc>
                <a:spcPct val="115000"/>
              </a:lnSpc>
              <a:buNone/>
            </a:pPr>
            <a:r>
              <a:rPr lang="en-US" sz="1700" b="1" dirty="0">
                <a:solidFill>
                  <a:srgbClr val="EC4899"/>
                </a:solidFill>
                <a:latin typeface="Calibri" pitchFamily="34" charset="0"/>
                <a:ea typeface="Calibri" pitchFamily="34" charset="-122"/>
                <a:cs typeface="Calibri" pitchFamily="34" charset="-120"/>
              </a:rPr>
              <a:t>La ce ne ajuta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Modelul invata cum conditiile fizice exterioare (cat de mult bate soarele, cat de cald e afara) se transforma in energie electrica produsa - relatia este puternic neliniara si depinde de starea panourilor.</a:t>
            </a:r>
            <a:endParaRPr lang="en-US" sz="1700" dirty="0"/>
          </a:p>
        </p:txBody>
      </p:sp>
      <p:sp>
        <p:nvSpPr>
          <p:cNvPr id="14" name="Shape 12"/>
          <p:cNvSpPr/>
          <p:nvPr/>
        </p:nvSpPr>
        <p:spPr>
          <a:xfrm>
            <a:off x="2103120" y="5212080"/>
            <a:ext cx="9509760" cy="1005840"/>
          </a:xfrm>
          <a:prstGeom prst="rect">
            <a:avLst/>
          </a:prstGeom>
          <a:solidFill>
            <a:srgbClr val="F1F5F9"/>
          </a:solidFill>
          <a:ln w="12700">
            <a:solidFill>
              <a:srgbClr val="E2E8F0"/>
            </a:solidFill>
            <a:prstDash val="solid"/>
          </a:ln>
        </p:spPr>
      </p:sp>
      <p:sp>
        <p:nvSpPr>
          <p:cNvPr id="15" name="Shape 13"/>
          <p:cNvSpPr/>
          <p:nvPr/>
        </p:nvSpPr>
        <p:spPr>
          <a:xfrm>
            <a:off x="2103120" y="5212080"/>
            <a:ext cx="137160" cy="1005840"/>
          </a:xfrm>
          <a:prstGeom prst="rect">
            <a:avLst/>
          </a:prstGeom>
          <a:solidFill>
            <a:srgbClr val="FBBF24"/>
          </a:solidFill>
          <a:ln w="12700">
            <a:solidFill>
              <a:srgbClr val="FBBF24"/>
            </a:solidFill>
            <a:prstDash val="solid"/>
          </a:ln>
        </p:spPr>
      </p:sp>
      <p:sp>
        <p:nvSpPr>
          <p:cNvPr id="16" name="Text 14"/>
          <p:cNvSpPr/>
          <p:nvPr/>
        </p:nvSpPr>
        <p:spPr>
          <a:xfrm>
            <a:off x="2331720" y="5276088"/>
            <a:ext cx="9189720" cy="914400"/>
          </a:xfrm>
          <a:prstGeom prst="rect">
            <a:avLst/>
          </a:prstGeom>
          <a:noFill/>
          <a:ln/>
        </p:spPr>
        <p:txBody>
          <a:bodyPr wrap="square" rtlCol="0" anchor="t"/>
          <a:lstStyle/>
          <a:p>
            <a:pPr indent="0" marL="0">
              <a:lnSpc>
                <a:spcPct val="115000"/>
              </a:lnSpc>
              <a:buNone/>
            </a:pPr>
            <a:r>
              <a:rPr lang="en-US" sz="1700" b="1" dirty="0">
                <a:solidFill>
                  <a:srgbClr val="FBBF24"/>
                </a:solidFill>
                <a:latin typeface="Calibri" pitchFamily="34" charset="0"/>
                <a:ea typeface="Calibri" pitchFamily="34" charset="-122"/>
                <a:cs typeface="Calibri" pitchFamily="34" charset="-120"/>
              </a:rPr>
              <a:t>Cum contribuie la scopul final
</a:t>
            </a:r>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Predictia productiei regenerabile permite integrarea inteligenta in retea: anticipam orele cu surplus solar si propunem stocare in baterii, sau invers - orele cu productie redusa si pregatim surse de backup.</a:t>
            </a:r>
            <a:endParaRPr lang="en-US" sz="1700" dirty="0"/>
          </a:p>
        </p:txBody>
      </p:sp>
      <p:sp>
        <p:nvSpPr>
          <p:cNvPr id="17" name="Text 15"/>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8" name="Text 16"/>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5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IMAGINEA DE ANSAMBLU</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Trei seturi -&gt; Un sistem energetic complet</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822960" y="2743200"/>
            <a:ext cx="2926080" cy="2926080"/>
          </a:xfrm>
          <a:prstGeom prst="ellipse">
            <a:avLst/>
          </a:prstGeom>
          <a:solidFill>
            <a:srgbClr val="6366F1"/>
          </a:solidFill>
          <a:ln w="12700">
            <a:solidFill>
              <a:srgbClr val="6366F1"/>
            </a:solidFill>
            <a:prstDash val="solid"/>
          </a:ln>
        </p:spPr>
      </p:sp>
      <p:sp>
        <p:nvSpPr>
          <p:cNvPr id="7" name="Text 5"/>
          <p:cNvSpPr/>
          <p:nvPr/>
        </p:nvSpPr>
        <p:spPr>
          <a:xfrm>
            <a:off x="822960" y="3200400"/>
            <a:ext cx="2926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CERERE</a:t>
            </a:r>
            <a:endParaRPr lang="en-US" sz="2200" dirty="0"/>
          </a:p>
        </p:txBody>
      </p:sp>
      <p:sp>
        <p:nvSpPr>
          <p:cNvPr id="8" name="Text 6"/>
          <p:cNvSpPr/>
          <p:nvPr/>
        </p:nvSpPr>
        <p:spPr>
          <a:xfrm>
            <a:off x="822960" y="4114800"/>
            <a:ext cx="2926080" cy="8229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Setul 1</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Consum SUA</a:t>
            </a:r>
            <a:endParaRPr lang="en-US" sz="1400" dirty="0"/>
          </a:p>
        </p:txBody>
      </p:sp>
      <p:sp>
        <p:nvSpPr>
          <p:cNvPr id="9" name="Shape 7"/>
          <p:cNvSpPr/>
          <p:nvPr/>
        </p:nvSpPr>
        <p:spPr>
          <a:xfrm>
            <a:off x="4434840" y="2560320"/>
            <a:ext cx="3291840" cy="3291840"/>
          </a:xfrm>
          <a:prstGeom prst="ellipse">
            <a:avLst/>
          </a:prstGeom>
          <a:solidFill>
            <a:srgbClr val="EC4899"/>
          </a:solidFill>
          <a:ln w="12700">
            <a:solidFill>
              <a:srgbClr val="EC4899"/>
            </a:solidFill>
            <a:prstDash val="solid"/>
          </a:ln>
        </p:spPr>
      </p:sp>
      <p:sp>
        <p:nvSpPr>
          <p:cNvPr id="10" name="Text 8"/>
          <p:cNvSpPr/>
          <p:nvPr/>
        </p:nvSpPr>
        <p:spPr>
          <a:xfrm>
            <a:off x="4434840" y="3108960"/>
            <a:ext cx="329184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PIATA + PRET</a:t>
            </a:r>
            <a:endParaRPr lang="en-US" sz="2200" dirty="0"/>
          </a:p>
        </p:txBody>
      </p:sp>
      <p:sp>
        <p:nvSpPr>
          <p:cNvPr id="11" name="Text 9"/>
          <p:cNvSpPr/>
          <p:nvPr/>
        </p:nvSpPr>
        <p:spPr>
          <a:xfrm>
            <a:off x="4434840" y="4114800"/>
            <a:ext cx="3291840" cy="8229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Setul 2</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Pret Spania</a:t>
            </a:r>
            <a:endParaRPr lang="en-US" sz="1400" dirty="0"/>
          </a:p>
        </p:txBody>
      </p:sp>
      <p:sp>
        <p:nvSpPr>
          <p:cNvPr id="12" name="Shape 10"/>
          <p:cNvSpPr/>
          <p:nvPr/>
        </p:nvSpPr>
        <p:spPr>
          <a:xfrm>
            <a:off x="8412480" y="2743200"/>
            <a:ext cx="2926080" cy="2926080"/>
          </a:xfrm>
          <a:prstGeom prst="ellipse">
            <a:avLst/>
          </a:prstGeom>
          <a:solidFill>
            <a:srgbClr val="FBBF24"/>
          </a:solidFill>
          <a:ln w="12700">
            <a:solidFill>
              <a:srgbClr val="FBBF24"/>
            </a:solidFill>
            <a:prstDash val="solid"/>
          </a:ln>
        </p:spPr>
      </p:sp>
      <p:sp>
        <p:nvSpPr>
          <p:cNvPr id="13" name="Text 11"/>
          <p:cNvSpPr/>
          <p:nvPr/>
        </p:nvSpPr>
        <p:spPr>
          <a:xfrm>
            <a:off x="8412480" y="3200400"/>
            <a:ext cx="2926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OFERTA</a:t>
            </a:r>
            <a:endParaRPr lang="en-US" sz="2200" dirty="0"/>
          </a:p>
        </p:txBody>
      </p:sp>
      <p:sp>
        <p:nvSpPr>
          <p:cNvPr id="14" name="Text 12"/>
          <p:cNvSpPr/>
          <p:nvPr/>
        </p:nvSpPr>
        <p:spPr>
          <a:xfrm>
            <a:off x="8412480" y="4114800"/>
            <a:ext cx="2926080" cy="8229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Setul 3</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Productie India</a:t>
            </a:r>
            <a:endParaRPr lang="en-US" sz="1400" dirty="0"/>
          </a:p>
        </p:txBody>
      </p:sp>
      <p:sp>
        <p:nvSpPr>
          <p:cNvPr id="15" name="Shape 13"/>
          <p:cNvSpPr/>
          <p:nvPr/>
        </p:nvSpPr>
        <p:spPr>
          <a:xfrm>
            <a:off x="3749040" y="4206240"/>
            <a:ext cx="1554480" cy="0"/>
          </a:xfrm>
          <a:prstGeom prst="line">
            <a:avLst/>
          </a:prstGeom>
          <a:noFill/>
          <a:ln w="38100">
            <a:solidFill>
              <a:srgbClr val="334155"/>
            </a:solidFill>
            <a:prstDash val="solid"/>
            <a:tailEnd type="triangle"/>
          </a:ln>
        </p:spPr>
      </p:sp>
      <p:sp>
        <p:nvSpPr>
          <p:cNvPr id="16" name="Shape 14"/>
          <p:cNvSpPr/>
          <p:nvPr/>
        </p:nvSpPr>
        <p:spPr>
          <a:xfrm>
            <a:off x="8412480" y="4206240"/>
            <a:ext cx="-1554480" cy="0"/>
          </a:xfrm>
          <a:prstGeom prst="line">
            <a:avLst/>
          </a:prstGeom>
          <a:noFill/>
          <a:ln w="38100">
            <a:solidFill>
              <a:srgbClr val="334155"/>
            </a:solidFill>
            <a:prstDash val="solid"/>
            <a:tailEnd type="triangle"/>
          </a:ln>
        </p:spPr>
      </p:sp>
      <p:sp>
        <p:nvSpPr>
          <p:cNvPr id="17" name="Text 15"/>
          <p:cNvSpPr/>
          <p:nvPr/>
        </p:nvSpPr>
        <p:spPr>
          <a:xfrm>
            <a:off x="548640" y="5943600"/>
            <a:ext cx="11064240" cy="457200"/>
          </a:xfrm>
          <a:prstGeom prst="rect">
            <a:avLst/>
          </a:prstGeom>
          <a:noFill/>
          <a:ln/>
        </p:spPr>
        <p:txBody>
          <a:bodyPr wrap="square" rtlCol="0" anchor="ctr"/>
          <a:lstStyle/>
          <a:p>
            <a:pPr algn="ctr" indent="0" marL="0">
              <a:buNone/>
            </a:pPr>
            <a:r>
              <a:rPr lang="en-US" sz="1600" b="1" i="1" dirty="0">
                <a:solidFill>
                  <a:srgbClr val="0F172A"/>
                </a:solidFill>
                <a:latin typeface="Calibri" pitchFamily="34" charset="0"/>
                <a:ea typeface="Calibri" pitchFamily="34" charset="-122"/>
                <a:cs typeface="Calibri" pitchFamily="34" charset="-120"/>
              </a:rPr>
              <a:t>Acoperim toate trei perspectivele esentiale ale sistemului energetic: cat se consuma, cat costa si cat se produce regenerabil.</a:t>
            </a:r>
            <a:endParaRPr lang="en-US" sz="1600" dirty="0"/>
          </a:p>
        </p:txBody>
      </p:sp>
      <p:sp>
        <p:nvSpPr>
          <p:cNvPr id="18" name="Text 16"/>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9" name="Text 17"/>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6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PROBLEMA 1</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Cum arata datele cand le primim</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Text 4"/>
          <p:cNvSpPr/>
          <p:nvPr/>
        </p:nvSpPr>
        <p:spPr>
          <a:xfrm>
            <a:off x="548640" y="1828800"/>
            <a:ext cx="5486400" cy="457200"/>
          </a:xfrm>
          <a:prstGeom prst="rect">
            <a:avLst/>
          </a:prstGeom>
          <a:noFill/>
          <a:ln/>
        </p:spPr>
        <p:txBody>
          <a:bodyPr wrap="square"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Datele brute, in forma originala:</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5486400" cy="3200400"/>
        </p:xfrm>
        <a:graphic>
          <a:graphicData uri="http://schemas.openxmlformats.org/drawingml/2006/table">
            <a:tbl>
              <a:tblPr/>
              <a:tblGrid>
                <a:gridCol w="2743200"/>
                <a:gridCol w="2743200"/>
              </a:tblGrid>
              <a:tr h="457200">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timestamp</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366F1"/>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valoare</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6366F1"/>
                    </a:solidFill>
                  </a:tcPr>
                </a:tc>
              </a:tr>
              <a:tr h="457200">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2018-03-15 22:00</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58.2</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2018-03-15 23:00</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55.4</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2018-03-16 00:00</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52.1</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2018-03-16 01:00</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49.8</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2018-03-16 02:00</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47.5</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Shape 5"/>
          <p:cNvSpPr/>
          <p:nvPr/>
        </p:nvSpPr>
        <p:spPr>
          <a:xfrm>
            <a:off x="6400800" y="1828800"/>
            <a:ext cx="5212080" cy="4114800"/>
          </a:xfrm>
          <a:prstGeom prst="rect">
            <a:avLst/>
          </a:prstGeom>
          <a:solidFill>
            <a:srgbClr val="F1F5F9"/>
          </a:solidFill>
          <a:ln w="12700">
            <a:solidFill>
              <a:srgbClr val="E2E8F0"/>
            </a:solidFill>
            <a:prstDash val="solid"/>
          </a:ln>
        </p:spPr>
      </p:sp>
      <p:sp>
        <p:nvSpPr>
          <p:cNvPr id="9" name="Shape 6"/>
          <p:cNvSpPr/>
          <p:nvPr/>
        </p:nvSpPr>
        <p:spPr>
          <a:xfrm>
            <a:off x="6400800" y="1828800"/>
            <a:ext cx="137160" cy="4114800"/>
          </a:xfrm>
          <a:prstGeom prst="rect">
            <a:avLst/>
          </a:prstGeom>
          <a:solidFill>
            <a:srgbClr val="EC4899"/>
          </a:solidFill>
          <a:ln w="12700">
            <a:solidFill>
              <a:srgbClr val="EC4899"/>
            </a:solidFill>
            <a:prstDash val="solid"/>
          </a:ln>
        </p:spPr>
      </p:sp>
      <p:sp>
        <p:nvSpPr>
          <p:cNvPr id="10" name="Text 7"/>
          <p:cNvSpPr/>
          <p:nvPr/>
        </p:nvSpPr>
        <p:spPr>
          <a:xfrm>
            <a:off x="6675120" y="2011680"/>
            <a:ext cx="4846320" cy="3840480"/>
          </a:xfrm>
          <a:prstGeom prst="rect">
            <a:avLst/>
          </a:prstGeom>
          <a:noFill/>
          <a:ln/>
        </p:spPr>
        <p:txBody>
          <a:bodyPr wrap="square" rtlCol="0" anchor="t"/>
          <a:lstStyle/>
          <a:p>
            <a:pPr indent="0" marL="0">
              <a:buNone/>
            </a:pPr>
            <a:r>
              <a:rPr lang="en-US" sz="2000" b="1" dirty="0">
                <a:solidFill>
                  <a:srgbClr val="EC4899"/>
                </a:solidFill>
                <a:latin typeface="Calibri" pitchFamily="34" charset="0"/>
                <a:ea typeface="Calibri" pitchFamily="34" charset="-122"/>
                <a:cs typeface="Calibri" pitchFamily="34" charset="-120"/>
              </a:rPr>
              <a:t>Ce vede modelul?
</a:t>
            </a:r>
            <a:pPr indent="0" marL="0">
              <a:buNone/>
            </a:pPr>
            <a:r>
              <a:rPr lang="en-US" sz="1600" dirty="0">
                <a:solidFill>
                  <a:srgbClr val="334155"/>
                </a:solidFill>
                <a:latin typeface="Calibri" pitchFamily="34" charset="0"/>
                <a:ea typeface="Calibri" pitchFamily="34" charset="-122"/>
                <a:cs typeface="Calibri" pitchFamily="34" charset="-120"/>
              </a:rPr>
              <a:t>Doar o coloana de etichete (timestamp) si o coloana de valori. </a:t>
            </a:r>
            <a:endParaRPr lang="en-US" sz="20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2000" dirty="0"/>
          </a:p>
          <a:p>
            <a:pPr indent="0" marL="0">
              <a:buNone/>
            </a:pPr>
            <a:r>
              <a:rPr lang="en-US" sz="1600" dirty="0">
                <a:solidFill>
                  <a:srgbClr val="334155"/>
                </a:solidFill>
                <a:latin typeface="Calibri" pitchFamily="34" charset="0"/>
                <a:ea typeface="Calibri" pitchFamily="34" charset="-122"/>
                <a:cs typeface="Calibri" pitchFamily="34" charset="-120"/>
              </a:rPr>
              <a:t>Modelele clasice de Machine Learning </a:t>
            </a:r>
            <a:pPr indent="0" marL="0">
              <a:buNone/>
            </a:pPr>
            <a:r>
              <a:rPr lang="en-US" sz="1600" b="1" dirty="0">
                <a:solidFill>
                  <a:srgbClr val="EC4899"/>
                </a:solidFill>
                <a:latin typeface="Calibri" pitchFamily="34" charset="0"/>
                <a:ea typeface="Calibri" pitchFamily="34" charset="-122"/>
                <a:cs typeface="Calibri" pitchFamily="34" charset="-120"/>
              </a:rPr>
              <a:t>NU pot folosi un timestamp</a:t>
            </a:r>
            <a:pPr indent="0" marL="0">
              <a:buNone/>
            </a:pPr>
            <a:r>
              <a:rPr lang="en-US" sz="1600" dirty="0">
                <a:solidFill>
                  <a:srgbClr val="334155"/>
                </a:solidFill>
                <a:latin typeface="Calibri" pitchFamily="34" charset="0"/>
                <a:ea typeface="Calibri" pitchFamily="34" charset="-122"/>
                <a:cs typeface="Calibri" pitchFamily="34" charset="-120"/>
              </a:rPr>
              <a:t> - este doar un string. </a:t>
            </a:r>
            <a:endParaRPr lang="en-US" sz="20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2000" dirty="0"/>
          </a:p>
          <a:p>
            <a:pPr indent="0" marL="0">
              <a:buNone/>
            </a:pPr>
            <a:r>
              <a:rPr lang="en-US" sz="1600" dirty="0">
                <a:solidFill>
                  <a:srgbClr val="334155"/>
                </a:solidFill>
                <a:latin typeface="Calibri" pitchFamily="34" charset="0"/>
                <a:ea typeface="Calibri" pitchFamily="34" charset="-122"/>
                <a:cs typeface="Calibri" pitchFamily="34" charset="-120"/>
              </a:rPr>
              <a:t>Ele au nevoie de un tabel cu coloane informative - numere, statistici, indicatori - care sa surprinda pattern-urile temporale.</a:t>
            </a:r>
            <a:endParaRPr lang="en-US" sz="2000" dirty="0"/>
          </a:p>
        </p:txBody>
      </p:sp>
      <p:sp>
        <p:nvSpPr>
          <p:cNvPr id="11" name="Text 8"/>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2" name="Text 9"/>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7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additive="base">
                                        <p:cTn id="5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9"/>
                                        </p:tgtEl>
                                        <p:attrNameLst>
                                          <p:attrName>style.visibility</p:attrName>
                                        </p:attrNameLst>
                                      </p:cBhvr>
                                      <p:to>
                                        <p:strVal val="visible"/>
                                      </p:to>
                                    </p:set>
                                    <p:anim calcmode="lin" valueType="num">
                                      <p:cBhvr additive="base">
                                        <p:cTn id="6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0"/>
                                        </p:tgtEl>
                                        <p:attrNameLst>
                                          <p:attrName>style.visibility</p:attrName>
                                        </p:attrNameLst>
                                      </p:cBhvr>
                                      <p:to>
                                        <p:strVal val="visible"/>
                                      </p:to>
                                    </p:set>
                                    <p:anim calcmode="lin" valueType="num">
                                      <p:cBhvr additive="base">
                                        <p:cTn id="70" dur="50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1"/>
                                        </p:tgtEl>
                                        <p:attrNameLst>
                                          <p:attrName>style.visibility</p:attrName>
                                        </p:attrNameLst>
                                      </p:cBhvr>
                                      <p:to>
                                        <p:strVal val="visible"/>
                                      </p:to>
                                    </p:set>
                                    <p:anim calcmode="lin" valueType="num">
                                      <p:cBhvr additive="base">
                                        <p:cTn id="80" dur="50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8" grpId="0"/>
      <p:bldP spid="9" grpId="0"/>
      <p:bldP spid="10" grpId="0"/>
      <p:bldP spid="11" grpId="0"/>
    </p:bldLst>
  </p:timing>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PROBLEMA 2</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Pattern-uri ascunse in datele energetice</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Text 4"/>
          <p:cNvSpPr/>
          <p:nvPr/>
        </p:nvSpPr>
        <p:spPr>
          <a:xfrm>
            <a:off x="548640" y="1874520"/>
            <a:ext cx="11064240" cy="548640"/>
          </a:xfrm>
          <a:prstGeom prst="rect">
            <a:avLst/>
          </a:prstGeom>
          <a:noFill/>
          <a:ln/>
        </p:spPr>
        <p:txBody>
          <a:bodyPr wrap="square" rtlCol="0" anchor="ctr"/>
          <a:lstStyle/>
          <a:p>
            <a:pPr indent="0" marL="0">
              <a:buNone/>
            </a:pPr>
            <a:r>
              <a:rPr lang="en-US" sz="1700" i="1" dirty="0">
                <a:solidFill>
                  <a:srgbClr val="334155"/>
                </a:solidFill>
                <a:latin typeface="Calibri" pitchFamily="34" charset="0"/>
                <a:ea typeface="Calibri" pitchFamily="34" charset="-122"/>
                <a:cs typeface="Calibri" pitchFamily="34" charset="-120"/>
              </a:rPr>
              <a:t>Sub aspectul brut (timestamp, valoare) se ascund 4 tipuri de pattern-uri pe care modelul trebuie sa le invete:</a:t>
            </a:r>
            <a:endParaRPr lang="en-US" sz="1700" dirty="0"/>
          </a:p>
        </p:txBody>
      </p:sp>
      <p:sp>
        <p:nvSpPr>
          <p:cNvPr id="7" name="Shape 5"/>
          <p:cNvSpPr/>
          <p:nvPr/>
        </p:nvSpPr>
        <p:spPr>
          <a:xfrm>
            <a:off x="548640" y="2606040"/>
            <a:ext cx="5532120" cy="1463040"/>
          </a:xfrm>
          <a:prstGeom prst="rect">
            <a:avLst/>
          </a:prstGeom>
          <a:solidFill>
            <a:srgbClr val="FFFFFF"/>
          </a:solidFill>
          <a:ln w="25400">
            <a:solidFill>
              <a:srgbClr val="6366F1"/>
            </a:solidFill>
            <a:prstDash val="solid"/>
          </a:ln>
        </p:spPr>
      </p:sp>
      <p:sp>
        <p:nvSpPr>
          <p:cNvPr id="8" name="Shape 6"/>
          <p:cNvSpPr/>
          <p:nvPr/>
        </p:nvSpPr>
        <p:spPr>
          <a:xfrm>
            <a:off x="731520" y="2834640"/>
            <a:ext cx="777240" cy="777240"/>
          </a:xfrm>
          <a:prstGeom prst="ellipse">
            <a:avLst/>
          </a:prstGeom>
          <a:solidFill>
            <a:srgbClr val="6366F1"/>
          </a:solidFill>
          <a:ln w="12700">
            <a:solidFill>
              <a:srgbClr val="6366F1"/>
            </a:solidFill>
            <a:prstDash val="solid"/>
          </a:ln>
        </p:spPr>
      </p:sp>
      <p:sp>
        <p:nvSpPr>
          <p:cNvPr id="9" name="Text 7"/>
          <p:cNvSpPr/>
          <p:nvPr/>
        </p:nvSpPr>
        <p:spPr>
          <a:xfrm>
            <a:off x="731520" y="2834640"/>
            <a:ext cx="777240" cy="7772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a:t>
            </a:r>
            <a:endParaRPr lang="en-US" sz="2800" dirty="0"/>
          </a:p>
        </p:txBody>
      </p:sp>
      <p:sp>
        <p:nvSpPr>
          <p:cNvPr id="10" name="Text 8"/>
          <p:cNvSpPr/>
          <p:nvPr/>
        </p:nvSpPr>
        <p:spPr>
          <a:xfrm>
            <a:off x="1645920" y="2770632"/>
            <a:ext cx="4251960" cy="411480"/>
          </a:xfrm>
          <a:prstGeom prst="rect">
            <a:avLst/>
          </a:prstGeom>
          <a:noFill/>
          <a:ln/>
        </p:spPr>
        <p:txBody>
          <a:bodyPr wrap="square" rtlCol="0" anchor="ctr"/>
          <a:lstStyle/>
          <a:p>
            <a:pPr indent="0" marL="0">
              <a:buNone/>
            </a:pPr>
            <a:r>
              <a:rPr lang="en-US" sz="1800" b="1" dirty="0">
                <a:solidFill>
                  <a:srgbClr val="6366F1"/>
                </a:solidFill>
                <a:latin typeface="Calibri" pitchFamily="34" charset="0"/>
                <a:ea typeface="Calibri" pitchFamily="34" charset="-122"/>
                <a:cs typeface="Calibri" pitchFamily="34" charset="-120"/>
              </a:rPr>
              <a:t>Sezonalitate orara</a:t>
            </a:r>
            <a:endParaRPr lang="en-US" sz="1800" dirty="0"/>
          </a:p>
        </p:txBody>
      </p:sp>
      <p:sp>
        <p:nvSpPr>
          <p:cNvPr id="11" name="Text 9"/>
          <p:cNvSpPr/>
          <p:nvPr/>
        </p:nvSpPr>
        <p:spPr>
          <a:xfrm>
            <a:off x="1645920" y="3200400"/>
            <a:ext cx="4251960" cy="868680"/>
          </a:xfrm>
          <a:prstGeom prst="rect">
            <a:avLst/>
          </a:prstGeom>
          <a:noFill/>
          <a:ln/>
        </p:spPr>
        <p:txBody>
          <a:bodyPr wrap="square" rtlCol="0" anchor="ctr"/>
          <a:lstStyle/>
          <a:p>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Consumul de energie creste dimineata (oameni se trezesc), atinge varf seara (cina + iluminat), scade noaptea.</a:t>
            </a:r>
            <a:endParaRPr lang="en-US" sz="1400" dirty="0"/>
          </a:p>
        </p:txBody>
      </p:sp>
      <p:sp>
        <p:nvSpPr>
          <p:cNvPr id="12" name="Shape 10"/>
          <p:cNvSpPr/>
          <p:nvPr/>
        </p:nvSpPr>
        <p:spPr>
          <a:xfrm>
            <a:off x="6263640" y="2606040"/>
            <a:ext cx="5532120" cy="1463040"/>
          </a:xfrm>
          <a:prstGeom prst="rect">
            <a:avLst/>
          </a:prstGeom>
          <a:solidFill>
            <a:srgbClr val="FFFFFF"/>
          </a:solidFill>
          <a:ln w="25400">
            <a:solidFill>
              <a:srgbClr val="EC4899"/>
            </a:solidFill>
            <a:prstDash val="solid"/>
          </a:ln>
        </p:spPr>
      </p:sp>
      <p:sp>
        <p:nvSpPr>
          <p:cNvPr id="13" name="Shape 11"/>
          <p:cNvSpPr/>
          <p:nvPr/>
        </p:nvSpPr>
        <p:spPr>
          <a:xfrm>
            <a:off x="6446520" y="2834640"/>
            <a:ext cx="777240" cy="777240"/>
          </a:xfrm>
          <a:prstGeom prst="ellipse">
            <a:avLst/>
          </a:prstGeom>
          <a:solidFill>
            <a:srgbClr val="EC4899"/>
          </a:solidFill>
          <a:ln w="12700">
            <a:solidFill>
              <a:srgbClr val="EC4899"/>
            </a:solidFill>
            <a:prstDash val="solid"/>
          </a:ln>
        </p:spPr>
      </p:sp>
      <p:sp>
        <p:nvSpPr>
          <p:cNvPr id="14" name="Text 12"/>
          <p:cNvSpPr/>
          <p:nvPr/>
        </p:nvSpPr>
        <p:spPr>
          <a:xfrm>
            <a:off x="6446520" y="2834640"/>
            <a:ext cx="777240" cy="7772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B</a:t>
            </a:r>
            <a:endParaRPr lang="en-US" sz="2800" dirty="0"/>
          </a:p>
        </p:txBody>
      </p:sp>
      <p:sp>
        <p:nvSpPr>
          <p:cNvPr id="15" name="Text 13"/>
          <p:cNvSpPr/>
          <p:nvPr/>
        </p:nvSpPr>
        <p:spPr>
          <a:xfrm>
            <a:off x="7360920" y="2770632"/>
            <a:ext cx="4251960" cy="411480"/>
          </a:xfrm>
          <a:prstGeom prst="rect">
            <a:avLst/>
          </a:prstGeom>
          <a:noFill/>
          <a:ln/>
        </p:spPr>
        <p:txBody>
          <a:bodyPr wrap="square" rtlCol="0" anchor="ctr"/>
          <a:lstStyle/>
          <a:p>
            <a:pPr indent="0" marL="0">
              <a:buNone/>
            </a:pPr>
            <a:r>
              <a:rPr lang="en-US" sz="1800" b="1" dirty="0">
                <a:solidFill>
                  <a:srgbClr val="EC4899"/>
                </a:solidFill>
                <a:latin typeface="Calibri" pitchFamily="34" charset="0"/>
                <a:ea typeface="Calibri" pitchFamily="34" charset="-122"/>
                <a:cs typeface="Calibri" pitchFamily="34" charset="-120"/>
              </a:rPr>
              <a:t>Ciclu saptamanal</a:t>
            </a:r>
            <a:endParaRPr lang="en-US" sz="1800" dirty="0"/>
          </a:p>
        </p:txBody>
      </p:sp>
      <p:sp>
        <p:nvSpPr>
          <p:cNvPr id="16" name="Text 14"/>
          <p:cNvSpPr/>
          <p:nvPr/>
        </p:nvSpPr>
        <p:spPr>
          <a:xfrm>
            <a:off x="7360920" y="3200400"/>
            <a:ext cx="4251960" cy="868680"/>
          </a:xfrm>
          <a:prstGeom prst="rect">
            <a:avLst/>
          </a:prstGeom>
          <a:noFill/>
          <a:ln/>
        </p:spPr>
        <p:txBody>
          <a:bodyPr wrap="square" rtlCol="0" anchor="ctr"/>
          <a:lstStyle/>
          <a:p>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Fabricile lucreaza luni-vineri, sunt inchise in weekend. Consumul industrial difera semnificativ intre cele 2 perioade.</a:t>
            </a:r>
            <a:endParaRPr lang="en-US" sz="1400" dirty="0"/>
          </a:p>
        </p:txBody>
      </p:sp>
      <p:sp>
        <p:nvSpPr>
          <p:cNvPr id="17" name="Shape 15"/>
          <p:cNvSpPr/>
          <p:nvPr/>
        </p:nvSpPr>
        <p:spPr>
          <a:xfrm>
            <a:off x="548640" y="4206240"/>
            <a:ext cx="5532120" cy="1463040"/>
          </a:xfrm>
          <a:prstGeom prst="rect">
            <a:avLst/>
          </a:prstGeom>
          <a:solidFill>
            <a:srgbClr val="FFFFFF"/>
          </a:solidFill>
          <a:ln w="25400">
            <a:solidFill>
              <a:srgbClr val="FBBF24"/>
            </a:solidFill>
            <a:prstDash val="solid"/>
          </a:ln>
        </p:spPr>
      </p:sp>
      <p:sp>
        <p:nvSpPr>
          <p:cNvPr id="18" name="Shape 16"/>
          <p:cNvSpPr/>
          <p:nvPr/>
        </p:nvSpPr>
        <p:spPr>
          <a:xfrm>
            <a:off x="731520" y="4434840"/>
            <a:ext cx="777240" cy="777240"/>
          </a:xfrm>
          <a:prstGeom prst="ellipse">
            <a:avLst/>
          </a:prstGeom>
          <a:solidFill>
            <a:srgbClr val="FBBF24"/>
          </a:solidFill>
          <a:ln w="12700">
            <a:solidFill>
              <a:srgbClr val="FBBF24"/>
            </a:solidFill>
            <a:prstDash val="solid"/>
          </a:ln>
        </p:spPr>
      </p:sp>
      <p:sp>
        <p:nvSpPr>
          <p:cNvPr id="19" name="Text 17"/>
          <p:cNvSpPr/>
          <p:nvPr/>
        </p:nvSpPr>
        <p:spPr>
          <a:xfrm>
            <a:off x="731520" y="4434840"/>
            <a:ext cx="777240" cy="7772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a:t>
            </a:r>
            <a:endParaRPr lang="en-US" sz="2800" dirty="0"/>
          </a:p>
        </p:txBody>
      </p:sp>
      <p:sp>
        <p:nvSpPr>
          <p:cNvPr id="20" name="Text 18"/>
          <p:cNvSpPr/>
          <p:nvPr/>
        </p:nvSpPr>
        <p:spPr>
          <a:xfrm>
            <a:off x="1645920" y="4370832"/>
            <a:ext cx="4251960" cy="411480"/>
          </a:xfrm>
          <a:prstGeom prst="rect">
            <a:avLst/>
          </a:prstGeom>
          <a:noFill/>
          <a:ln/>
        </p:spPr>
        <p:txBody>
          <a:bodyPr wrap="square"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Autoregresivitate</a:t>
            </a:r>
            <a:endParaRPr lang="en-US" sz="1800" dirty="0"/>
          </a:p>
        </p:txBody>
      </p:sp>
      <p:sp>
        <p:nvSpPr>
          <p:cNvPr id="21" name="Text 19"/>
          <p:cNvSpPr/>
          <p:nvPr/>
        </p:nvSpPr>
        <p:spPr>
          <a:xfrm>
            <a:off x="1645920" y="4800600"/>
            <a:ext cx="4251960" cy="868680"/>
          </a:xfrm>
          <a:prstGeom prst="rect">
            <a:avLst/>
          </a:prstGeom>
          <a:noFill/>
          <a:ln/>
        </p:spPr>
        <p:txBody>
          <a:bodyPr wrap="square" rtlCol="0" anchor="ctr"/>
          <a:lstStyle/>
          <a:p>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Pretul peste o ora va fi probabil aproape de pretul actual. Cererea si oferta nu se schimba brusc - exista inertie.</a:t>
            </a:r>
            <a:endParaRPr lang="en-US" sz="1400" dirty="0"/>
          </a:p>
        </p:txBody>
      </p:sp>
      <p:sp>
        <p:nvSpPr>
          <p:cNvPr id="22" name="Shape 20"/>
          <p:cNvSpPr/>
          <p:nvPr/>
        </p:nvSpPr>
        <p:spPr>
          <a:xfrm>
            <a:off x="6263640" y="4206240"/>
            <a:ext cx="5532120" cy="1463040"/>
          </a:xfrm>
          <a:prstGeom prst="rect">
            <a:avLst/>
          </a:prstGeom>
          <a:solidFill>
            <a:srgbClr val="FFFFFF"/>
          </a:solidFill>
          <a:ln w="25400">
            <a:solidFill>
              <a:srgbClr val="10B981"/>
            </a:solidFill>
            <a:prstDash val="solid"/>
          </a:ln>
        </p:spPr>
      </p:sp>
      <p:sp>
        <p:nvSpPr>
          <p:cNvPr id="23" name="Shape 21"/>
          <p:cNvSpPr/>
          <p:nvPr/>
        </p:nvSpPr>
        <p:spPr>
          <a:xfrm>
            <a:off x="6446520" y="4434840"/>
            <a:ext cx="777240" cy="777240"/>
          </a:xfrm>
          <a:prstGeom prst="ellipse">
            <a:avLst/>
          </a:prstGeom>
          <a:solidFill>
            <a:srgbClr val="10B981"/>
          </a:solidFill>
          <a:ln w="12700">
            <a:solidFill>
              <a:srgbClr val="10B981"/>
            </a:solidFill>
            <a:prstDash val="solid"/>
          </a:ln>
        </p:spPr>
      </p:sp>
      <p:sp>
        <p:nvSpPr>
          <p:cNvPr id="24" name="Text 22"/>
          <p:cNvSpPr/>
          <p:nvPr/>
        </p:nvSpPr>
        <p:spPr>
          <a:xfrm>
            <a:off x="6446520" y="4434840"/>
            <a:ext cx="777240" cy="7772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a:t>
            </a:r>
            <a:endParaRPr lang="en-US" sz="2800" dirty="0"/>
          </a:p>
        </p:txBody>
      </p:sp>
      <p:sp>
        <p:nvSpPr>
          <p:cNvPr id="25" name="Text 23"/>
          <p:cNvSpPr/>
          <p:nvPr/>
        </p:nvSpPr>
        <p:spPr>
          <a:xfrm>
            <a:off x="7360920" y="4370832"/>
            <a:ext cx="4251960" cy="411480"/>
          </a:xfrm>
          <a:prstGeom prst="rect">
            <a:avLst/>
          </a:prstGeom>
          <a:noFill/>
          <a:ln/>
        </p:spPr>
        <p:txBody>
          <a:bodyPr wrap="square" rtlCol="0" anchor="ctr"/>
          <a:lstStyle/>
          <a:p>
            <a:pPr indent="0" marL="0">
              <a:buNone/>
            </a:pPr>
            <a:r>
              <a:rPr lang="en-US" sz="1800" b="1" dirty="0">
                <a:solidFill>
                  <a:srgbClr val="10B981"/>
                </a:solidFill>
                <a:latin typeface="Calibri" pitchFamily="34" charset="0"/>
                <a:ea typeface="Calibri" pitchFamily="34" charset="-122"/>
                <a:cs typeface="Calibri" pitchFamily="34" charset="-120"/>
              </a:rPr>
              <a:t>Trend si volatilitate</a:t>
            </a:r>
            <a:endParaRPr lang="en-US" sz="1800" dirty="0"/>
          </a:p>
        </p:txBody>
      </p:sp>
      <p:sp>
        <p:nvSpPr>
          <p:cNvPr id="26" name="Text 24"/>
          <p:cNvSpPr/>
          <p:nvPr/>
        </p:nvSpPr>
        <p:spPr>
          <a:xfrm>
            <a:off x="7360920" y="4800600"/>
            <a:ext cx="4251960" cy="868680"/>
          </a:xfrm>
          <a:prstGeom prst="rect">
            <a:avLst/>
          </a:prstGeom>
          <a:noFill/>
          <a:ln/>
        </p:spPr>
        <p:txBody>
          <a:bodyPr wrap="square" rtlCol="0" anchor="ctr"/>
          <a:lstStyle/>
          <a:p>
            <a:pPr indent="0" marL="0">
              <a:lnSpc>
                <a:spcPct val="115000"/>
              </a:lnSpc>
              <a:buNone/>
            </a:pPr>
            <a:r>
              <a:rPr lang="en-US" sz="1400" dirty="0">
                <a:solidFill>
                  <a:srgbClr val="334155"/>
                </a:solidFill>
                <a:latin typeface="Calibri" pitchFamily="34" charset="0"/>
                <a:ea typeface="Calibri" pitchFamily="34" charset="-122"/>
                <a:cs typeface="Calibri" pitchFamily="34" charset="-120"/>
              </a:rPr>
              <a:t>Pe perioade scurte exista directie generala (in crestere/scadere). Volatilitatea masoara cat de stabil este sistemul.</a:t>
            </a:r>
            <a:endParaRPr lang="en-US" sz="1400" dirty="0"/>
          </a:p>
        </p:txBody>
      </p:sp>
      <p:sp>
        <p:nvSpPr>
          <p:cNvPr id="27" name="Text 25"/>
          <p:cNvSpPr/>
          <p:nvPr/>
        </p:nvSpPr>
        <p:spPr>
          <a:xfrm>
            <a:off x="548640" y="5852160"/>
            <a:ext cx="11064240" cy="365760"/>
          </a:xfrm>
          <a:prstGeom prst="rect">
            <a:avLst/>
          </a:prstGeom>
          <a:noFill/>
          <a:ln/>
        </p:spPr>
        <p:txBody>
          <a:bodyPr wrap="square" rtlCol="0" anchor="ctr"/>
          <a:lstStyle/>
          <a:p>
            <a:pPr algn="ctr" indent="0" marL="0">
              <a:buNone/>
            </a:pPr>
            <a:r>
              <a:rPr lang="en-US" sz="1600" b="1" i="1" dirty="0">
                <a:solidFill>
                  <a:srgbClr val="6366F1"/>
                </a:solidFill>
                <a:latin typeface="Calibri" pitchFamily="34" charset="0"/>
                <a:ea typeface="Calibri" pitchFamily="34" charset="-122"/>
                <a:cs typeface="Calibri" pitchFamily="34" charset="-120"/>
              </a:rPr>
              <a:t>Aceste pattern-uri exista in date - dar trebuie sa le scoatem explicit ca features.</a:t>
            </a:r>
            <a:endParaRPr lang="en-US" sz="1600" dirty="0"/>
          </a:p>
        </p:txBody>
      </p:sp>
      <p:sp>
        <p:nvSpPr>
          <p:cNvPr id="28" name="Text 26"/>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29" name="Text 27"/>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8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PROBLEMA 3</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Capcane subtile: cum apar modele false</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548640" y="1828800"/>
            <a:ext cx="11064240" cy="1280160"/>
          </a:xfrm>
          <a:prstGeom prst="rect">
            <a:avLst/>
          </a:prstGeom>
          <a:solidFill>
            <a:srgbClr val="F1F5F9"/>
          </a:solidFill>
          <a:ln w="12700">
            <a:solidFill>
              <a:srgbClr val="E2E8F0"/>
            </a:solidFill>
            <a:prstDash val="solid"/>
          </a:ln>
        </p:spPr>
      </p:sp>
      <p:sp>
        <p:nvSpPr>
          <p:cNvPr id="7" name="Shape 5"/>
          <p:cNvSpPr/>
          <p:nvPr/>
        </p:nvSpPr>
        <p:spPr>
          <a:xfrm>
            <a:off x="548640" y="1828800"/>
            <a:ext cx="137160" cy="1280160"/>
          </a:xfrm>
          <a:prstGeom prst="rect">
            <a:avLst/>
          </a:prstGeom>
          <a:solidFill>
            <a:srgbClr val="EC4899"/>
          </a:solidFill>
          <a:ln w="12700">
            <a:solidFill>
              <a:srgbClr val="EC4899"/>
            </a:solidFill>
            <a:prstDash val="solid"/>
          </a:ln>
        </p:spPr>
      </p:sp>
      <p:sp>
        <p:nvSpPr>
          <p:cNvPr id="8" name="Text 6"/>
          <p:cNvSpPr/>
          <p:nvPr/>
        </p:nvSpPr>
        <p:spPr>
          <a:xfrm>
            <a:off x="777240" y="1920240"/>
            <a:ext cx="10607040" cy="1097280"/>
          </a:xfrm>
          <a:prstGeom prst="rect">
            <a:avLst/>
          </a:prstGeom>
          <a:noFill/>
          <a:ln/>
        </p:spPr>
        <p:txBody>
          <a:bodyPr wrap="square" rtlCol="0" anchor="t"/>
          <a:lstStyle/>
          <a:p>
            <a:pPr indent="0" marL="0">
              <a:buNone/>
            </a:pPr>
            <a:r>
              <a:rPr lang="en-US" sz="1800" b="1" dirty="0">
                <a:solidFill>
                  <a:srgbClr val="EC4899"/>
                </a:solidFill>
                <a:latin typeface="Calibri" pitchFamily="34" charset="0"/>
                <a:ea typeface="Calibri" pitchFamily="34" charset="-122"/>
                <a:cs typeface="Calibri" pitchFamily="34" charset="-120"/>
              </a:rPr>
              <a:t>Capcana 1: Discontinuitati false in reprezentare
</a:t>
            </a:r>
            <a:pPr indent="0" marL="0">
              <a:buNone/>
            </a:pPr>
            <a:r>
              <a:rPr lang="en-US" sz="1500" dirty="0">
                <a:solidFill>
                  <a:srgbClr val="334155"/>
                </a:solidFill>
                <a:latin typeface="Calibri" pitchFamily="34" charset="0"/>
                <a:ea typeface="Calibri" pitchFamily="34" charset="-122"/>
                <a:cs typeface="Calibri" pitchFamily="34" charset="-120"/>
              </a:rPr>
              <a:t>Daca codificam ora ca numar liniar 0-23, modelul vede ora 23 si ora 0 ca fiind la distanta 23. </a:t>
            </a:r>
            <a:pPr indent="0" marL="0">
              <a:buNone/>
            </a:pPr>
            <a:r>
              <a:rPr lang="en-US" sz="1500" b="1" dirty="0">
                <a:solidFill>
                  <a:srgbClr val="334155"/>
                </a:solidFill>
                <a:latin typeface="Calibri" pitchFamily="34" charset="0"/>
                <a:ea typeface="Calibri" pitchFamily="34" charset="-122"/>
                <a:cs typeface="Calibri" pitchFamily="34" charset="-120"/>
              </a:rPr>
              <a:t>Dar fizic sunt vecine (ambele noaptea). </a:t>
            </a:r>
            <a:pPr indent="0" marL="0">
              <a:buNone/>
            </a:pPr>
            <a:r>
              <a:rPr lang="en-US" sz="1500" dirty="0">
                <a:solidFill>
                  <a:srgbClr val="334155"/>
                </a:solidFill>
                <a:latin typeface="Calibri" pitchFamily="34" charset="0"/>
                <a:ea typeface="Calibri" pitchFamily="34" charset="-122"/>
                <a:cs typeface="Calibri" pitchFamily="34" charset="-120"/>
              </a:rPr>
              <a:t>Modelul invata greu o discontinuitate care nu exista.</a:t>
            </a:r>
            <a:endParaRPr lang="en-US" sz="1800" dirty="0"/>
          </a:p>
        </p:txBody>
      </p:sp>
      <p:sp>
        <p:nvSpPr>
          <p:cNvPr id="9" name="Shape 7"/>
          <p:cNvSpPr/>
          <p:nvPr/>
        </p:nvSpPr>
        <p:spPr>
          <a:xfrm>
            <a:off x="548640" y="3291840"/>
            <a:ext cx="11064240" cy="1463040"/>
          </a:xfrm>
          <a:prstGeom prst="rect">
            <a:avLst/>
          </a:prstGeom>
          <a:solidFill>
            <a:srgbClr val="F1F5F9"/>
          </a:solidFill>
          <a:ln w="12700">
            <a:solidFill>
              <a:srgbClr val="E2E8F0"/>
            </a:solidFill>
            <a:prstDash val="solid"/>
          </a:ln>
        </p:spPr>
      </p:sp>
      <p:sp>
        <p:nvSpPr>
          <p:cNvPr id="10" name="Shape 8"/>
          <p:cNvSpPr/>
          <p:nvPr/>
        </p:nvSpPr>
        <p:spPr>
          <a:xfrm>
            <a:off x="548640" y="3291840"/>
            <a:ext cx="137160" cy="1463040"/>
          </a:xfrm>
          <a:prstGeom prst="rect">
            <a:avLst/>
          </a:prstGeom>
          <a:solidFill>
            <a:srgbClr val="FBBF24"/>
          </a:solidFill>
          <a:ln w="12700">
            <a:solidFill>
              <a:srgbClr val="FBBF24"/>
            </a:solidFill>
            <a:prstDash val="solid"/>
          </a:ln>
        </p:spPr>
      </p:sp>
      <p:sp>
        <p:nvSpPr>
          <p:cNvPr id="11" name="Text 9"/>
          <p:cNvSpPr/>
          <p:nvPr/>
        </p:nvSpPr>
        <p:spPr>
          <a:xfrm>
            <a:off x="777240" y="3383280"/>
            <a:ext cx="10607040" cy="1280160"/>
          </a:xfrm>
          <a:prstGeom prst="rect">
            <a:avLst/>
          </a:prstGeom>
          <a:noFill/>
          <a:ln/>
        </p:spPr>
        <p:txBody>
          <a:bodyPr wrap="square" rtlCol="0" anchor="t"/>
          <a:lstStyle/>
          <a:p>
            <a:pPr indent="0" marL="0">
              <a:buNone/>
            </a:pPr>
            <a:r>
              <a:rPr lang="en-US" sz="1800" b="1" dirty="0">
                <a:solidFill>
                  <a:srgbClr val="FBBF24"/>
                </a:solidFill>
                <a:latin typeface="Calibri" pitchFamily="34" charset="0"/>
                <a:ea typeface="Calibri" pitchFamily="34" charset="-122"/>
                <a:cs typeface="Calibri" pitchFamily="34" charset="-120"/>
              </a:rPr>
              <a:t>Capcana 2: Data leakage prin features prost calculate
</a:t>
            </a:r>
            <a:pPr indent="0" marL="0">
              <a:buNone/>
            </a:pPr>
            <a:r>
              <a:rPr lang="en-US" sz="1500" dirty="0">
                <a:solidFill>
                  <a:srgbClr val="334155"/>
                </a:solidFill>
                <a:latin typeface="Calibri" pitchFamily="34" charset="0"/>
                <a:ea typeface="Calibri" pitchFamily="34" charset="-122"/>
                <a:cs typeface="Calibri" pitchFamily="34" charset="-120"/>
              </a:rPr>
              <a:t>Daca calculam o medie 'plimbatoare' care include accidental valoarea-tinta, </a:t>
            </a:r>
            <a:pPr indent="0" marL="0">
              <a:buNone/>
            </a:pPr>
            <a:r>
              <a:rPr lang="en-US" sz="1500" b="1" dirty="0">
                <a:solidFill>
                  <a:srgbClr val="334155"/>
                </a:solidFill>
                <a:latin typeface="Calibri" pitchFamily="34" charset="0"/>
                <a:ea typeface="Calibri" pitchFamily="34" charset="-122"/>
                <a:cs typeface="Calibri" pitchFamily="34" charset="-120"/>
              </a:rPr>
              <a:t>modelul 'vede' raspunsul </a:t>
            </a:r>
            <a:pPr indent="0" marL="0">
              <a:buNone/>
            </a:pPr>
            <a:r>
              <a:rPr lang="en-US" sz="1500" dirty="0">
                <a:solidFill>
                  <a:srgbClr val="334155"/>
                </a:solidFill>
                <a:latin typeface="Calibri" pitchFamily="34" charset="0"/>
                <a:ea typeface="Calibri" pitchFamily="34" charset="-122"/>
                <a:cs typeface="Calibri" pitchFamily="34" charset="-120"/>
              </a:rPr>
              <a:t>si obtine performanta aparent excelenta (R² = 0.93) - dar este complet inutil in productie pentru ca nu putem cunoaste viitorul.</a:t>
            </a:r>
            <a:endParaRPr lang="en-US" sz="1800" dirty="0"/>
          </a:p>
        </p:txBody>
      </p:sp>
      <p:sp>
        <p:nvSpPr>
          <p:cNvPr id="12" name="Shape 10"/>
          <p:cNvSpPr/>
          <p:nvPr/>
        </p:nvSpPr>
        <p:spPr>
          <a:xfrm>
            <a:off x="548640" y="4937760"/>
            <a:ext cx="11064240" cy="1097280"/>
          </a:xfrm>
          <a:prstGeom prst="rect">
            <a:avLst/>
          </a:prstGeom>
          <a:solidFill>
            <a:srgbClr val="F1F5F9"/>
          </a:solidFill>
          <a:ln w="12700">
            <a:solidFill>
              <a:srgbClr val="E2E8F0"/>
            </a:solidFill>
            <a:prstDash val="solid"/>
          </a:ln>
        </p:spPr>
      </p:sp>
      <p:sp>
        <p:nvSpPr>
          <p:cNvPr id="13" name="Shape 11"/>
          <p:cNvSpPr/>
          <p:nvPr/>
        </p:nvSpPr>
        <p:spPr>
          <a:xfrm>
            <a:off x="548640" y="4937760"/>
            <a:ext cx="137160" cy="1097280"/>
          </a:xfrm>
          <a:prstGeom prst="rect">
            <a:avLst/>
          </a:prstGeom>
          <a:solidFill>
            <a:srgbClr val="6366F1"/>
          </a:solidFill>
          <a:ln w="12700">
            <a:solidFill>
              <a:srgbClr val="6366F1"/>
            </a:solidFill>
            <a:prstDash val="solid"/>
          </a:ln>
        </p:spPr>
      </p:sp>
      <p:sp>
        <p:nvSpPr>
          <p:cNvPr id="14" name="Text 12"/>
          <p:cNvSpPr/>
          <p:nvPr/>
        </p:nvSpPr>
        <p:spPr>
          <a:xfrm>
            <a:off x="777240" y="5029200"/>
            <a:ext cx="10607040" cy="914400"/>
          </a:xfrm>
          <a:prstGeom prst="rect">
            <a:avLst/>
          </a:prstGeom>
          <a:noFill/>
          <a:ln/>
        </p:spPr>
        <p:txBody>
          <a:bodyPr wrap="square" rtlCol="0" anchor="t"/>
          <a:lstStyle/>
          <a:p>
            <a:pPr indent="0" marL="0">
              <a:buNone/>
            </a:pPr>
            <a:r>
              <a:rPr lang="en-US" sz="1800" b="1" dirty="0">
                <a:solidFill>
                  <a:srgbClr val="6366F1"/>
                </a:solidFill>
                <a:latin typeface="Calibri" pitchFamily="34" charset="0"/>
                <a:ea typeface="Calibri" pitchFamily="34" charset="-122"/>
                <a:cs typeface="Calibri" pitchFamily="34" charset="-120"/>
              </a:rPr>
              <a:t>De ce sunt periculoase aceste capcane?
</a:t>
            </a:r>
            <a:pPr indent="0" marL="0">
              <a:buNone/>
            </a:pPr>
            <a:r>
              <a:rPr lang="en-US" sz="1500" dirty="0">
                <a:solidFill>
                  <a:srgbClr val="334155"/>
                </a:solidFill>
                <a:latin typeface="Calibri" pitchFamily="34" charset="0"/>
                <a:ea typeface="Calibri" pitchFamily="34" charset="-122"/>
                <a:cs typeface="Calibri" pitchFamily="34" charset="-120"/>
              </a:rPr>
              <a:t>Modelele construite gresit </a:t>
            </a:r>
            <a:pPr indent="0" marL="0">
              <a:buNone/>
            </a:pPr>
            <a:r>
              <a:rPr lang="en-US" sz="1500" b="1" dirty="0">
                <a:solidFill>
                  <a:srgbClr val="334155"/>
                </a:solidFill>
                <a:latin typeface="Calibri" pitchFamily="34" charset="0"/>
                <a:ea typeface="Calibri" pitchFamily="34" charset="-122"/>
                <a:cs typeface="Calibri" pitchFamily="34" charset="-120"/>
              </a:rPr>
              <a:t>arata excelent la evaluare </a:t>
            </a:r>
            <a:pPr indent="0" marL="0">
              <a:buNone/>
            </a:pPr>
            <a:r>
              <a:rPr lang="en-US" sz="1500" dirty="0">
                <a:solidFill>
                  <a:srgbClr val="334155"/>
                </a:solidFill>
                <a:latin typeface="Calibri" pitchFamily="34" charset="0"/>
                <a:ea typeface="Calibri" pitchFamily="34" charset="-122"/>
                <a:cs typeface="Calibri" pitchFamily="34" charset="-120"/>
              </a:rPr>
              <a:t>(scoruri R² peste 0.99, MAPE sub 1%) dar </a:t>
            </a:r>
            <a:pPr indent="0" marL="0">
              <a:buNone/>
            </a:pPr>
            <a:r>
              <a:rPr lang="en-US" sz="1500" b="1" dirty="0">
                <a:solidFill>
                  <a:srgbClr val="EC4899"/>
                </a:solidFill>
                <a:latin typeface="Calibri" pitchFamily="34" charset="0"/>
                <a:ea typeface="Calibri" pitchFamily="34" charset="-122"/>
                <a:cs typeface="Calibri" pitchFamily="34" charset="-120"/>
              </a:rPr>
              <a:t>esueaza catastrofal in productie.</a:t>
            </a:r>
            <a:endParaRPr lang="en-US" sz="1800" dirty="0"/>
          </a:p>
        </p:txBody>
      </p:sp>
      <p:sp>
        <p:nvSpPr>
          <p:cNvPr id="15" name="Text 13"/>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6" name="Text 14"/>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9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SOLUTIA</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Trei tehnici de feature engineering</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Text 4"/>
          <p:cNvSpPr/>
          <p:nvPr/>
        </p:nvSpPr>
        <p:spPr>
          <a:xfrm>
            <a:off x="548640" y="1828800"/>
            <a:ext cx="11064240" cy="640080"/>
          </a:xfrm>
          <a:prstGeom prst="rect">
            <a:avLst/>
          </a:prstGeom>
          <a:noFill/>
          <a:ln/>
        </p:spPr>
        <p:txBody>
          <a:bodyPr wrap="square" rtlCol="0" anchor="ctr"/>
          <a:lstStyle/>
          <a:p>
            <a:pPr indent="0" marL="0">
              <a:buNone/>
            </a:pPr>
            <a:r>
              <a:rPr lang="en-US" sz="1800" i="1" dirty="0">
                <a:solidFill>
                  <a:srgbClr val="334155"/>
                </a:solidFill>
                <a:latin typeface="Calibri" pitchFamily="34" charset="0"/>
                <a:ea typeface="Calibri" pitchFamily="34" charset="-122"/>
                <a:cs typeface="Calibri" pitchFamily="34" charset="-120"/>
              </a:rPr>
              <a:t>Pentru a transforma datele brute in features utile si pentru a evita capcanele, folosim trei tehnici complementare:</a:t>
            </a:r>
            <a:endParaRPr lang="en-US" sz="1800" dirty="0"/>
          </a:p>
        </p:txBody>
      </p:sp>
      <p:sp>
        <p:nvSpPr>
          <p:cNvPr id="7" name="Shape 5"/>
          <p:cNvSpPr/>
          <p:nvPr/>
        </p:nvSpPr>
        <p:spPr>
          <a:xfrm>
            <a:off x="548640" y="2743200"/>
            <a:ext cx="3611880" cy="3383280"/>
          </a:xfrm>
          <a:prstGeom prst="rect">
            <a:avLst/>
          </a:prstGeom>
          <a:solidFill>
            <a:srgbClr val="FFFFFF"/>
          </a:solidFill>
          <a:ln w="38100">
            <a:solidFill>
              <a:srgbClr val="6366F1"/>
            </a:solidFill>
            <a:prstDash val="solid"/>
          </a:ln>
        </p:spPr>
      </p:sp>
      <p:sp>
        <p:nvSpPr>
          <p:cNvPr id="8" name="Shape 6"/>
          <p:cNvSpPr/>
          <p:nvPr/>
        </p:nvSpPr>
        <p:spPr>
          <a:xfrm>
            <a:off x="1737360" y="2926080"/>
            <a:ext cx="1188720" cy="1188720"/>
          </a:xfrm>
          <a:prstGeom prst="ellipse">
            <a:avLst/>
          </a:prstGeom>
          <a:solidFill>
            <a:srgbClr val="6366F1"/>
          </a:solidFill>
          <a:ln w="12700">
            <a:solidFill>
              <a:srgbClr val="6366F1"/>
            </a:solidFill>
            <a:prstDash val="solid"/>
          </a:ln>
        </p:spPr>
      </p:sp>
      <p:sp>
        <p:nvSpPr>
          <p:cNvPr id="9" name="Text 7"/>
          <p:cNvSpPr/>
          <p:nvPr/>
        </p:nvSpPr>
        <p:spPr>
          <a:xfrm>
            <a:off x="1737360" y="2926080"/>
            <a:ext cx="1188720" cy="118872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1</a:t>
            </a:r>
            <a:endParaRPr lang="en-US" sz="4800" dirty="0"/>
          </a:p>
        </p:txBody>
      </p:sp>
      <p:sp>
        <p:nvSpPr>
          <p:cNvPr id="10" name="Text 8"/>
          <p:cNvSpPr/>
          <p:nvPr/>
        </p:nvSpPr>
        <p:spPr>
          <a:xfrm>
            <a:off x="731520" y="4206240"/>
            <a:ext cx="3246120" cy="822960"/>
          </a:xfrm>
          <a:prstGeom prst="rect">
            <a:avLst/>
          </a:prstGeom>
          <a:noFill/>
          <a:ln/>
        </p:spPr>
        <p:txBody>
          <a:bodyPr wrap="square" rtlCol="0" anchor="ctr"/>
          <a:lstStyle/>
          <a:p>
            <a:pPr algn="ctr" indent="0" marL="0">
              <a:buNone/>
            </a:pPr>
            <a:r>
              <a:rPr lang="en-US" sz="2200" b="1" dirty="0">
                <a:solidFill>
                  <a:srgbClr val="6366F1"/>
                </a:solidFill>
                <a:latin typeface="Calibri" pitchFamily="34" charset="0"/>
                <a:ea typeface="Calibri" pitchFamily="34" charset="-122"/>
                <a:cs typeface="Calibri" pitchFamily="34" charset="-120"/>
              </a:rPr>
              <a:t>Encoding</a:t>
            </a:r>
            <a:endParaRPr lang="en-US" sz="2200" dirty="0"/>
          </a:p>
          <a:p>
            <a:pPr algn="ctr" indent="0" marL="0">
              <a:buNone/>
            </a:pPr>
            <a:r>
              <a:rPr lang="en-US" sz="2200" b="1" dirty="0">
                <a:solidFill>
                  <a:srgbClr val="6366F1"/>
                </a:solidFill>
                <a:latin typeface="Calibri" pitchFamily="34" charset="0"/>
                <a:ea typeface="Calibri" pitchFamily="34" charset="-122"/>
                <a:cs typeface="Calibri" pitchFamily="34" charset="-120"/>
              </a:rPr>
              <a:t>ciclic</a:t>
            </a:r>
            <a:endParaRPr lang="en-US" sz="2200" dirty="0"/>
          </a:p>
        </p:txBody>
      </p:sp>
      <p:sp>
        <p:nvSpPr>
          <p:cNvPr id="11" name="Text 9"/>
          <p:cNvSpPr/>
          <p:nvPr/>
        </p:nvSpPr>
        <p:spPr>
          <a:xfrm>
            <a:off x="777240" y="5029200"/>
            <a:ext cx="3154680" cy="548640"/>
          </a:xfrm>
          <a:prstGeom prst="rect">
            <a:avLst/>
          </a:prstGeom>
          <a:noFill/>
          <a:ln/>
        </p:spPr>
        <p:txBody>
          <a:bodyPr wrap="square"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Cum reprezentam timpul ca model sa-l inteleaga?</a:t>
            </a:r>
            <a:endParaRPr lang="en-US" sz="1300" dirty="0"/>
          </a:p>
        </p:txBody>
      </p:sp>
      <p:sp>
        <p:nvSpPr>
          <p:cNvPr id="12" name="Text 10"/>
          <p:cNvSpPr/>
          <p:nvPr/>
        </p:nvSpPr>
        <p:spPr>
          <a:xfrm>
            <a:off x="777240" y="5532120"/>
            <a:ext cx="3154680" cy="548640"/>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Asezam orele pe un cerc trigonometric (sin si cos).</a:t>
            </a:r>
            <a:endParaRPr lang="en-US" sz="1300" dirty="0"/>
          </a:p>
        </p:txBody>
      </p:sp>
      <p:sp>
        <p:nvSpPr>
          <p:cNvPr id="13" name="Shape 11"/>
          <p:cNvSpPr/>
          <p:nvPr/>
        </p:nvSpPr>
        <p:spPr>
          <a:xfrm>
            <a:off x="4251960" y="2743200"/>
            <a:ext cx="3611880" cy="3383280"/>
          </a:xfrm>
          <a:prstGeom prst="rect">
            <a:avLst/>
          </a:prstGeom>
          <a:solidFill>
            <a:srgbClr val="FFFFFF"/>
          </a:solidFill>
          <a:ln w="38100">
            <a:solidFill>
              <a:srgbClr val="EC4899"/>
            </a:solidFill>
            <a:prstDash val="solid"/>
          </a:ln>
        </p:spPr>
      </p:sp>
      <p:sp>
        <p:nvSpPr>
          <p:cNvPr id="14" name="Shape 12"/>
          <p:cNvSpPr/>
          <p:nvPr/>
        </p:nvSpPr>
        <p:spPr>
          <a:xfrm>
            <a:off x="5440680" y="2926080"/>
            <a:ext cx="1188720" cy="1188720"/>
          </a:xfrm>
          <a:prstGeom prst="ellipse">
            <a:avLst/>
          </a:prstGeom>
          <a:solidFill>
            <a:srgbClr val="EC4899"/>
          </a:solidFill>
          <a:ln w="12700">
            <a:solidFill>
              <a:srgbClr val="EC4899"/>
            </a:solidFill>
            <a:prstDash val="solid"/>
          </a:ln>
        </p:spPr>
      </p:sp>
      <p:sp>
        <p:nvSpPr>
          <p:cNvPr id="15" name="Text 13"/>
          <p:cNvSpPr/>
          <p:nvPr/>
        </p:nvSpPr>
        <p:spPr>
          <a:xfrm>
            <a:off x="5440680" y="2926080"/>
            <a:ext cx="1188720" cy="118872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2</a:t>
            </a:r>
            <a:endParaRPr lang="en-US" sz="4800" dirty="0"/>
          </a:p>
        </p:txBody>
      </p:sp>
      <p:sp>
        <p:nvSpPr>
          <p:cNvPr id="16" name="Text 14"/>
          <p:cNvSpPr/>
          <p:nvPr/>
        </p:nvSpPr>
        <p:spPr>
          <a:xfrm>
            <a:off x="4434840" y="4206240"/>
            <a:ext cx="3246120" cy="822960"/>
          </a:xfrm>
          <a:prstGeom prst="rect">
            <a:avLst/>
          </a:prstGeom>
          <a:noFill/>
          <a:ln/>
        </p:spPr>
        <p:txBody>
          <a:bodyPr wrap="square" rtlCol="0" anchor="ctr"/>
          <a:lstStyle/>
          <a:p>
            <a:pPr algn="ctr" indent="0" marL="0">
              <a:buNone/>
            </a:pPr>
            <a:r>
              <a:rPr lang="en-US" sz="2200" b="1" dirty="0">
                <a:solidFill>
                  <a:srgbClr val="EC4899"/>
                </a:solidFill>
                <a:latin typeface="Calibri" pitchFamily="34" charset="0"/>
                <a:ea typeface="Calibri" pitchFamily="34" charset="-122"/>
                <a:cs typeface="Calibri" pitchFamily="34" charset="-120"/>
              </a:rPr>
              <a:t>Lag</a:t>
            </a:r>
            <a:endParaRPr lang="en-US" sz="2200" dirty="0"/>
          </a:p>
          <a:p>
            <a:pPr algn="ctr" indent="0" marL="0">
              <a:buNone/>
            </a:pPr>
            <a:r>
              <a:rPr lang="en-US" sz="2200" b="1" dirty="0">
                <a:solidFill>
                  <a:srgbClr val="EC4899"/>
                </a:solidFill>
                <a:latin typeface="Calibri" pitchFamily="34" charset="0"/>
                <a:ea typeface="Calibri" pitchFamily="34" charset="-122"/>
                <a:cs typeface="Calibri" pitchFamily="34" charset="-120"/>
              </a:rPr>
              <a:t>features</a:t>
            </a:r>
            <a:endParaRPr lang="en-US" sz="2200" dirty="0"/>
          </a:p>
        </p:txBody>
      </p:sp>
      <p:sp>
        <p:nvSpPr>
          <p:cNvPr id="17" name="Text 15"/>
          <p:cNvSpPr/>
          <p:nvPr/>
        </p:nvSpPr>
        <p:spPr>
          <a:xfrm>
            <a:off x="4480560" y="5029200"/>
            <a:ext cx="3154680" cy="548640"/>
          </a:xfrm>
          <a:prstGeom prst="rect">
            <a:avLst/>
          </a:prstGeom>
          <a:noFill/>
          <a:ln/>
        </p:spPr>
        <p:txBody>
          <a:bodyPr wrap="square"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Cum dam modelului memorie despre trecut?</a:t>
            </a:r>
            <a:endParaRPr lang="en-US" sz="1300" dirty="0"/>
          </a:p>
        </p:txBody>
      </p:sp>
      <p:sp>
        <p:nvSpPr>
          <p:cNvPr id="18" name="Text 16"/>
          <p:cNvSpPr/>
          <p:nvPr/>
        </p:nvSpPr>
        <p:spPr>
          <a:xfrm>
            <a:off x="4480560" y="5532120"/>
            <a:ext cx="3154680" cy="548640"/>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Adaugam coloane cu valoarea acum 1h, 24h, 168h.</a:t>
            </a:r>
            <a:endParaRPr lang="en-US" sz="1300" dirty="0"/>
          </a:p>
        </p:txBody>
      </p:sp>
      <p:sp>
        <p:nvSpPr>
          <p:cNvPr id="19" name="Shape 17"/>
          <p:cNvSpPr/>
          <p:nvPr/>
        </p:nvSpPr>
        <p:spPr>
          <a:xfrm>
            <a:off x="7955280" y="2743200"/>
            <a:ext cx="3611880" cy="3383280"/>
          </a:xfrm>
          <a:prstGeom prst="rect">
            <a:avLst/>
          </a:prstGeom>
          <a:solidFill>
            <a:srgbClr val="FFFFFF"/>
          </a:solidFill>
          <a:ln w="38100">
            <a:solidFill>
              <a:srgbClr val="FBBF24"/>
            </a:solidFill>
            <a:prstDash val="solid"/>
          </a:ln>
        </p:spPr>
      </p:sp>
      <p:sp>
        <p:nvSpPr>
          <p:cNvPr id="20" name="Shape 18"/>
          <p:cNvSpPr/>
          <p:nvPr/>
        </p:nvSpPr>
        <p:spPr>
          <a:xfrm>
            <a:off x="9144000" y="2926080"/>
            <a:ext cx="1188720" cy="1188720"/>
          </a:xfrm>
          <a:prstGeom prst="ellipse">
            <a:avLst/>
          </a:prstGeom>
          <a:solidFill>
            <a:srgbClr val="FBBF24"/>
          </a:solidFill>
          <a:ln w="12700">
            <a:solidFill>
              <a:srgbClr val="FBBF24"/>
            </a:solidFill>
            <a:prstDash val="solid"/>
          </a:ln>
        </p:spPr>
      </p:sp>
      <p:sp>
        <p:nvSpPr>
          <p:cNvPr id="21" name="Text 19"/>
          <p:cNvSpPr/>
          <p:nvPr/>
        </p:nvSpPr>
        <p:spPr>
          <a:xfrm>
            <a:off x="9144000" y="2926080"/>
            <a:ext cx="1188720" cy="118872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3</a:t>
            </a:r>
            <a:endParaRPr lang="en-US" sz="4800" dirty="0"/>
          </a:p>
        </p:txBody>
      </p:sp>
      <p:sp>
        <p:nvSpPr>
          <p:cNvPr id="22" name="Text 20"/>
          <p:cNvSpPr/>
          <p:nvPr/>
        </p:nvSpPr>
        <p:spPr>
          <a:xfrm>
            <a:off x="8138160" y="4206240"/>
            <a:ext cx="3246120" cy="822960"/>
          </a:xfrm>
          <a:prstGeom prst="rect">
            <a:avLst/>
          </a:prstGeom>
          <a:noFill/>
          <a:ln/>
        </p:spPr>
        <p:txBody>
          <a:bodyPr wrap="square" rtlCol="0" anchor="ctr"/>
          <a:lstStyle/>
          <a:p>
            <a:pPr algn="ctr" indent="0" marL="0">
              <a:buNone/>
            </a:pPr>
            <a:r>
              <a:rPr lang="en-US" sz="2200" b="1" dirty="0">
                <a:solidFill>
                  <a:srgbClr val="FBBF24"/>
                </a:solidFill>
                <a:latin typeface="Calibri" pitchFamily="34" charset="0"/>
                <a:ea typeface="Calibri" pitchFamily="34" charset="-122"/>
                <a:cs typeface="Calibri" pitchFamily="34" charset="-120"/>
              </a:rPr>
              <a:t>Rolling</a:t>
            </a:r>
            <a:endParaRPr lang="en-US" sz="2200" dirty="0"/>
          </a:p>
          <a:p>
            <a:pPr algn="ctr" indent="0" marL="0">
              <a:buNone/>
            </a:pPr>
            <a:r>
              <a:rPr lang="en-US" sz="2200" b="1" dirty="0">
                <a:solidFill>
                  <a:srgbClr val="FBBF24"/>
                </a:solidFill>
                <a:latin typeface="Calibri" pitchFamily="34" charset="0"/>
                <a:ea typeface="Calibri" pitchFamily="34" charset="-122"/>
                <a:cs typeface="Calibri" pitchFamily="34" charset="-120"/>
              </a:rPr>
              <a:t>features</a:t>
            </a:r>
            <a:endParaRPr lang="en-US" sz="2200" dirty="0"/>
          </a:p>
        </p:txBody>
      </p:sp>
      <p:sp>
        <p:nvSpPr>
          <p:cNvPr id="23" name="Text 21"/>
          <p:cNvSpPr/>
          <p:nvPr/>
        </p:nvSpPr>
        <p:spPr>
          <a:xfrm>
            <a:off x="8183880" y="5029200"/>
            <a:ext cx="3154680" cy="548640"/>
          </a:xfrm>
          <a:prstGeom prst="rect">
            <a:avLst/>
          </a:prstGeom>
          <a:noFill/>
          <a:ln/>
        </p:spPr>
        <p:txBody>
          <a:bodyPr wrap="square" rtlCol="0" anchor="ctr"/>
          <a:lstStyle/>
          <a:p>
            <a:pPr algn="ctr" indent="0" marL="0">
              <a:buNone/>
            </a:pPr>
            <a:r>
              <a:rPr lang="en-US" sz="1300" i="1" dirty="0">
                <a:solidFill>
                  <a:srgbClr val="64748B"/>
                </a:solidFill>
                <a:latin typeface="Calibri" pitchFamily="34" charset="0"/>
                <a:ea typeface="Calibri" pitchFamily="34" charset="-122"/>
                <a:cs typeface="Calibri" pitchFamily="34" charset="-120"/>
              </a:rPr>
              <a:t>Cum spunem modelului ce trend recent este?</a:t>
            </a:r>
            <a:endParaRPr lang="en-US" sz="1300" dirty="0"/>
          </a:p>
        </p:txBody>
      </p:sp>
      <p:sp>
        <p:nvSpPr>
          <p:cNvPr id="24" name="Text 22"/>
          <p:cNvSpPr/>
          <p:nvPr/>
        </p:nvSpPr>
        <p:spPr>
          <a:xfrm>
            <a:off x="8183880" y="5532120"/>
            <a:ext cx="3154680" cy="548640"/>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Media si deviatia pe o fereastra alunecatoare, cu .shift(1) anti-leakage.</a:t>
            </a:r>
            <a:endParaRPr lang="en-US" sz="1300" dirty="0"/>
          </a:p>
        </p:txBody>
      </p:sp>
      <p:sp>
        <p:nvSpPr>
          <p:cNvPr id="25" name="Text 23"/>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26" name="Text 24"/>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10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ENCODING CICLIC - PROBLEMA</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Tehnica 1A: Reprezentarea naiva a timpului</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pic>
        <p:nvPicPr>
          <p:cNvPr id="6" name="Image 0" descr="/sessions/vibrant-elegant-pasteur/mnt/Disertatie_AI_Platform/reports/figures/fig_fe_problema_orei_liniare.png">    </p:cNvPr>
          <p:cNvPicPr>
            <a:picLocks noChangeAspect="1"/>
          </p:cNvPicPr>
          <p:nvPr/>
        </p:nvPicPr>
        <p:blipFill>
          <a:blip r:embed="rId1"/>
          <a:srcRect l="0" r="0" t="0" b="0"/>
          <a:stretch/>
        </p:blipFill>
        <p:spPr>
          <a:xfrm>
            <a:off x="365760" y="1783080"/>
            <a:ext cx="11430000" cy="3657600"/>
          </a:xfrm>
          <a:prstGeom prst="rect">
            <a:avLst/>
          </a:prstGeom>
        </p:spPr>
      </p:pic>
      <p:sp>
        <p:nvSpPr>
          <p:cNvPr id="7" name="Shape 4"/>
          <p:cNvSpPr/>
          <p:nvPr/>
        </p:nvSpPr>
        <p:spPr>
          <a:xfrm>
            <a:off x="548640" y="5532120"/>
            <a:ext cx="11064240" cy="822960"/>
          </a:xfrm>
          <a:prstGeom prst="rect">
            <a:avLst/>
          </a:prstGeom>
          <a:solidFill>
            <a:srgbClr val="F1F5F9"/>
          </a:solidFill>
          <a:ln w="12700">
            <a:solidFill>
              <a:srgbClr val="E2E8F0"/>
            </a:solidFill>
            <a:prstDash val="solid"/>
          </a:ln>
        </p:spPr>
      </p:sp>
      <p:sp>
        <p:nvSpPr>
          <p:cNvPr id="8" name="Shape 5"/>
          <p:cNvSpPr/>
          <p:nvPr/>
        </p:nvSpPr>
        <p:spPr>
          <a:xfrm>
            <a:off x="548640" y="5532120"/>
            <a:ext cx="137160" cy="822960"/>
          </a:xfrm>
          <a:prstGeom prst="rect">
            <a:avLst/>
          </a:prstGeom>
          <a:solidFill>
            <a:srgbClr val="EC4899"/>
          </a:solidFill>
          <a:ln w="12700">
            <a:solidFill>
              <a:srgbClr val="EC4899"/>
            </a:solidFill>
            <a:prstDash val="solid"/>
          </a:ln>
        </p:spPr>
      </p:sp>
      <p:sp>
        <p:nvSpPr>
          <p:cNvPr id="9" name="Text 6"/>
          <p:cNvSpPr/>
          <p:nvPr/>
        </p:nvSpPr>
        <p:spPr>
          <a:xfrm>
            <a:off x="777240" y="5605272"/>
            <a:ext cx="10607040" cy="685800"/>
          </a:xfrm>
          <a:prstGeom prst="rect">
            <a:avLst/>
          </a:prstGeom>
          <a:noFill/>
          <a:ln/>
        </p:spPr>
        <p:txBody>
          <a:bodyPr wrap="square" rtlCol="0" anchor="ctr"/>
          <a:lstStyle/>
          <a:p>
            <a:pPr indent="0" marL="0">
              <a:buNone/>
            </a:pPr>
            <a:r>
              <a:rPr lang="en-US" sz="1600" b="1" dirty="0">
                <a:solidFill>
                  <a:srgbClr val="EC4899"/>
                </a:solidFill>
                <a:latin typeface="Calibri" pitchFamily="34" charset="0"/>
                <a:ea typeface="Calibri" pitchFamily="34" charset="-122"/>
                <a:cs typeface="Calibri" pitchFamily="34" charset="-120"/>
              </a:rPr>
              <a:t>Cum ne ajuta intelegerea acestei probleme? </a:t>
            </a:r>
            <a:pPr indent="0" marL="0">
              <a:buNone/>
            </a:pPr>
            <a:r>
              <a:rPr lang="en-US" sz="1500" dirty="0">
                <a:solidFill>
                  <a:srgbClr val="334155"/>
                </a:solidFill>
                <a:latin typeface="Calibri" pitchFamily="34" charset="0"/>
                <a:ea typeface="Calibri" pitchFamily="34" charset="-122"/>
                <a:cs typeface="Calibri" pitchFamily="34" charset="-120"/>
              </a:rPr>
              <a:t>Daca lasam ora ca numar liniar, modelul invata o discontinuitate falsa care nu exista. Trebuie sa o reprezentam altfel - asa apare necesitatea cercului orelor.</a:t>
            </a:r>
            <a:endParaRPr lang="en-US" sz="1600" dirty="0"/>
          </a:p>
        </p:txBody>
      </p:sp>
      <p:sp>
        <p:nvSpPr>
          <p:cNvPr id="10" name="Text 7"/>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1" name="Text 8"/>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11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PREGATIRE MATEMATICA</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Functiile sin si cos - reamintire scurta</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pic>
        <p:nvPicPr>
          <p:cNvPr id="6" name="Image 0" descr="/sessions/vibrant-elegant-pasteur/mnt/Disertatie_AI_Platform/reports/figures/fig_fe_sin_cos_basics.png">    </p:cNvPr>
          <p:cNvPicPr>
            <a:picLocks noChangeAspect="1"/>
          </p:cNvPicPr>
          <p:nvPr/>
        </p:nvPicPr>
        <p:blipFill>
          <a:blip r:embed="rId1"/>
          <a:srcRect l="0" r="0" t="0" b="0"/>
          <a:stretch/>
        </p:blipFill>
        <p:spPr>
          <a:xfrm>
            <a:off x="365760" y="1783080"/>
            <a:ext cx="11430000" cy="3200400"/>
          </a:xfrm>
          <a:prstGeom prst="rect">
            <a:avLst/>
          </a:prstGeom>
        </p:spPr>
      </p:pic>
      <p:sp>
        <p:nvSpPr>
          <p:cNvPr id="7" name="Shape 4"/>
          <p:cNvSpPr/>
          <p:nvPr/>
        </p:nvSpPr>
        <p:spPr>
          <a:xfrm>
            <a:off x="548640" y="5166360"/>
            <a:ext cx="3611880" cy="1097280"/>
          </a:xfrm>
          <a:prstGeom prst="rect">
            <a:avLst/>
          </a:prstGeom>
          <a:solidFill>
            <a:srgbClr val="F1F5F9"/>
          </a:solidFill>
          <a:ln w="12700">
            <a:solidFill>
              <a:srgbClr val="E2E8F0"/>
            </a:solidFill>
            <a:prstDash val="solid"/>
          </a:ln>
        </p:spPr>
      </p:sp>
      <p:sp>
        <p:nvSpPr>
          <p:cNvPr id="8" name="Shape 5"/>
          <p:cNvSpPr/>
          <p:nvPr/>
        </p:nvSpPr>
        <p:spPr>
          <a:xfrm>
            <a:off x="548640" y="5166360"/>
            <a:ext cx="137160" cy="1097280"/>
          </a:xfrm>
          <a:prstGeom prst="rect">
            <a:avLst/>
          </a:prstGeom>
          <a:solidFill>
            <a:srgbClr val="6366F1"/>
          </a:solidFill>
          <a:ln w="12700">
            <a:solidFill>
              <a:srgbClr val="6366F1"/>
            </a:solidFill>
            <a:prstDash val="solid"/>
          </a:ln>
        </p:spPr>
      </p:sp>
      <p:sp>
        <p:nvSpPr>
          <p:cNvPr id="9" name="Text 6"/>
          <p:cNvSpPr/>
          <p:nvPr/>
        </p:nvSpPr>
        <p:spPr>
          <a:xfrm>
            <a:off x="777240" y="5239512"/>
            <a:ext cx="3383280" cy="960120"/>
          </a:xfrm>
          <a:prstGeom prst="rect">
            <a:avLst/>
          </a:prstGeom>
          <a:noFill/>
          <a:ln/>
        </p:spPr>
        <p:txBody>
          <a:bodyPr wrap="square" rtlCol="0" anchor="t"/>
          <a:lstStyle/>
          <a:p>
            <a:pPr indent="0" marL="0">
              <a:lnSpc>
                <a:spcPct val="115000"/>
              </a:lnSpc>
              <a:buNone/>
            </a:pPr>
            <a:r>
              <a:rPr lang="en-US" sz="1700" b="1" dirty="0">
                <a:solidFill>
                  <a:srgbClr val="6366F1"/>
                </a:solidFill>
                <a:latin typeface="Calibri" pitchFamily="34" charset="0"/>
                <a:ea typeface="Calibri" pitchFamily="34" charset="-122"/>
                <a:cs typeface="Calibri" pitchFamily="34" charset="-120"/>
              </a:rPr>
              <a:t>Periodice
</a:t>
            </a:r>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Dupa 2π se repeta identic - perfect pentru reprezentarea ciclurilor temporale.</a:t>
            </a:r>
            <a:endParaRPr lang="en-US" sz="1700" dirty="0"/>
          </a:p>
        </p:txBody>
      </p:sp>
      <p:sp>
        <p:nvSpPr>
          <p:cNvPr id="10" name="Shape 7"/>
          <p:cNvSpPr/>
          <p:nvPr/>
        </p:nvSpPr>
        <p:spPr>
          <a:xfrm>
            <a:off x="4251960" y="5166360"/>
            <a:ext cx="3611880" cy="1097280"/>
          </a:xfrm>
          <a:prstGeom prst="rect">
            <a:avLst/>
          </a:prstGeom>
          <a:solidFill>
            <a:srgbClr val="F1F5F9"/>
          </a:solidFill>
          <a:ln w="12700">
            <a:solidFill>
              <a:srgbClr val="E2E8F0"/>
            </a:solidFill>
            <a:prstDash val="solid"/>
          </a:ln>
        </p:spPr>
      </p:sp>
      <p:sp>
        <p:nvSpPr>
          <p:cNvPr id="11" name="Shape 8"/>
          <p:cNvSpPr/>
          <p:nvPr/>
        </p:nvSpPr>
        <p:spPr>
          <a:xfrm>
            <a:off x="4251960" y="5166360"/>
            <a:ext cx="137160" cy="1097280"/>
          </a:xfrm>
          <a:prstGeom prst="rect">
            <a:avLst/>
          </a:prstGeom>
          <a:solidFill>
            <a:srgbClr val="EC4899"/>
          </a:solidFill>
          <a:ln w="12700">
            <a:solidFill>
              <a:srgbClr val="EC4899"/>
            </a:solidFill>
            <a:prstDash val="solid"/>
          </a:ln>
        </p:spPr>
      </p:sp>
      <p:sp>
        <p:nvSpPr>
          <p:cNvPr id="12" name="Text 9"/>
          <p:cNvSpPr/>
          <p:nvPr/>
        </p:nvSpPr>
        <p:spPr>
          <a:xfrm>
            <a:off x="4480560" y="5239512"/>
            <a:ext cx="3383280" cy="960120"/>
          </a:xfrm>
          <a:prstGeom prst="rect">
            <a:avLst/>
          </a:prstGeom>
          <a:noFill/>
          <a:ln/>
        </p:spPr>
        <p:txBody>
          <a:bodyPr wrap="square" rtlCol="0" anchor="t"/>
          <a:lstStyle/>
          <a:p>
            <a:pPr indent="0" marL="0">
              <a:lnSpc>
                <a:spcPct val="115000"/>
              </a:lnSpc>
              <a:buNone/>
            </a:pPr>
            <a:r>
              <a:rPr lang="en-US" sz="1700" b="1" dirty="0">
                <a:solidFill>
                  <a:srgbClr val="EC4899"/>
                </a:solidFill>
                <a:latin typeface="Calibri" pitchFamily="34" charset="0"/>
                <a:ea typeface="Calibri" pitchFamily="34" charset="-122"/>
                <a:cs typeface="Calibri" pitchFamily="34" charset="-120"/>
              </a:rPr>
              <a:t>Continue si netede
</a:t>
            </a:r>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Trec lin de la o valoare la alta - fara salturi sau discontinuitati.</a:t>
            </a:r>
            <a:endParaRPr lang="en-US" sz="1700" dirty="0"/>
          </a:p>
        </p:txBody>
      </p:sp>
      <p:sp>
        <p:nvSpPr>
          <p:cNvPr id="13" name="Shape 10"/>
          <p:cNvSpPr/>
          <p:nvPr/>
        </p:nvSpPr>
        <p:spPr>
          <a:xfrm>
            <a:off x="7955280" y="5166360"/>
            <a:ext cx="3611880" cy="1097280"/>
          </a:xfrm>
          <a:prstGeom prst="rect">
            <a:avLst/>
          </a:prstGeom>
          <a:solidFill>
            <a:srgbClr val="F1F5F9"/>
          </a:solidFill>
          <a:ln w="12700">
            <a:solidFill>
              <a:srgbClr val="E2E8F0"/>
            </a:solidFill>
            <a:prstDash val="solid"/>
          </a:ln>
        </p:spPr>
      </p:sp>
      <p:sp>
        <p:nvSpPr>
          <p:cNvPr id="14" name="Shape 11"/>
          <p:cNvSpPr/>
          <p:nvPr/>
        </p:nvSpPr>
        <p:spPr>
          <a:xfrm>
            <a:off x="7955280" y="5166360"/>
            <a:ext cx="137160" cy="1097280"/>
          </a:xfrm>
          <a:prstGeom prst="rect">
            <a:avLst/>
          </a:prstGeom>
          <a:solidFill>
            <a:srgbClr val="FBBF24"/>
          </a:solidFill>
          <a:ln w="12700">
            <a:solidFill>
              <a:srgbClr val="FBBF24"/>
            </a:solidFill>
            <a:prstDash val="solid"/>
          </a:ln>
        </p:spPr>
      </p:sp>
      <p:sp>
        <p:nvSpPr>
          <p:cNvPr id="15" name="Text 12"/>
          <p:cNvSpPr/>
          <p:nvPr/>
        </p:nvSpPr>
        <p:spPr>
          <a:xfrm>
            <a:off x="8183880" y="5239512"/>
            <a:ext cx="3383280" cy="960120"/>
          </a:xfrm>
          <a:prstGeom prst="rect">
            <a:avLst/>
          </a:prstGeom>
          <a:noFill/>
          <a:ln/>
        </p:spPr>
        <p:txBody>
          <a:bodyPr wrap="square" rtlCol="0" anchor="t"/>
          <a:lstStyle/>
          <a:p>
            <a:pPr indent="0" marL="0">
              <a:lnSpc>
                <a:spcPct val="115000"/>
              </a:lnSpc>
              <a:buNone/>
            </a:pPr>
            <a:r>
              <a:rPr lang="en-US" sz="1700" b="1" dirty="0">
                <a:solidFill>
                  <a:srgbClr val="FBBF24"/>
                </a:solidFill>
                <a:latin typeface="Calibri" pitchFamily="34" charset="0"/>
                <a:ea typeface="Calibri" pitchFamily="34" charset="-122"/>
                <a:cs typeface="Calibri" pitchFamily="34" charset="-120"/>
              </a:rPr>
              <a:t>Identifica UNIC
</a:t>
            </a:r>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Cele 2 valori (sin, cos) impreuna localizeaza precis un punct pe cerc.</a:t>
            </a:r>
            <a:endParaRPr lang="en-US" sz="1700" dirty="0"/>
          </a:p>
        </p:txBody>
      </p:sp>
      <p:sp>
        <p:nvSpPr>
          <p:cNvPr id="16" name="Text 13"/>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7" name="Text 14"/>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12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ENCODING CICLIC - SOLUTIA</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Tehnica 1C: Cercul orelor - solutia</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548640" y="1783080"/>
            <a:ext cx="5669280" cy="4572000"/>
          </a:xfrm>
          <a:prstGeom prst="rect">
            <a:avLst/>
          </a:prstGeom>
          <a:solidFill>
            <a:srgbClr val="F1F5F9"/>
          </a:solidFill>
          <a:ln w="12700">
            <a:solidFill>
              <a:srgbClr val="E2E8F0"/>
            </a:solidFill>
            <a:prstDash val="solid"/>
          </a:ln>
        </p:spPr>
      </p:sp>
      <p:sp>
        <p:nvSpPr>
          <p:cNvPr id="7" name="Shape 5"/>
          <p:cNvSpPr/>
          <p:nvPr/>
        </p:nvSpPr>
        <p:spPr>
          <a:xfrm>
            <a:off x="548640" y="1783080"/>
            <a:ext cx="137160" cy="4572000"/>
          </a:xfrm>
          <a:prstGeom prst="rect">
            <a:avLst/>
          </a:prstGeom>
          <a:solidFill>
            <a:srgbClr val="6366F1"/>
          </a:solidFill>
          <a:ln w="12700">
            <a:solidFill>
              <a:srgbClr val="6366F1"/>
            </a:solidFill>
            <a:prstDash val="solid"/>
          </a:ln>
        </p:spPr>
      </p:sp>
      <p:sp>
        <p:nvSpPr>
          <p:cNvPr id="8" name="Text 6"/>
          <p:cNvSpPr/>
          <p:nvPr/>
        </p:nvSpPr>
        <p:spPr>
          <a:xfrm>
            <a:off x="777240" y="1874520"/>
            <a:ext cx="5440680" cy="411480"/>
          </a:xfrm>
          <a:prstGeom prst="rect">
            <a:avLst/>
          </a:prstGeom>
          <a:noFill/>
          <a:ln/>
        </p:spPr>
        <p:txBody>
          <a:bodyPr wrap="square" rtlCol="0" anchor="ctr"/>
          <a:lstStyle/>
          <a:p>
            <a:pPr indent="0" marL="0">
              <a:buNone/>
            </a:pPr>
            <a:r>
              <a:rPr lang="en-US" sz="2000" b="1" dirty="0">
                <a:solidFill>
                  <a:srgbClr val="6366F1"/>
                </a:solidFill>
                <a:latin typeface="Calibri" pitchFamily="34" charset="0"/>
                <a:ea typeface="Calibri" pitchFamily="34" charset="-122"/>
                <a:cs typeface="Calibri" pitchFamily="34" charset="-120"/>
              </a:rPr>
              <a:t>Formula matematica</a:t>
            </a:r>
            <a:endParaRPr lang="en-US" sz="2000" dirty="0"/>
          </a:p>
        </p:txBody>
      </p:sp>
      <p:sp>
        <p:nvSpPr>
          <p:cNvPr id="9" name="Text 7"/>
          <p:cNvSpPr/>
          <p:nvPr/>
        </p:nvSpPr>
        <p:spPr>
          <a:xfrm>
            <a:off x="777240" y="2377440"/>
            <a:ext cx="5440680" cy="914400"/>
          </a:xfrm>
          <a:prstGeom prst="rect">
            <a:avLst/>
          </a:prstGeom>
          <a:noFill/>
          <a:ln/>
        </p:spPr>
        <p:txBody>
          <a:bodyPr wrap="square" rtlCol="0" anchor="t"/>
          <a:lstStyle/>
          <a:p>
            <a:pPr algn="ctr" indent="0" marL="0">
              <a:buNone/>
            </a:pPr>
            <a:r>
              <a:rPr lang="en-US" sz="2000" b="1" dirty="0">
                <a:solidFill>
                  <a:srgbClr val="0F172A"/>
                </a:solidFill>
                <a:latin typeface="Cambria" pitchFamily="34" charset="0"/>
                <a:ea typeface="Cambria" pitchFamily="34" charset="-122"/>
                <a:cs typeface="Cambria" pitchFamily="34" charset="-120"/>
              </a:rPr>
              <a:t>hour_sin = sin(2π · h / 24)</a:t>
            </a:r>
            <a:endParaRPr lang="en-US" sz="2000" dirty="0"/>
          </a:p>
          <a:p>
            <a:pPr algn="ctr" indent="0" marL="0">
              <a:buNone/>
            </a:pPr>
            <a:r>
              <a:rPr lang="en-US" sz="2000" b="1" dirty="0">
                <a:solidFill>
                  <a:srgbClr val="0F172A"/>
                </a:solidFill>
                <a:latin typeface="Cambria" pitchFamily="34" charset="0"/>
                <a:ea typeface="Cambria" pitchFamily="34" charset="-122"/>
                <a:cs typeface="Cambria" pitchFamily="34" charset="-120"/>
              </a:rPr>
              <a:t>hour_cos = cos(2π · h / 24)</a:t>
            </a:r>
            <a:endParaRPr lang="en-US" sz="2000" dirty="0"/>
          </a:p>
        </p:txBody>
      </p:sp>
      <p:sp>
        <p:nvSpPr>
          <p:cNvPr id="10" name="Text 8"/>
          <p:cNvSpPr/>
          <p:nvPr/>
        </p:nvSpPr>
        <p:spPr>
          <a:xfrm>
            <a:off x="777240" y="3520440"/>
            <a:ext cx="5440680" cy="365760"/>
          </a:xfrm>
          <a:prstGeom prst="rect">
            <a:avLst/>
          </a:prstGeom>
          <a:noFill/>
          <a:ln/>
        </p:spPr>
        <p:txBody>
          <a:bodyPr wrap="square" rtlCol="0" anchor="ctr"/>
          <a:lstStyle/>
          <a:p>
            <a:pPr indent="0" marL="0">
              <a:buNone/>
            </a:pPr>
            <a:r>
              <a:rPr lang="en-US" sz="1700" b="1" dirty="0">
                <a:solidFill>
                  <a:srgbClr val="6366F1"/>
                </a:solidFill>
                <a:latin typeface="Calibri" pitchFamily="34" charset="0"/>
                <a:ea typeface="Calibri" pitchFamily="34" charset="-122"/>
                <a:cs typeface="Calibri" pitchFamily="34" charset="-120"/>
              </a:rPr>
              <a:t>Cum ne ajuta concret modelul:</a:t>
            </a:r>
            <a:endParaRPr lang="en-US" sz="1700" dirty="0"/>
          </a:p>
        </p:txBody>
      </p:sp>
      <p:sp>
        <p:nvSpPr>
          <p:cNvPr id="11" name="Text 9"/>
          <p:cNvSpPr/>
          <p:nvPr/>
        </p:nvSpPr>
        <p:spPr>
          <a:xfrm>
            <a:off x="868680" y="3931920"/>
            <a:ext cx="5349240" cy="2286000"/>
          </a:xfrm>
          <a:prstGeom prst="rect">
            <a:avLst/>
          </a:prstGeom>
          <a:noFill/>
          <a:ln/>
        </p:spPr>
        <p:txBody>
          <a:bodyPr wrap="square" rtlCol="0" anchor="t"/>
          <a:lstStyle/>
          <a:p>
            <a:pPr indent="0" marL="0">
              <a:lnSpc>
                <a:spcPct val="140000"/>
              </a:lnSpc>
              <a:buNone/>
            </a:pPr>
            <a:r>
              <a:rPr lang="en-US" sz="1800" b="1" dirty="0">
                <a:solidFill>
                  <a:srgbClr val="10B981"/>
                </a:solidFill>
                <a:latin typeface="Calibri" pitchFamily="34" charset="0"/>
                <a:ea typeface="Calibri" pitchFamily="34" charset="-122"/>
                <a:cs typeface="Calibri" pitchFamily="34" charset="-120"/>
              </a:rPr>
              <a:t>✓ </a:t>
            </a:r>
            <a:pPr indent="0" marL="0">
              <a:lnSpc>
                <a:spcPct val="140000"/>
              </a:lnSpc>
              <a:buNone/>
            </a:pPr>
            <a:r>
              <a:rPr lang="en-US" sz="1500" dirty="0">
                <a:solidFill>
                  <a:srgbClr val="334155"/>
                </a:solidFill>
                <a:latin typeface="Calibri" pitchFamily="34" charset="0"/>
                <a:ea typeface="Calibri" pitchFamily="34" charset="-122"/>
                <a:cs typeface="Calibri" pitchFamily="34" charset="-120"/>
              </a:rPr>
              <a:t>Ora 23 si ora 0 redevin vecine </a:t>
            </a:r>
            <a:pPr indent="0" marL="0">
              <a:lnSpc>
                <a:spcPct val="140000"/>
              </a:lnSpc>
              <a:buNone/>
            </a:pPr>
            <a:r>
              <a:rPr lang="en-US" sz="1500" i="1" dirty="0">
                <a:solidFill>
                  <a:srgbClr val="334155"/>
                </a:solidFill>
                <a:latin typeface="Calibri" pitchFamily="34" charset="0"/>
                <a:ea typeface="Calibri" pitchFamily="34" charset="-122"/>
                <a:cs typeface="Calibri" pitchFamily="34" charset="-120"/>
              </a:rPr>
              <a:t>(distanta 0.27 in loc de 23)
</a:t>
            </a:r>
            <a:pPr indent="0" marL="0">
              <a:lnSpc>
                <a:spcPct val="140000"/>
              </a:lnSpc>
              <a:buNone/>
            </a:pPr>
            <a:r>
              <a:rPr lang="en-US" sz="1800" b="1" dirty="0">
                <a:solidFill>
                  <a:srgbClr val="10B981"/>
                </a:solidFill>
                <a:latin typeface="Calibri" pitchFamily="34" charset="0"/>
                <a:ea typeface="Calibri" pitchFamily="34" charset="-122"/>
                <a:cs typeface="Calibri" pitchFamily="34" charset="-120"/>
              </a:rPr>
              <a:t>✓ </a:t>
            </a:r>
            <a:pPr indent="0" marL="0">
              <a:lnSpc>
                <a:spcPct val="140000"/>
              </a:lnSpc>
              <a:buNone/>
            </a:pPr>
            <a:r>
              <a:rPr lang="en-US" sz="1500" dirty="0">
                <a:solidFill>
                  <a:srgbClr val="334155"/>
                </a:solidFill>
                <a:latin typeface="Calibri" pitchFamily="34" charset="0"/>
                <a:ea typeface="Calibri" pitchFamily="34" charset="-122"/>
                <a:cs typeface="Calibri" pitchFamily="34" charset="-120"/>
              </a:rPr>
              <a:t>Modelul invata mai usor pattern-urile orare
</a:t>
            </a:r>
            <a:pPr indent="0" marL="0">
              <a:lnSpc>
                <a:spcPct val="140000"/>
              </a:lnSpc>
              <a:buNone/>
            </a:pPr>
            <a:r>
              <a:rPr lang="en-US" sz="1800" b="1" dirty="0">
                <a:solidFill>
                  <a:srgbClr val="10B981"/>
                </a:solidFill>
                <a:latin typeface="Calibri" pitchFamily="34" charset="0"/>
                <a:ea typeface="Calibri" pitchFamily="34" charset="-122"/>
                <a:cs typeface="Calibri" pitchFamily="34" charset="-120"/>
              </a:rPr>
              <a:t>✓ </a:t>
            </a:r>
            <a:pPr indent="0" marL="0">
              <a:lnSpc>
                <a:spcPct val="140000"/>
              </a:lnSpc>
              <a:buNone/>
            </a:pPr>
            <a:r>
              <a:rPr lang="en-US" sz="1500" dirty="0">
                <a:solidFill>
                  <a:srgbClr val="334155"/>
                </a:solidFill>
                <a:latin typeface="Calibri" pitchFamily="34" charset="0"/>
                <a:ea typeface="Calibri" pitchFamily="34" charset="-122"/>
                <a:cs typeface="Calibri" pitchFamily="34" charset="-120"/>
              </a:rPr>
              <a:t>Aceeasi tehnica functioneaza si pentru ziua saptamanii, luna, etc.</a:t>
            </a:r>
            <a:endParaRPr lang="en-US" sz="1800" dirty="0"/>
          </a:p>
        </p:txBody>
      </p:sp>
      <p:pic>
        <p:nvPicPr>
          <p:cNvPr id="12" name="Image 0" descr="/sessions/vibrant-elegant-pasteur/mnt/Disertatie_AI_Platform/reports/figures/fig_fe_cerc_ore_animated.gif">    </p:cNvPr>
          <p:cNvPicPr>
            <a:picLocks noChangeAspect="1"/>
          </p:cNvPicPr>
          <p:nvPr/>
        </p:nvPicPr>
        <p:blipFill>
          <a:blip r:embed="rId1"/>
          <a:srcRect l="0" r="0" t="0" b="0"/>
          <a:stretch/>
        </p:blipFill>
        <p:spPr>
          <a:xfrm>
            <a:off x="6400800" y="1783080"/>
            <a:ext cx="5303520" cy="4572000"/>
          </a:xfrm>
          <a:prstGeom prst="rect">
            <a:avLst/>
          </a:prstGeom>
        </p:spPr>
      </p:pic>
      <p:sp>
        <p:nvSpPr>
          <p:cNvPr id="13" name="Text 10"/>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4" name="Text 11"/>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13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LAG FEATURES - FUNDAMENT TEORETIC</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Tehnica 2A: Autoregresivitatea seriilor</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548640" y="1783080"/>
            <a:ext cx="5669280" cy="4572000"/>
          </a:xfrm>
          <a:prstGeom prst="rect">
            <a:avLst/>
          </a:prstGeom>
          <a:solidFill>
            <a:srgbClr val="F1F5F9"/>
          </a:solidFill>
          <a:ln w="12700">
            <a:solidFill>
              <a:srgbClr val="E2E8F0"/>
            </a:solidFill>
            <a:prstDash val="solid"/>
          </a:ln>
        </p:spPr>
      </p:sp>
      <p:sp>
        <p:nvSpPr>
          <p:cNvPr id="7" name="Shape 5"/>
          <p:cNvSpPr/>
          <p:nvPr/>
        </p:nvSpPr>
        <p:spPr>
          <a:xfrm>
            <a:off x="548640" y="1783080"/>
            <a:ext cx="137160" cy="4572000"/>
          </a:xfrm>
          <a:prstGeom prst="rect">
            <a:avLst/>
          </a:prstGeom>
          <a:solidFill>
            <a:srgbClr val="EC4899"/>
          </a:solidFill>
          <a:ln w="12700">
            <a:solidFill>
              <a:srgbClr val="EC4899"/>
            </a:solidFill>
            <a:prstDash val="solid"/>
          </a:ln>
        </p:spPr>
      </p:sp>
      <p:sp>
        <p:nvSpPr>
          <p:cNvPr id="8" name="Text 6"/>
          <p:cNvSpPr/>
          <p:nvPr/>
        </p:nvSpPr>
        <p:spPr>
          <a:xfrm>
            <a:off x="777240" y="1874520"/>
            <a:ext cx="5440680" cy="411480"/>
          </a:xfrm>
          <a:prstGeom prst="rect">
            <a:avLst/>
          </a:prstGeom>
          <a:noFill/>
          <a:ln/>
        </p:spPr>
        <p:txBody>
          <a:bodyPr wrap="square" rtlCol="0" anchor="ctr"/>
          <a:lstStyle/>
          <a:p>
            <a:pPr indent="0" marL="0">
              <a:buNone/>
            </a:pPr>
            <a:r>
              <a:rPr lang="en-US" sz="2000" b="1" dirty="0">
                <a:solidFill>
                  <a:srgbClr val="EC4899"/>
                </a:solidFill>
                <a:latin typeface="Calibri" pitchFamily="34" charset="0"/>
                <a:ea typeface="Calibri" pitchFamily="34" charset="-122"/>
                <a:cs typeface="Calibri" pitchFamily="34" charset="-120"/>
              </a:rPr>
              <a:t>Definitie simpla</a:t>
            </a:r>
            <a:endParaRPr lang="en-US" sz="2000" dirty="0"/>
          </a:p>
        </p:txBody>
      </p:sp>
      <p:sp>
        <p:nvSpPr>
          <p:cNvPr id="9" name="Text 7"/>
          <p:cNvSpPr/>
          <p:nvPr/>
        </p:nvSpPr>
        <p:spPr>
          <a:xfrm>
            <a:off x="777240" y="2331720"/>
            <a:ext cx="5440680" cy="914400"/>
          </a:xfrm>
          <a:prstGeom prst="rect">
            <a:avLst/>
          </a:prstGeom>
          <a:noFill/>
          <a:ln/>
        </p:spPr>
        <p:txBody>
          <a:bodyPr wrap="square" rtlCol="0" anchor="ctr"/>
          <a:lstStyle/>
          <a:p>
            <a:pPr indent="0" marL="0">
              <a:lnSpc>
                <a:spcPct val="130000"/>
              </a:lnSpc>
              <a:buNone/>
            </a:pPr>
            <a:r>
              <a:rPr lang="en-US" sz="1500" dirty="0">
                <a:solidFill>
                  <a:srgbClr val="334155"/>
                </a:solidFill>
                <a:latin typeface="Calibri" pitchFamily="34" charset="0"/>
                <a:ea typeface="Calibri" pitchFamily="34" charset="-122"/>
                <a:cs typeface="Calibri" pitchFamily="34" charset="-120"/>
              </a:rPr>
              <a:t>O serie temporala este autoregresiva daca valorile ei viitoare pot fi prezise folosind propriile valori trecute.</a:t>
            </a:r>
            <a:endParaRPr lang="en-US" sz="1500" dirty="0"/>
          </a:p>
        </p:txBody>
      </p:sp>
      <p:sp>
        <p:nvSpPr>
          <p:cNvPr id="10" name="Text 8"/>
          <p:cNvSpPr/>
          <p:nvPr/>
        </p:nvSpPr>
        <p:spPr>
          <a:xfrm>
            <a:off x="777240" y="3383280"/>
            <a:ext cx="5440680" cy="365760"/>
          </a:xfrm>
          <a:prstGeom prst="rect">
            <a:avLst/>
          </a:prstGeom>
          <a:noFill/>
          <a:ln/>
        </p:spPr>
        <p:txBody>
          <a:bodyPr wrap="square" rtlCol="0" anchor="ctr"/>
          <a:lstStyle/>
          <a:p>
            <a:pPr indent="0" marL="0">
              <a:buNone/>
            </a:pPr>
            <a:r>
              <a:rPr lang="en-US" sz="1700" b="1" dirty="0">
                <a:solidFill>
                  <a:srgbClr val="EC4899"/>
                </a:solidFill>
                <a:latin typeface="Calibri" pitchFamily="34" charset="0"/>
                <a:ea typeface="Calibri" pitchFamily="34" charset="-122"/>
                <a:cs typeface="Calibri" pitchFamily="34" charset="-120"/>
              </a:rPr>
              <a:t>Model matematic AR(1)</a:t>
            </a:r>
            <a:endParaRPr lang="en-US" sz="1700" dirty="0"/>
          </a:p>
        </p:txBody>
      </p:sp>
      <p:sp>
        <p:nvSpPr>
          <p:cNvPr id="11" name="Shape 9"/>
          <p:cNvSpPr/>
          <p:nvPr/>
        </p:nvSpPr>
        <p:spPr>
          <a:xfrm>
            <a:off x="777240" y="3794760"/>
            <a:ext cx="5440680" cy="777240"/>
          </a:xfrm>
          <a:prstGeom prst="rect">
            <a:avLst/>
          </a:prstGeom>
          <a:solidFill>
            <a:srgbClr val="1E1B4B"/>
          </a:solidFill>
          <a:ln w="12700">
            <a:solidFill>
              <a:srgbClr val="1E1B4B"/>
            </a:solidFill>
            <a:prstDash val="solid"/>
          </a:ln>
        </p:spPr>
      </p:sp>
      <p:sp>
        <p:nvSpPr>
          <p:cNvPr id="12" name="Text 10"/>
          <p:cNvSpPr/>
          <p:nvPr/>
        </p:nvSpPr>
        <p:spPr>
          <a:xfrm>
            <a:off x="777240" y="3794760"/>
            <a:ext cx="5440680" cy="7772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y(t) = c + φ · y(t−1) + ε</a:t>
            </a:r>
            <a:endParaRPr lang="en-US" sz="2200" dirty="0"/>
          </a:p>
        </p:txBody>
      </p:sp>
      <p:sp>
        <p:nvSpPr>
          <p:cNvPr id="13" name="Text 11"/>
          <p:cNvSpPr/>
          <p:nvPr/>
        </p:nvSpPr>
        <p:spPr>
          <a:xfrm>
            <a:off x="777240" y="4709160"/>
            <a:ext cx="5440680" cy="365760"/>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Coeficientul φ (phi) masoara autoregresivitatea:</a:t>
            </a:r>
            <a:endParaRPr lang="en-US" sz="1400" dirty="0"/>
          </a:p>
        </p:txBody>
      </p:sp>
      <p:sp>
        <p:nvSpPr>
          <p:cNvPr id="14" name="Text 12"/>
          <p:cNvSpPr/>
          <p:nvPr/>
        </p:nvSpPr>
        <p:spPr>
          <a:xfrm>
            <a:off x="914400" y="5074920"/>
            <a:ext cx="5303520" cy="1097280"/>
          </a:xfrm>
          <a:prstGeom prst="rect">
            <a:avLst/>
          </a:prstGeom>
          <a:noFill/>
          <a:ln/>
        </p:spPr>
        <p:txBody>
          <a:bodyPr wrap="square" rtlCol="0" anchor="ctr"/>
          <a:lstStyle/>
          <a:p>
            <a:pPr indent="0" marL="0">
              <a:lnSpc>
                <a:spcPct val="130000"/>
              </a:lnSpc>
              <a:buNone/>
            </a:pPr>
            <a:r>
              <a:rPr lang="en-US" sz="1400" b="1" dirty="0">
                <a:solidFill>
                  <a:srgbClr val="10B981"/>
                </a:solidFill>
                <a:latin typeface="Calibri" pitchFamily="34" charset="0"/>
                <a:ea typeface="Calibri" pitchFamily="34" charset="-122"/>
                <a:cs typeface="Calibri" pitchFamily="34" charset="-120"/>
              </a:rPr>
              <a:t>• φ ≈ 1: </a:t>
            </a:r>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autoregresivitate puternica (trecut prezice bine viitorul)
</a:t>
            </a:r>
            <a:pPr indent="0" marL="0">
              <a:lnSpc>
                <a:spcPct val="130000"/>
              </a:lnSpc>
              <a:buNone/>
            </a:pPr>
            <a:r>
              <a:rPr lang="en-US" sz="1400" b="1" dirty="0">
                <a:solidFill>
                  <a:srgbClr val="EC4899"/>
                </a:solidFill>
                <a:latin typeface="Calibri" pitchFamily="34" charset="0"/>
                <a:ea typeface="Calibri" pitchFamily="34" charset="-122"/>
                <a:cs typeface="Calibri" pitchFamily="34" charset="-120"/>
              </a:rPr>
              <a:t>• φ ≈ 0: </a:t>
            </a:r>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zgomot pur (trecutul nu spune nimic)</a:t>
            </a:r>
            <a:endParaRPr lang="en-US" sz="1400" dirty="0"/>
          </a:p>
        </p:txBody>
      </p:sp>
      <p:pic>
        <p:nvPicPr>
          <p:cNvPr id="15" name="Image 0" descr="/sessions/vibrant-elegant-pasteur/mnt/Disertatie_AI_Platform/reports/figures/fig_fe_autoregresivitate_animated.gif">    </p:cNvPr>
          <p:cNvPicPr>
            <a:picLocks noChangeAspect="1"/>
          </p:cNvPicPr>
          <p:nvPr/>
        </p:nvPicPr>
        <p:blipFill>
          <a:blip r:embed="rId1"/>
          <a:srcRect l="0" r="0" t="0" b="0"/>
          <a:stretch/>
        </p:blipFill>
        <p:spPr>
          <a:xfrm>
            <a:off x="6400800" y="1783080"/>
            <a:ext cx="5303520" cy="4114800"/>
          </a:xfrm>
          <a:prstGeom prst="rect">
            <a:avLst/>
          </a:prstGeom>
        </p:spPr>
      </p:pic>
      <p:sp>
        <p:nvSpPr>
          <p:cNvPr id="16" name="Text 13"/>
          <p:cNvSpPr/>
          <p:nvPr/>
        </p:nvSpPr>
        <p:spPr>
          <a:xfrm>
            <a:off x="6400800" y="5989320"/>
            <a:ext cx="5303520" cy="365760"/>
          </a:xfrm>
          <a:prstGeom prst="rect">
            <a:avLst/>
          </a:prstGeom>
          <a:noFill/>
          <a:ln/>
        </p:spPr>
        <p:txBody>
          <a:bodyPr wrap="square" rtlCol="0" anchor="ctr"/>
          <a:lstStyle/>
          <a:p>
            <a:pPr algn="ctr" indent="0" marL="0">
              <a:buNone/>
            </a:pPr>
            <a:r>
              <a:rPr lang="en-US" sz="1200" b="1" i="1" dirty="0">
                <a:solidFill>
                  <a:srgbClr val="EC4899"/>
                </a:solidFill>
                <a:latin typeface="Calibri" pitchFamily="34" charset="0"/>
                <a:ea typeface="Calibri" pitchFamily="34" charset="-122"/>
                <a:cs typeface="Calibri" pitchFamily="34" charset="-120"/>
              </a:rPr>
              <a:t>Pe datele energetice reale: corelatia pret(t) cu pret(t−1) este ~0.99 → autoregresivitate aproape perfecta</a:t>
            </a:r>
            <a:endParaRPr lang="en-US" sz="1200" dirty="0"/>
          </a:p>
        </p:txBody>
      </p:sp>
      <p:sp>
        <p:nvSpPr>
          <p:cNvPr id="17" name="Text 14"/>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8" name="Text 15"/>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14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LAG FEATURES - APLICARE PRACTICA</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Tehnica 2B: Lag features - aplicarea</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Text 4"/>
          <p:cNvSpPr/>
          <p:nvPr/>
        </p:nvSpPr>
        <p:spPr>
          <a:xfrm>
            <a:off x="548640" y="1828800"/>
            <a:ext cx="11064240" cy="457200"/>
          </a:xfrm>
          <a:prstGeom prst="rect">
            <a:avLst/>
          </a:prstGeom>
          <a:noFill/>
          <a:ln/>
        </p:spPr>
        <p:txBody>
          <a:bodyPr wrap="square"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Cum aplicam autoregresivitatea concret?</a:t>
            </a:r>
            <a:endParaRPr lang="en-US" sz="1900" dirty="0"/>
          </a:p>
        </p:txBody>
      </p:sp>
      <p:sp>
        <p:nvSpPr>
          <p:cNvPr id="7" name="Text 5"/>
          <p:cNvSpPr/>
          <p:nvPr/>
        </p:nvSpPr>
        <p:spPr>
          <a:xfrm>
            <a:off x="548640" y="2286000"/>
            <a:ext cx="11064240" cy="457200"/>
          </a:xfrm>
          <a:prstGeom prst="rect">
            <a:avLst/>
          </a:prstGeom>
          <a:noFill/>
          <a:ln/>
        </p:spPr>
        <p:txBody>
          <a:bodyPr wrap="square" rtlCol="0" anchor="ctr"/>
          <a:lstStyle/>
          <a:p>
            <a:pPr indent="0" marL="0">
              <a:buNone/>
            </a:pPr>
            <a:r>
              <a:rPr lang="en-US" sz="1500" dirty="0">
                <a:solidFill>
                  <a:srgbClr val="334155"/>
                </a:solidFill>
                <a:latin typeface="Calibri" pitchFamily="34" charset="0"/>
                <a:ea typeface="Calibri" pitchFamily="34" charset="-122"/>
                <a:cs typeface="Calibri" pitchFamily="34" charset="-120"/>
              </a:rPr>
              <a:t>Adaugam coloane noi care contin valoarea cu un decalaj fix in trecut, folosind functia shift din pandas:</a:t>
            </a:r>
            <a:endParaRPr lang="en-US" sz="1500" dirty="0"/>
          </a:p>
        </p:txBody>
      </p:sp>
      <p:sp>
        <p:nvSpPr>
          <p:cNvPr id="8" name="Shape 6"/>
          <p:cNvSpPr/>
          <p:nvPr/>
        </p:nvSpPr>
        <p:spPr>
          <a:xfrm>
            <a:off x="548640" y="2834640"/>
            <a:ext cx="6583680" cy="1828800"/>
          </a:xfrm>
          <a:prstGeom prst="rect">
            <a:avLst/>
          </a:prstGeom>
          <a:solidFill>
            <a:srgbClr val="1E1B4B"/>
          </a:solidFill>
          <a:ln w="12700">
            <a:solidFill>
              <a:srgbClr val="1E1B4B"/>
            </a:solidFill>
            <a:prstDash val="solid"/>
          </a:ln>
        </p:spPr>
      </p:sp>
      <p:sp>
        <p:nvSpPr>
          <p:cNvPr id="9" name="Text 7"/>
          <p:cNvSpPr/>
          <p:nvPr/>
        </p:nvSpPr>
        <p:spPr>
          <a:xfrm>
            <a:off x="777240" y="2971800"/>
            <a:ext cx="6126480" cy="1645920"/>
          </a:xfrm>
          <a:prstGeom prst="rect">
            <a:avLst/>
          </a:prstGeom>
          <a:noFill/>
          <a:ln/>
        </p:spPr>
        <p:txBody>
          <a:bodyPr wrap="square" rtlCol="0" anchor="ctr"/>
          <a:lstStyle/>
          <a:p>
            <a:pPr indent="0" marL="0">
              <a:buNone/>
            </a:pPr>
            <a:r>
              <a:rPr lang="en-US" sz="1300" i="1" dirty="0">
                <a:solidFill>
                  <a:srgbClr val="94A3B8"/>
                </a:solidFill>
                <a:latin typeface="Consolas" pitchFamily="34" charset="0"/>
                <a:ea typeface="Consolas" pitchFamily="34" charset="-122"/>
                <a:cs typeface="Consolas" pitchFamily="34" charset="-120"/>
              </a:rPr>
              <a:t># Python (pandas)
</a:t>
            </a:r>
            <a:pPr indent="0" marL="0">
              <a:buNone/>
            </a:pPr>
            <a:r>
              <a:rPr lang="en-US" sz="1600" dirty="0">
                <a:solidFill>
                  <a:srgbClr val="FFFFFF"/>
                </a:solidFill>
                <a:latin typeface="Consolas" pitchFamily="34" charset="0"/>
                <a:ea typeface="Consolas" pitchFamily="34" charset="-122"/>
                <a:cs typeface="Consolas" pitchFamily="34" charset="-120"/>
              </a:rPr>
              <a:t>df['lag_1']   = df['pret'].shift(1)</a:t>
            </a:r>
            <a:endParaRPr lang="en-US" sz="1300" dirty="0"/>
          </a:p>
          <a:p>
            <a:pPr indent="0" marL="0">
              <a:buNone/>
            </a:pPr>
            <a:r>
              <a:rPr lang="en-US" sz="1600" dirty="0">
                <a:solidFill>
                  <a:srgbClr val="FFFFFF"/>
                </a:solidFill>
                <a:latin typeface="Consolas" pitchFamily="34" charset="0"/>
                <a:ea typeface="Consolas" pitchFamily="34" charset="-122"/>
                <a:cs typeface="Consolas" pitchFamily="34" charset="-120"/>
              </a:rPr>
              <a:t>df['lag_24']  = df['pret'].shift(24)</a:t>
            </a:r>
            <a:endParaRPr lang="en-US" sz="1300" dirty="0"/>
          </a:p>
          <a:p>
            <a:pPr indent="0" marL="0">
              <a:buNone/>
            </a:pPr>
            <a:r>
              <a:rPr lang="en-US" sz="1600" dirty="0">
                <a:solidFill>
                  <a:srgbClr val="FFFFFF"/>
                </a:solidFill>
                <a:latin typeface="Consolas" pitchFamily="34" charset="0"/>
                <a:ea typeface="Consolas" pitchFamily="34" charset="-122"/>
                <a:cs typeface="Consolas" pitchFamily="34" charset="-120"/>
              </a:rPr>
              <a:t>df['lag_168'] = df['pret'].shift(168)</a:t>
            </a:r>
            <a:endParaRPr lang="en-US" sz="1300" dirty="0"/>
          </a:p>
        </p:txBody>
      </p:sp>
      <p:sp>
        <p:nvSpPr>
          <p:cNvPr id="10" name="Shape 8"/>
          <p:cNvSpPr/>
          <p:nvPr/>
        </p:nvSpPr>
        <p:spPr>
          <a:xfrm>
            <a:off x="7406640" y="2834640"/>
            <a:ext cx="4206240" cy="502920"/>
          </a:xfrm>
          <a:prstGeom prst="rect">
            <a:avLst/>
          </a:prstGeom>
          <a:solidFill>
            <a:srgbClr val="FFFFFF"/>
          </a:solidFill>
          <a:ln w="19050">
            <a:solidFill>
              <a:srgbClr val="6366F1"/>
            </a:solidFill>
            <a:prstDash val="solid"/>
          </a:ln>
        </p:spPr>
      </p:sp>
      <p:sp>
        <p:nvSpPr>
          <p:cNvPr id="11" name="Text 9"/>
          <p:cNvSpPr/>
          <p:nvPr/>
        </p:nvSpPr>
        <p:spPr>
          <a:xfrm>
            <a:off x="7498080" y="2834640"/>
            <a:ext cx="4023360" cy="502920"/>
          </a:xfrm>
          <a:prstGeom prst="rect">
            <a:avLst/>
          </a:prstGeom>
          <a:noFill/>
          <a:ln/>
        </p:spPr>
        <p:txBody>
          <a:bodyPr wrap="square" rtlCol="0" anchor="ctr"/>
          <a:lstStyle/>
          <a:p>
            <a:pPr indent="0" marL="0">
              <a:buNone/>
            </a:pPr>
            <a:r>
              <a:rPr lang="en-US" sz="1400" b="1" dirty="0">
                <a:solidFill>
                  <a:srgbClr val="6366F1"/>
                </a:solidFill>
                <a:latin typeface="Consolas" pitchFamily="34" charset="0"/>
                <a:ea typeface="Consolas" pitchFamily="34" charset="-122"/>
                <a:cs typeface="Consolas" pitchFamily="34" charset="-120"/>
              </a:rPr>
              <a:t>lag_1: </a:t>
            </a:r>
            <a:pPr indent="0" marL="0">
              <a:buNone/>
            </a:pPr>
            <a:r>
              <a:rPr lang="en-US" sz="1200" dirty="0">
                <a:solidFill>
                  <a:srgbClr val="334155"/>
                </a:solidFill>
                <a:latin typeface="Calibri" pitchFamily="34" charset="0"/>
                <a:ea typeface="Calibri" pitchFamily="34" charset="-122"/>
                <a:cs typeface="Calibri" pitchFamily="34" charset="-120"/>
              </a:rPr>
              <a:t>Valoarea de acum 1 ora  </a:t>
            </a:r>
            <a:pPr indent="0" marL="0">
              <a:buNone/>
            </a:pPr>
            <a:r>
              <a:rPr lang="en-US" sz="1200" i="1" dirty="0">
                <a:solidFill>
                  <a:srgbClr val="6366F1"/>
                </a:solidFill>
                <a:latin typeface="Calibri" pitchFamily="34" charset="0"/>
                <a:ea typeface="Calibri" pitchFamily="34" charset="-122"/>
                <a:cs typeface="Calibri" pitchFamily="34" charset="-120"/>
              </a:rPr>
              <a:t>→ Memorie scurta</a:t>
            </a:r>
            <a:endParaRPr lang="en-US" sz="1400" dirty="0"/>
          </a:p>
        </p:txBody>
      </p:sp>
      <p:sp>
        <p:nvSpPr>
          <p:cNvPr id="12" name="Shape 10"/>
          <p:cNvSpPr/>
          <p:nvPr/>
        </p:nvSpPr>
        <p:spPr>
          <a:xfrm>
            <a:off x="7406640" y="3383280"/>
            <a:ext cx="4206240" cy="502920"/>
          </a:xfrm>
          <a:prstGeom prst="rect">
            <a:avLst/>
          </a:prstGeom>
          <a:solidFill>
            <a:srgbClr val="FFFFFF"/>
          </a:solidFill>
          <a:ln w="19050">
            <a:solidFill>
              <a:srgbClr val="EC4899"/>
            </a:solidFill>
            <a:prstDash val="solid"/>
          </a:ln>
        </p:spPr>
      </p:sp>
      <p:sp>
        <p:nvSpPr>
          <p:cNvPr id="13" name="Text 11"/>
          <p:cNvSpPr/>
          <p:nvPr/>
        </p:nvSpPr>
        <p:spPr>
          <a:xfrm>
            <a:off x="7498080" y="3383280"/>
            <a:ext cx="4023360" cy="502920"/>
          </a:xfrm>
          <a:prstGeom prst="rect">
            <a:avLst/>
          </a:prstGeom>
          <a:noFill/>
          <a:ln/>
        </p:spPr>
        <p:txBody>
          <a:bodyPr wrap="square" rtlCol="0" anchor="ctr"/>
          <a:lstStyle/>
          <a:p>
            <a:pPr indent="0" marL="0">
              <a:buNone/>
            </a:pPr>
            <a:r>
              <a:rPr lang="en-US" sz="1400" b="1" dirty="0">
                <a:solidFill>
                  <a:srgbClr val="EC4899"/>
                </a:solidFill>
                <a:latin typeface="Consolas" pitchFamily="34" charset="0"/>
                <a:ea typeface="Consolas" pitchFamily="34" charset="-122"/>
                <a:cs typeface="Consolas" pitchFamily="34" charset="-120"/>
              </a:rPr>
              <a:t>lag_24: </a:t>
            </a:r>
            <a:pPr indent="0" marL="0">
              <a:buNone/>
            </a:pPr>
            <a:r>
              <a:rPr lang="en-US" sz="1200" dirty="0">
                <a:solidFill>
                  <a:srgbClr val="334155"/>
                </a:solidFill>
                <a:latin typeface="Calibri" pitchFamily="34" charset="0"/>
                <a:ea typeface="Calibri" pitchFamily="34" charset="-122"/>
                <a:cs typeface="Calibri" pitchFamily="34" charset="-120"/>
              </a:rPr>
              <a:t>Valoarea de acum 24 ore  </a:t>
            </a:r>
            <a:pPr indent="0" marL="0">
              <a:buNone/>
            </a:pPr>
            <a:r>
              <a:rPr lang="en-US" sz="1200" i="1" dirty="0">
                <a:solidFill>
                  <a:srgbClr val="EC4899"/>
                </a:solidFill>
                <a:latin typeface="Calibri" pitchFamily="34" charset="0"/>
                <a:ea typeface="Calibri" pitchFamily="34" charset="-122"/>
                <a:cs typeface="Calibri" pitchFamily="34" charset="-120"/>
              </a:rPr>
              <a:t>→ Ritm zilnic</a:t>
            </a:r>
            <a:endParaRPr lang="en-US" sz="1400" dirty="0"/>
          </a:p>
        </p:txBody>
      </p:sp>
      <p:sp>
        <p:nvSpPr>
          <p:cNvPr id="14" name="Shape 12"/>
          <p:cNvSpPr/>
          <p:nvPr/>
        </p:nvSpPr>
        <p:spPr>
          <a:xfrm>
            <a:off x="7406640" y="3931920"/>
            <a:ext cx="4206240" cy="502920"/>
          </a:xfrm>
          <a:prstGeom prst="rect">
            <a:avLst/>
          </a:prstGeom>
          <a:solidFill>
            <a:srgbClr val="FFFFFF"/>
          </a:solidFill>
          <a:ln w="19050">
            <a:solidFill>
              <a:srgbClr val="FBBF24"/>
            </a:solidFill>
            <a:prstDash val="solid"/>
          </a:ln>
        </p:spPr>
      </p:sp>
      <p:sp>
        <p:nvSpPr>
          <p:cNvPr id="15" name="Text 13"/>
          <p:cNvSpPr/>
          <p:nvPr/>
        </p:nvSpPr>
        <p:spPr>
          <a:xfrm>
            <a:off x="7498080" y="3931920"/>
            <a:ext cx="4023360" cy="502920"/>
          </a:xfrm>
          <a:prstGeom prst="rect">
            <a:avLst/>
          </a:prstGeom>
          <a:noFill/>
          <a:ln/>
        </p:spPr>
        <p:txBody>
          <a:bodyPr wrap="square" rtlCol="0" anchor="ctr"/>
          <a:lstStyle/>
          <a:p>
            <a:pPr indent="0" marL="0">
              <a:buNone/>
            </a:pPr>
            <a:r>
              <a:rPr lang="en-US" sz="1400" b="1" dirty="0">
                <a:solidFill>
                  <a:srgbClr val="FBBF24"/>
                </a:solidFill>
                <a:latin typeface="Consolas" pitchFamily="34" charset="0"/>
                <a:ea typeface="Consolas" pitchFamily="34" charset="-122"/>
                <a:cs typeface="Consolas" pitchFamily="34" charset="-120"/>
              </a:rPr>
              <a:t>lag_168: </a:t>
            </a:r>
            <a:pPr indent="0" marL="0">
              <a:buNone/>
            </a:pPr>
            <a:r>
              <a:rPr lang="en-US" sz="1200" dirty="0">
                <a:solidFill>
                  <a:srgbClr val="334155"/>
                </a:solidFill>
                <a:latin typeface="Calibri" pitchFamily="34" charset="0"/>
                <a:ea typeface="Calibri" pitchFamily="34" charset="-122"/>
                <a:cs typeface="Calibri" pitchFamily="34" charset="-120"/>
              </a:rPr>
              <a:t>Valoarea de acum 168 ore (7 zile)  </a:t>
            </a:r>
            <a:pPr indent="0" marL="0">
              <a:buNone/>
            </a:pPr>
            <a:r>
              <a:rPr lang="en-US" sz="1200" i="1" dirty="0">
                <a:solidFill>
                  <a:srgbClr val="FBBF24"/>
                </a:solidFill>
                <a:latin typeface="Calibri" pitchFamily="34" charset="0"/>
                <a:ea typeface="Calibri" pitchFamily="34" charset="-122"/>
                <a:cs typeface="Calibri" pitchFamily="34" charset="-120"/>
              </a:rPr>
              <a:t>→ Ritm saptamanal</a:t>
            </a:r>
            <a:endParaRPr lang="en-US" sz="1400" dirty="0"/>
          </a:p>
        </p:txBody>
      </p:sp>
      <p:sp>
        <p:nvSpPr>
          <p:cNvPr id="16" name="Shape 14"/>
          <p:cNvSpPr/>
          <p:nvPr/>
        </p:nvSpPr>
        <p:spPr>
          <a:xfrm>
            <a:off x="548640" y="4937760"/>
            <a:ext cx="11064240" cy="1325880"/>
          </a:xfrm>
          <a:prstGeom prst="rect">
            <a:avLst/>
          </a:prstGeom>
          <a:solidFill>
            <a:srgbClr val="F1F5F9"/>
          </a:solidFill>
          <a:ln w="12700">
            <a:solidFill>
              <a:srgbClr val="E2E8F0"/>
            </a:solidFill>
            <a:prstDash val="solid"/>
          </a:ln>
        </p:spPr>
      </p:sp>
      <p:sp>
        <p:nvSpPr>
          <p:cNvPr id="17" name="Shape 15"/>
          <p:cNvSpPr/>
          <p:nvPr/>
        </p:nvSpPr>
        <p:spPr>
          <a:xfrm>
            <a:off x="548640" y="4937760"/>
            <a:ext cx="137160" cy="1325880"/>
          </a:xfrm>
          <a:prstGeom prst="rect">
            <a:avLst/>
          </a:prstGeom>
          <a:solidFill>
            <a:srgbClr val="10B981"/>
          </a:solidFill>
          <a:ln w="12700">
            <a:solidFill>
              <a:srgbClr val="10B981"/>
            </a:solidFill>
            <a:prstDash val="solid"/>
          </a:ln>
        </p:spPr>
      </p:sp>
      <p:sp>
        <p:nvSpPr>
          <p:cNvPr id="18" name="Text 16"/>
          <p:cNvSpPr/>
          <p:nvPr/>
        </p:nvSpPr>
        <p:spPr>
          <a:xfrm>
            <a:off x="777240" y="5029200"/>
            <a:ext cx="10607040" cy="1143000"/>
          </a:xfrm>
          <a:prstGeom prst="rect">
            <a:avLst/>
          </a:prstGeom>
          <a:noFill/>
          <a:ln/>
        </p:spPr>
        <p:txBody>
          <a:bodyPr wrap="square" rtlCol="0" anchor="t"/>
          <a:lstStyle/>
          <a:p>
            <a:pPr indent="0" marL="0">
              <a:lnSpc>
                <a:spcPct val="130000"/>
              </a:lnSpc>
              <a:buNone/>
            </a:pPr>
            <a:r>
              <a:rPr lang="en-US" sz="1800" b="1" dirty="0">
                <a:solidFill>
                  <a:srgbClr val="10B981"/>
                </a:solidFill>
                <a:latin typeface="Calibri" pitchFamily="34" charset="0"/>
                <a:ea typeface="Calibri" pitchFamily="34" charset="-122"/>
                <a:cs typeface="Calibri" pitchFamily="34" charset="-120"/>
              </a:rPr>
              <a:t>Cum ne ajuta concret
</a:t>
            </a:r>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Pe modelul XGBoost antrenat pe consumul SUA, </a:t>
            </a:r>
            <a:pPr indent="0" marL="0">
              <a:lnSpc>
                <a:spcPct val="130000"/>
              </a:lnSpc>
              <a:buNone/>
            </a:pPr>
            <a:r>
              <a:rPr lang="en-US" sz="1400" b="1" dirty="0">
                <a:solidFill>
                  <a:srgbClr val="334155"/>
                </a:solidFill>
                <a:latin typeface="Calibri" pitchFamily="34" charset="0"/>
                <a:ea typeface="Calibri" pitchFamily="34" charset="-122"/>
                <a:cs typeface="Calibri" pitchFamily="34" charset="-120"/>
              </a:rPr>
              <a:t>feature-ul lag_1 explica peste 90% din decizia modelului. </a:t>
            </a:r>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Toate celelalte 28 de features combinate explica restul de 10%. Este o demonstratie puternica a autoregresivitatii.</a:t>
            </a:r>
            <a:endParaRPr lang="en-US" sz="1800" dirty="0"/>
          </a:p>
        </p:txBody>
      </p:sp>
      <p:sp>
        <p:nvSpPr>
          <p:cNvPr id="19" name="Text 17"/>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20" name="Text 18"/>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15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ROLLING FEATURES - INTRODUCERE</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Tehnica 3A: Rolling features</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Text 4"/>
          <p:cNvSpPr/>
          <p:nvPr/>
        </p:nvSpPr>
        <p:spPr>
          <a:xfrm>
            <a:off x="548640" y="1828800"/>
            <a:ext cx="11064240" cy="548640"/>
          </a:xfrm>
          <a:prstGeom prst="rect">
            <a:avLst/>
          </a:prstGeom>
          <a:noFill/>
          <a:ln/>
        </p:spPr>
        <p:txBody>
          <a:bodyPr wrap="square" rtlCol="0" anchor="ctr"/>
          <a:lstStyle/>
          <a:p>
            <a:pPr indent="0" marL="0">
              <a:buNone/>
            </a:pPr>
            <a:r>
              <a:rPr lang="en-US" sz="1700" i="1" dirty="0">
                <a:solidFill>
                  <a:srgbClr val="334155"/>
                </a:solidFill>
                <a:latin typeface="Calibri" pitchFamily="34" charset="0"/>
                <a:ea typeface="Calibri" pitchFamily="34" charset="-122"/>
                <a:cs typeface="Calibri" pitchFamily="34" charset="-120"/>
              </a:rPr>
              <a:t>Lag-urile dau puncte exacte din trecut. Rolling features combina mai multe puncte intr-o statistica agregata pe un rolling window.</a:t>
            </a:r>
            <a:endParaRPr lang="en-US" sz="1700" dirty="0"/>
          </a:p>
        </p:txBody>
      </p:sp>
      <p:sp>
        <p:nvSpPr>
          <p:cNvPr id="7" name="Shape 5"/>
          <p:cNvSpPr/>
          <p:nvPr/>
        </p:nvSpPr>
        <p:spPr>
          <a:xfrm>
            <a:off x="548640" y="2606040"/>
            <a:ext cx="5486400" cy="3520440"/>
          </a:xfrm>
          <a:prstGeom prst="rect">
            <a:avLst/>
          </a:prstGeom>
          <a:solidFill>
            <a:srgbClr val="F1F5F9"/>
          </a:solidFill>
          <a:ln w="12700">
            <a:solidFill>
              <a:srgbClr val="E2E8F0"/>
            </a:solidFill>
            <a:prstDash val="solid"/>
          </a:ln>
        </p:spPr>
      </p:sp>
      <p:sp>
        <p:nvSpPr>
          <p:cNvPr id="8" name="Shape 6"/>
          <p:cNvSpPr/>
          <p:nvPr/>
        </p:nvSpPr>
        <p:spPr>
          <a:xfrm>
            <a:off x="548640" y="2606040"/>
            <a:ext cx="137160" cy="3520440"/>
          </a:xfrm>
          <a:prstGeom prst="rect">
            <a:avLst/>
          </a:prstGeom>
          <a:solidFill>
            <a:srgbClr val="6366F1"/>
          </a:solidFill>
          <a:ln w="12700">
            <a:solidFill>
              <a:srgbClr val="6366F1"/>
            </a:solidFill>
            <a:prstDash val="solid"/>
          </a:ln>
        </p:spPr>
      </p:sp>
      <p:sp>
        <p:nvSpPr>
          <p:cNvPr id="9" name="Text 7"/>
          <p:cNvSpPr/>
          <p:nvPr/>
        </p:nvSpPr>
        <p:spPr>
          <a:xfrm>
            <a:off x="777240" y="2697480"/>
            <a:ext cx="5257800" cy="457200"/>
          </a:xfrm>
          <a:prstGeom prst="rect">
            <a:avLst/>
          </a:prstGeom>
          <a:noFill/>
          <a:ln/>
        </p:spPr>
        <p:txBody>
          <a:bodyPr wrap="square" rtlCol="0" anchor="ctr"/>
          <a:lstStyle/>
          <a:p>
            <a:pPr indent="0" marL="0">
              <a:buNone/>
            </a:pPr>
            <a:r>
              <a:rPr lang="en-US" sz="2000" b="1" dirty="0">
                <a:solidFill>
                  <a:srgbClr val="6366F1"/>
                </a:solidFill>
                <a:latin typeface="Calibri" pitchFamily="34" charset="0"/>
                <a:ea typeface="Calibri" pitchFamily="34" charset="-122"/>
                <a:cs typeface="Calibri" pitchFamily="34" charset="-120"/>
              </a:rPr>
              <a:t>rolling mean - trend recent</a:t>
            </a:r>
            <a:endParaRPr lang="en-US" sz="2000" dirty="0"/>
          </a:p>
        </p:txBody>
      </p:sp>
      <p:sp>
        <p:nvSpPr>
          <p:cNvPr id="10" name="Shape 8"/>
          <p:cNvSpPr/>
          <p:nvPr/>
        </p:nvSpPr>
        <p:spPr>
          <a:xfrm>
            <a:off x="777240" y="3246120"/>
            <a:ext cx="5257800" cy="640080"/>
          </a:xfrm>
          <a:prstGeom prst="rect">
            <a:avLst/>
          </a:prstGeom>
          <a:solidFill>
            <a:srgbClr val="1E1B4B"/>
          </a:solidFill>
          <a:ln w="12700">
            <a:solidFill>
              <a:srgbClr val="1E1B4B"/>
            </a:solidFill>
            <a:prstDash val="solid"/>
          </a:ln>
        </p:spPr>
      </p:sp>
      <p:sp>
        <p:nvSpPr>
          <p:cNvPr id="11" name="Text 9"/>
          <p:cNvSpPr/>
          <p:nvPr/>
        </p:nvSpPr>
        <p:spPr>
          <a:xfrm>
            <a:off x="777240" y="3246120"/>
            <a:ext cx="5257800" cy="640080"/>
          </a:xfrm>
          <a:prstGeom prst="rect">
            <a:avLst/>
          </a:prstGeom>
          <a:noFill/>
          <a:ln/>
        </p:spPr>
        <p:txBody>
          <a:bodyPr wrap="square"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df['pret'].shift(1).rolling(24).mean()</a:t>
            </a:r>
            <a:endParaRPr lang="en-US" sz="1300" dirty="0"/>
          </a:p>
        </p:txBody>
      </p:sp>
      <p:sp>
        <p:nvSpPr>
          <p:cNvPr id="12" name="Text 10"/>
          <p:cNvSpPr/>
          <p:nvPr/>
        </p:nvSpPr>
        <p:spPr>
          <a:xfrm>
            <a:off x="868680" y="4023360"/>
            <a:ext cx="5074920" cy="2011680"/>
          </a:xfrm>
          <a:prstGeom prst="rect">
            <a:avLst/>
          </a:prstGeom>
          <a:noFill/>
          <a:ln/>
        </p:spPr>
        <p:txBody>
          <a:bodyPr wrap="square" rtlCol="0" anchor="t"/>
          <a:lstStyle/>
          <a:p>
            <a:pPr indent="0" marL="0">
              <a:lnSpc>
                <a:spcPct val="125000"/>
              </a:lnSpc>
              <a:buNone/>
            </a:pPr>
            <a:r>
              <a:rPr lang="en-US" sz="1600" b="1" dirty="0">
                <a:solidFill>
                  <a:srgbClr val="6366F1"/>
                </a:solidFill>
                <a:latin typeface="Calibri" pitchFamily="34" charset="0"/>
                <a:ea typeface="Calibri" pitchFamily="34" charset="-122"/>
                <a:cs typeface="Calibri" pitchFamily="34" charset="-120"/>
              </a:rPr>
              <a:t>Cum ne ajuta:
</a:t>
            </a:r>
            <a:pPr indent="0" marL="0">
              <a:lnSpc>
                <a:spcPct val="125000"/>
              </a:lnSpc>
              <a:buNone/>
            </a:pPr>
            <a:r>
              <a:rPr lang="en-US" sz="1400" dirty="0">
                <a:solidFill>
                  <a:srgbClr val="334155"/>
                </a:solidFill>
                <a:latin typeface="Calibri" pitchFamily="34" charset="0"/>
                <a:ea typeface="Calibri" pitchFamily="34" charset="-122"/>
                <a:cs typeface="Calibri" pitchFamily="34" charset="-120"/>
              </a:rPr>
              <a:t>Captureaza </a:t>
            </a:r>
            <a:pPr indent="0" marL="0">
              <a:lnSpc>
                <a:spcPct val="125000"/>
              </a:lnSpc>
              <a:buNone/>
            </a:pPr>
            <a:r>
              <a:rPr lang="en-US" sz="1400" b="1" dirty="0">
                <a:solidFill>
                  <a:srgbClr val="334155"/>
                </a:solidFill>
                <a:latin typeface="Calibri" pitchFamily="34" charset="0"/>
                <a:ea typeface="Calibri" pitchFamily="34" charset="-122"/>
                <a:cs typeface="Calibri" pitchFamily="34" charset="-120"/>
              </a:rPr>
              <a:t>directia generala recenta</a:t>
            </a:r>
            <a:pPr indent="0" marL="0">
              <a:lnSpc>
                <a:spcPct val="125000"/>
              </a:lnSpc>
              <a:buNone/>
            </a:pPr>
            <a:r>
              <a:rPr lang="en-US" sz="1400" dirty="0">
                <a:solidFill>
                  <a:srgbClr val="334155"/>
                </a:solidFill>
                <a:latin typeface="Calibri" pitchFamily="34" charset="0"/>
                <a:ea typeface="Calibri" pitchFamily="34" charset="-122"/>
                <a:cs typeface="Calibri" pitchFamily="34" charset="-120"/>
              </a:rPr>
              <a:t> - daca media ultimelor 24 ore este ridicata, pretul actual este probabil tot ridicat. </a:t>
            </a:r>
            <a:endParaRPr lang="en-US" sz="1600" dirty="0"/>
          </a:p>
          <a:p>
            <a:pPr indent="0" marL="0">
              <a:lnSpc>
                <a:spcPct val="125000"/>
              </a:lnSpc>
              <a:buNone/>
            </a:pPr>
            <a:r>
              <a:rPr lang="en-US" sz="1400" i="1" dirty="0">
                <a:solidFill>
                  <a:srgbClr val="334155"/>
                </a:solidFill>
                <a:latin typeface="Calibri" pitchFamily="34" charset="0"/>
                <a:ea typeface="Calibri" pitchFamily="34" charset="-122"/>
                <a:cs typeface="Calibri" pitchFamily="34" charset="-120"/>
              </a:rPr>
              <a:t>Filtreaza zgomotul punctual, da modelului contextul global.</a:t>
            </a:r>
            <a:endParaRPr lang="en-US" sz="1600" dirty="0"/>
          </a:p>
        </p:txBody>
      </p:sp>
      <p:sp>
        <p:nvSpPr>
          <p:cNvPr id="13" name="Shape 11"/>
          <p:cNvSpPr/>
          <p:nvPr/>
        </p:nvSpPr>
        <p:spPr>
          <a:xfrm>
            <a:off x="6126480" y="2606040"/>
            <a:ext cx="5486400" cy="3520440"/>
          </a:xfrm>
          <a:prstGeom prst="rect">
            <a:avLst/>
          </a:prstGeom>
          <a:solidFill>
            <a:srgbClr val="F1F5F9"/>
          </a:solidFill>
          <a:ln w="12700">
            <a:solidFill>
              <a:srgbClr val="E2E8F0"/>
            </a:solidFill>
            <a:prstDash val="solid"/>
          </a:ln>
        </p:spPr>
      </p:sp>
      <p:sp>
        <p:nvSpPr>
          <p:cNvPr id="14" name="Shape 12"/>
          <p:cNvSpPr/>
          <p:nvPr/>
        </p:nvSpPr>
        <p:spPr>
          <a:xfrm>
            <a:off x="6126480" y="2606040"/>
            <a:ext cx="137160" cy="3520440"/>
          </a:xfrm>
          <a:prstGeom prst="rect">
            <a:avLst/>
          </a:prstGeom>
          <a:solidFill>
            <a:srgbClr val="FBBF24"/>
          </a:solidFill>
          <a:ln w="12700">
            <a:solidFill>
              <a:srgbClr val="FBBF24"/>
            </a:solidFill>
            <a:prstDash val="solid"/>
          </a:ln>
        </p:spPr>
      </p:sp>
      <p:sp>
        <p:nvSpPr>
          <p:cNvPr id="15" name="Text 13"/>
          <p:cNvSpPr/>
          <p:nvPr/>
        </p:nvSpPr>
        <p:spPr>
          <a:xfrm>
            <a:off x="6355080" y="2697480"/>
            <a:ext cx="5257800" cy="457200"/>
          </a:xfrm>
          <a:prstGeom prst="rect">
            <a:avLst/>
          </a:prstGeom>
          <a:noFill/>
          <a:ln/>
        </p:spPr>
        <p:txBody>
          <a:bodyPr wrap="square"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rolling std - volatilitate recenta</a:t>
            </a:r>
            <a:endParaRPr lang="en-US" sz="2000" dirty="0"/>
          </a:p>
        </p:txBody>
      </p:sp>
      <p:sp>
        <p:nvSpPr>
          <p:cNvPr id="16" name="Shape 14"/>
          <p:cNvSpPr/>
          <p:nvPr/>
        </p:nvSpPr>
        <p:spPr>
          <a:xfrm>
            <a:off x="6355080" y="3246120"/>
            <a:ext cx="5257800" cy="640080"/>
          </a:xfrm>
          <a:prstGeom prst="rect">
            <a:avLst/>
          </a:prstGeom>
          <a:solidFill>
            <a:srgbClr val="1E1B4B"/>
          </a:solidFill>
          <a:ln w="12700">
            <a:solidFill>
              <a:srgbClr val="1E1B4B"/>
            </a:solidFill>
            <a:prstDash val="solid"/>
          </a:ln>
        </p:spPr>
      </p:sp>
      <p:sp>
        <p:nvSpPr>
          <p:cNvPr id="17" name="Text 15"/>
          <p:cNvSpPr/>
          <p:nvPr/>
        </p:nvSpPr>
        <p:spPr>
          <a:xfrm>
            <a:off x="6355080" y="3246120"/>
            <a:ext cx="5257800" cy="640080"/>
          </a:xfrm>
          <a:prstGeom prst="rect">
            <a:avLst/>
          </a:prstGeom>
          <a:noFill/>
          <a:ln/>
        </p:spPr>
        <p:txBody>
          <a:bodyPr wrap="square"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df['pret'].shift(1).rolling(24).std()</a:t>
            </a:r>
            <a:endParaRPr lang="en-US" sz="1300" dirty="0"/>
          </a:p>
        </p:txBody>
      </p:sp>
      <p:sp>
        <p:nvSpPr>
          <p:cNvPr id="18" name="Text 16"/>
          <p:cNvSpPr/>
          <p:nvPr/>
        </p:nvSpPr>
        <p:spPr>
          <a:xfrm>
            <a:off x="6446520" y="4023360"/>
            <a:ext cx="5074920" cy="2011680"/>
          </a:xfrm>
          <a:prstGeom prst="rect">
            <a:avLst/>
          </a:prstGeom>
          <a:noFill/>
          <a:ln/>
        </p:spPr>
        <p:txBody>
          <a:bodyPr wrap="square" rtlCol="0" anchor="t"/>
          <a:lstStyle/>
          <a:p>
            <a:pPr indent="0" marL="0">
              <a:lnSpc>
                <a:spcPct val="125000"/>
              </a:lnSpc>
              <a:buNone/>
            </a:pPr>
            <a:r>
              <a:rPr lang="en-US" sz="1600" b="1" dirty="0">
                <a:solidFill>
                  <a:srgbClr val="FBBF24"/>
                </a:solidFill>
                <a:latin typeface="Calibri" pitchFamily="34" charset="0"/>
                <a:ea typeface="Calibri" pitchFamily="34" charset="-122"/>
                <a:cs typeface="Calibri" pitchFamily="34" charset="-120"/>
              </a:rPr>
              <a:t>Cum ne ajuta:
</a:t>
            </a:r>
            <a:pPr indent="0" marL="0">
              <a:lnSpc>
                <a:spcPct val="125000"/>
              </a:lnSpc>
              <a:buNone/>
            </a:pPr>
            <a:r>
              <a:rPr lang="en-US" sz="1400" dirty="0">
                <a:solidFill>
                  <a:srgbClr val="334155"/>
                </a:solidFill>
                <a:latin typeface="Calibri" pitchFamily="34" charset="0"/>
                <a:ea typeface="Calibri" pitchFamily="34" charset="-122"/>
                <a:cs typeface="Calibri" pitchFamily="34" charset="-120"/>
              </a:rPr>
              <a:t>Captureaza </a:t>
            </a:r>
            <a:pPr indent="0" marL="0">
              <a:lnSpc>
                <a:spcPct val="125000"/>
              </a:lnSpc>
              <a:buNone/>
            </a:pPr>
            <a:r>
              <a:rPr lang="en-US" sz="1400" b="1" dirty="0">
                <a:solidFill>
                  <a:srgbClr val="334155"/>
                </a:solidFill>
                <a:latin typeface="Calibri" pitchFamily="34" charset="0"/>
                <a:ea typeface="Calibri" pitchFamily="34" charset="-122"/>
                <a:cs typeface="Calibri" pitchFamily="34" charset="-120"/>
              </a:rPr>
              <a:t>cat de instabil a fost recent </a:t>
            </a:r>
            <a:pPr indent="0" marL="0">
              <a:lnSpc>
                <a:spcPct val="125000"/>
              </a:lnSpc>
              <a:buNone/>
            </a:pPr>
            <a:r>
              <a:rPr lang="en-US" sz="1400" dirty="0">
                <a:solidFill>
                  <a:srgbClr val="334155"/>
                </a:solidFill>
                <a:latin typeface="Calibri" pitchFamily="34" charset="0"/>
                <a:ea typeface="Calibri" pitchFamily="34" charset="-122"/>
                <a:cs typeface="Calibri" pitchFamily="34" charset="-120"/>
              </a:rPr>
              <a:t>sistemul. Volatilitate mare = piata sub presiune, valorile pot fluctua mult. </a:t>
            </a:r>
            <a:endParaRPr lang="en-US" sz="1600" dirty="0"/>
          </a:p>
          <a:p>
            <a:pPr indent="0" marL="0">
              <a:lnSpc>
                <a:spcPct val="125000"/>
              </a:lnSpc>
              <a:buNone/>
            </a:pPr>
            <a:r>
              <a:rPr lang="en-US" sz="1400" i="1" dirty="0">
                <a:solidFill>
                  <a:srgbClr val="334155"/>
                </a:solidFill>
                <a:latin typeface="Calibri" pitchFamily="34" charset="0"/>
                <a:ea typeface="Calibri" pitchFamily="34" charset="-122"/>
                <a:cs typeface="Calibri" pitchFamily="34" charset="-120"/>
              </a:rPr>
              <a:t>Modelul stie sa fie mai prudent in perioade volatile.</a:t>
            </a:r>
            <a:endParaRPr lang="en-US" sz="1600" dirty="0"/>
          </a:p>
        </p:txBody>
      </p:sp>
      <p:sp>
        <p:nvSpPr>
          <p:cNvPr id="19" name="Shape 17"/>
          <p:cNvSpPr/>
          <p:nvPr/>
        </p:nvSpPr>
        <p:spPr>
          <a:xfrm>
            <a:off x="548640" y="6263640"/>
            <a:ext cx="11064240" cy="164592"/>
          </a:xfrm>
          <a:prstGeom prst="rect">
            <a:avLst/>
          </a:prstGeom>
          <a:solidFill>
            <a:srgbClr val="EC4899"/>
          </a:solidFill>
          <a:ln w="12700">
            <a:solidFill>
              <a:srgbClr val="EC4899"/>
            </a:solidFill>
            <a:prstDash val="solid"/>
          </a:ln>
        </p:spPr>
      </p:sp>
      <p:sp>
        <p:nvSpPr>
          <p:cNvPr id="20" name="Text 18"/>
          <p:cNvSpPr/>
          <p:nvPr/>
        </p:nvSpPr>
        <p:spPr>
          <a:xfrm>
            <a:off x="548640" y="6446520"/>
            <a:ext cx="11064240" cy="0"/>
          </a:xfrm>
          <a:prstGeom prst="rect">
            <a:avLst/>
          </a:prstGeom>
          <a:noFill/>
          <a:ln/>
        </p:spPr>
        <p:txBody>
          <a:bodyPr wrap="square" rtlCol="0" anchor="ctr"/>
          <a:lstStyle/>
          <a:p>
            <a:pPr indent="0" marL="0">
              <a:buNone/>
            </a:pPr>
            <a:r>
              <a:rPr lang="en-US" dirty="0">
                <a:solidFill>
                  <a:srgbClr val="0F172A"/>
                </a:solidFill>
              </a:rPr>
              <a:t>Atentie - codul de mai sus contine deja .shift(1) - fara el apare o problema critica. Vedem in urmatorul slide.</a:t>
            </a:r>
            <a:endParaRPr lang="en-US" dirty="0"/>
          </a:p>
        </p:txBody>
      </p:sp>
      <p:sp>
        <p:nvSpPr>
          <p:cNvPr id="21" name="Text 19"/>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22" name="Text 20"/>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16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ROLLING FEATURES - ANTI DATA-LEAKAGE</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Tehnica 3B: Capcana .shift(1)</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pic>
        <p:nvPicPr>
          <p:cNvPr id="6" name="Image 0" descr="/sessions/vibrant-elegant-pasteur/mnt/Disertatie_AI_Platform/reports/figures/fig_fe_shift1_animated.gif">    </p:cNvPr>
          <p:cNvPicPr>
            <a:picLocks noChangeAspect="1"/>
          </p:cNvPicPr>
          <p:nvPr/>
        </p:nvPicPr>
        <p:blipFill>
          <a:blip r:embed="rId1"/>
          <a:srcRect l="0" r="0" t="0" b="0"/>
          <a:stretch/>
        </p:blipFill>
        <p:spPr>
          <a:xfrm>
            <a:off x="365760" y="1783080"/>
            <a:ext cx="11430000" cy="3383280"/>
          </a:xfrm>
          <a:prstGeom prst="rect">
            <a:avLst/>
          </a:prstGeom>
        </p:spPr>
      </p:pic>
      <p:sp>
        <p:nvSpPr>
          <p:cNvPr id="7" name="Shape 4"/>
          <p:cNvSpPr/>
          <p:nvPr/>
        </p:nvSpPr>
        <p:spPr>
          <a:xfrm>
            <a:off x="548640" y="5303520"/>
            <a:ext cx="5486400" cy="1097280"/>
          </a:xfrm>
          <a:prstGeom prst="rect">
            <a:avLst/>
          </a:prstGeom>
          <a:solidFill>
            <a:srgbClr val="F1F5F9"/>
          </a:solidFill>
          <a:ln w="12700">
            <a:solidFill>
              <a:srgbClr val="E2E8F0"/>
            </a:solidFill>
            <a:prstDash val="solid"/>
          </a:ln>
        </p:spPr>
      </p:sp>
      <p:sp>
        <p:nvSpPr>
          <p:cNvPr id="8" name="Shape 5"/>
          <p:cNvSpPr/>
          <p:nvPr/>
        </p:nvSpPr>
        <p:spPr>
          <a:xfrm>
            <a:off x="548640" y="5303520"/>
            <a:ext cx="137160" cy="1097280"/>
          </a:xfrm>
          <a:prstGeom prst="rect">
            <a:avLst/>
          </a:prstGeom>
          <a:solidFill>
            <a:srgbClr val="EC4899"/>
          </a:solidFill>
          <a:ln w="12700">
            <a:solidFill>
              <a:srgbClr val="EC4899"/>
            </a:solidFill>
            <a:prstDash val="solid"/>
          </a:ln>
        </p:spPr>
      </p:sp>
      <p:sp>
        <p:nvSpPr>
          <p:cNvPr id="9" name="Text 6"/>
          <p:cNvSpPr/>
          <p:nvPr/>
        </p:nvSpPr>
        <p:spPr>
          <a:xfrm>
            <a:off x="777240" y="5376672"/>
            <a:ext cx="5166360" cy="960120"/>
          </a:xfrm>
          <a:prstGeom prst="rect">
            <a:avLst/>
          </a:prstGeom>
          <a:noFill/>
          <a:ln/>
        </p:spPr>
        <p:txBody>
          <a:bodyPr wrap="square" rtlCol="0" anchor="t"/>
          <a:lstStyle/>
          <a:p>
            <a:pPr indent="0" marL="0">
              <a:lnSpc>
                <a:spcPct val="120000"/>
              </a:lnSpc>
              <a:buNone/>
            </a:pPr>
            <a:r>
              <a:rPr lang="en-US" sz="1600" b="1" dirty="0">
                <a:solidFill>
                  <a:srgbClr val="EC4899"/>
                </a:solidFill>
                <a:latin typeface="Calibri" pitchFamily="34" charset="0"/>
                <a:ea typeface="Calibri" pitchFamily="34" charset="-122"/>
                <a:cs typeface="Calibri" pitchFamily="34" charset="-120"/>
              </a:rPr>
              <a:t>Ce s-a intamplat?
</a:t>
            </a:r>
            <a:pPr indent="0" marL="0">
              <a:lnSpc>
                <a:spcPct val="120000"/>
              </a:lnSpc>
              <a:buNone/>
            </a:pPr>
            <a:r>
              <a:rPr lang="en-US" sz="1300" dirty="0">
                <a:solidFill>
                  <a:srgbClr val="334155"/>
                </a:solidFill>
                <a:latin typeface="Calibri" pitchFamily="34" charset="0"/>
                <a:ea typeface="Calibri" pitchFamily="34" charset="-122"/>
                <a:cs typeface="Calibri" pitchFamily="34" charset="-120"/>
              </a:rPr>
              <a:t>rolling(3).mean() la momentul t INCLUDE valoarea de la t! Modelul foloseste raspunsul ca sa-l prezica - data leakage.</a:t>
            </a:r>
            <a:endParaRPr lang="en-US" sz="1600" dirty="0"/>
          </a:p>
        </p:txBody>
      </p:sp>
      <p:sp>
        <p:nvSpPr>
          <p:cNvPr id="10" name="Shape 7"/>
          <p:cNvSpPr/>
          <p:nvPr/>
        </p:nvSpPr>
        <p:spPr>
          <a:xfrm>
            <a:off x="6126480" y="5303520"/>
            <a:ext cx="5486400" cy="1097280"/>
          </a:xfrm>
          <a:prstGeom prst="rect">
            <a:avLst/>
          </a:prstGeom>
          <a:solidFill>
            <a:srgbClr val="F1F5F9"/>
          </a:solidFill>
          <a:ln w="12700">
            <a:solidFill>
              <a:srgbClr val="E2E8F0"/>
            </a:solidFill>
            <a:prstDash val="solid"/>
          </a:ln>
        </p:spPr>
      </p:sp>
      <p:sp>
        <p:nvSpPr>
          <p:cNvPr id="11" name="Shape 8"/>
          <p:cNvSpPr/>
          <p:nvPr/>
        </p:nvSpPr>
        <p:spPr>
          <a:xfrm>
            <a:off x="6126480" y="5303520"/>
            <a:ext cx="137160" cy="1097280"/>
          </a:xfrm>
          <a:prstGeom prst="rect">
            <a:avLst/>
          </a:prstGeom>
          <a:solidFill>
            <a:srgbClr val="10B981"/>
          </a:solidFill>
          <a:ln w="12700">
            <a:solidFill>
              <a:srgbClr val="10B981"/>
            </a:solidFill>
            <a:prstDash val="solid"/>
          </a:ln>
        </p:spPr>
      </p:sp>
      <p:sp>
        <p:nvSpPr>
          <p:cNvPr id="12" name="Text 9"/>
          <p:cNvSpPr/>
          <p:nvPr/>
        </p:nvSpPr>
        <p:spPr>
          <a:xfrm>
            <a:off x="6355080" y="5376672"/>
            <a:ext cx="5166360" cy="960120"/>
          </a:xfrm>
          <a:prstGeom prst="rect">
            <a:avLst/>
          </a:prstGeom>
          <a:noFill/>
          <a:ln/>
        </p:spPr>
        <p:txBody>
          <a:bodyPr wrap="square" rtlCol="0" anchor="t"/>
          <a:lstStyle/>
          <a:p>
            <a:pPr indent="0" marL="0">
              <a:lnSpc>
                <a:spcPct val="120000"/>
              </a:lnSpc>
              <a:buNone/>
            </a:pPr>
            <a:r>
              <a:rPr lang="en-US" sz="1600" b="1" dirty="0">
                <a:solidFill>
                  <a:srgbClr val="10B981"/>
                </a:solidFill>
                <a:latin typeface="Calibri" pitchFamily="34" charset="0"/>
                <a:ea typeface="Calibri" pitchFamily="34" charset="-122"/>
                <a:cs typeface="Calibri" pitchFamily="34" charset="-120"/>
              </a:rPr>
              <a:t>Solutia
</a:t>
            </a:r>
            <a:pPr indent="0" marL="0">
              <a:lnSpc>
                <a:spcPct val="120000"/>
              </a:lnSpc>
              <a:buNone/>
            </a:pPr>
            <a:r>
              <a:rPr lang="en-US" sz="1300" dirty="0">
                <a:solidFill>
                  <a:srgbClr val="334155"/>
                </a:solidFill>
                <a:latin typeface="Calibri" pitchFamily="34" charset="0"/>
                <a:ea typeface="Calibri" pitchFamily="34" charset="-122"/>
                <a:cs typeface="Calibri" pitchFamily="34" charset="-120"/>
              </a:rPr>
              <a:t>.shift(1) muta seria cu 1 pas in trecut INAINTE de rolling. Feature-ul foloseste doar t-3, t-2, t-1 - NU si t.</a:t>
            </a:r>
            <a:endParaRPr lang="en-US" sz="1600" dirty="0"/>
          </a:p>
        </p:txBody>
      </p:sp>
      <p:sp>
        <p:nvSpPr>
          <p:cNvPr id="13" name="Text 10"/>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4" name="Text 11"/>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17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SINERGIE</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Cele trei tehnici impreuna</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pic>
        <p:nvPicPr>
          <p:cNvPr id="6" name="Image 0" descr="/sessions/vibrant-elegant-pasteur/mnt/Disertatie_AI_Platform/reports/figures/fig_4_2_lag_vs_real_vs_rolling.png">    </p:cNvPr>
          <p:cNvPicPr>
            <a:picLocks noChangeAspect="1"/>
          </p:cNvPicPr>
          <p:nvPr/>
        </p:nvPicPr>
        <p:blipFill>
          <a:blip r:embed="rId1"/>
          <a:srcRect l="0" r="0" t="0" b="0"/>
          <a:stretch/>
        </p:blipFill>
        <p:spPr>
          <a:xfrm>
            <a:off x="914400" y="1783080"/>
            <a:ext cx="10332720" cy="3657600"/>
          </a:xfrm>
          <a:prstGeom prst="rect">
            <a:avLst/>
          </a:prstGeom>
        </p:spPr>
      </p:pic>
      <p:sp>
        <p:nvSpPr>
          <p:cNvPr id="7" name="Shape 4"/>
          <p:cNvSpPr/>
          <p:nvPr/>
        </p:nvSpPr>
        <p:spPr>
          <a:xfrm>
            <a:off x="548640" y="5532120"/>
            <a:ext cx="11064240" cy="868680"/>
          </a:xfrm>
          <a:prstGeom prst="rect">
            <a:avLst/>
          </a:prstGeom>
          <a:solidFill>
            <a:srgbClr val="F1F5F9"/>
          </a:solidFill>
          <a:ln w="12700">
            <a:solidFill>
              <a:srgbClr val="E2E8F0"/>
            </a:solidFill>
            <a:prstDash val="solid"/>
          </a:ln>
        </p:spPr>
      </p:sp>
      <p:sp>
        <p:nvSpPr>
          <p:cNvPr id="8" name="Shape 5"/>
          <p:cNvSpPr/>
          <p:nvPr/>
        </p:nvSpPr>
        <p:spPr>
          <a:xfrm>
            <a:off x="548640" y="5532120"/>
            <a:ext cx="137160" cy="868680"/>
          </a:xfrm>
          <a:prstGeom prst="rect">
            <a:avLst/>
          </a:prstGeom>
          <a:solidFill>
            <a:srgbClr val="6366F1"/>
          </a:solidFill>
          <a:ln w="12700">
            <a:solidFill>
              <a:srgbClr val="6366F1"/>
            </a:solidFill>
            <a:prstDash val="solid"/>
          </a:ln>
        </p:spPr>
      </p:sp>
      <p:sp>
        <p:nvSpPr>
          <p:cNvPr id="9" name="Text 6"/>
          <p:cNvSpPr/>
          <p:nvPr/>
        </p:nvSpPr>
        <p:spPr>
          <a:xfrm>
            <a:off x="777240" y="5605272"/>
            <a:ext cx="10607040" cy="731520"/>
          </a:xfrm>
          <a:prstGeom prst="rect">
            <a:avLst/>
          </a:prstGeom>
          <a:noFill/>
          <a:ln/>
        </p:spPr>
        <p:txBody>
          <a:bodyPr wrap="square" rtlCol="0" anchor="ctr"/>
          <a:lstStyle/>
          <a:p>
            <a:pPr indent="0" marL="0">
              <a:buNone/>
            </a:pPr>
            <a:r>
              <a:rPr lang="en-US" sz="1700" b="1" dirty="0">
                <a:solidFill>
                  <a:srgbClr val="6366F1"/>
                </a:solidFill>
                <a:latin typeface="Calibri" pitchFamily="34" charset="0"/>
                <a:ea typeface="Calibri" pitchFamily="34" charset="-122"/>
                <a:cs typeface="Calibri" pitchFamily="34" charset="-120"/>
              </a:rPr>
              <a:t>Trei perspective complementare: </a:t>
            </a:r>
            <a:pPr indent="0" marL="0">
              <a:buNone/>
            </a:pPr>
            <a:r>
              <a:rPr lang="en-US" sz="1400" dirty="0">
                <a:solidFill>
                  <a:srgbClr val="334155"/>
                </a:solidFill>
                <a:latin typeface="Calibri" pitchFamily="34" charset="0"/>
                <a:ea typeface="Calibri" pitchFamily="34" charset="-122"/>
                <a:cs typeface="Calibri" pitchFamily="34" charset="-120"/>
              </a:rPr>
              <a:t>lag (memoria punctuala) + rolling (contextul agregat) + ciclic (pozitia in cicluri). </a:t>
            </a:r>
            <a:endParaRPr lang="en-US" sz="1700" dirty="0"/>
          </a:p>
          <a:p>
            <a:pPr indent="0" marL="0">
              <a:buNone/>
            </a:pPr>
            <a:r>
              <a:rPr lang="en-US" sz="1400" i="1" dirty="0">
                <a:solidFill>
                  <a:srgbClr val="334155"/>
                </a:solidFill>
                <a:latin typeface="Calibri" pitchFamily="34" charset="0"/>
                <a:ea typeface="Calibri" pitchFamily="34" charset="-122"/>
                <a:cs typeface="Calibri" pitchFamily="34" charset="-120"/>
              </a:rPr>
              <a:t>Combinate, formeaza setul minimal de features pentru predictie pe serii temporale.</a:t>
            </a:r>
            <a:endParaRPr lang="en-US" sz="1700" dirty="0"/>
          </a:p>
        </p:txBody>
      </p:sp>
      <p:sp>
        <p:nvSpPr>
          <p:cNvPr id="10" name="Text 7"/>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1" name="Text 8"/>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18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REZULTATE PROPRII</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Validare empirica: 7 modele pe pretul Spania</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pic>
        <p:nvPicPr>
          <p:cNvPr id="6" name="Image 0" descr="/sessions/vibrant-elegant-pasteur/mnt/Disertatie_AI_Platform/reports/figures/fig_fe_tabel_modele.png">    </p:cNvPr>
          <p:cNvPicPr>
            <a:picLocks noChangeAspect="1"/>
          </p:cNvPicPr>
          <p:nvPr/>
        </p:nvPicPr>
        <p:blipFill>
          <a:blip r:embed="rId1"/>
          <a:srcRect l="0" r="0" t="0" b="0"/>
          <a:stretch/>
        </p:blipFill>
        <p:spPr>
          <a:xfrm>
            <a:off x="365760" y="1783080"/>
            <a:ext cx="11430000" cy="3840480"/>
          </a:xfrm>
          <a:prstGeom prst="rect">
            <a:avLst/>
          </a:prstGeom>
        </p:spPr>
      </p:pic>
      <p:sp>
        <p:nvSpPr>
          <p:cNvPr id="7" name="Shape 4"/>
          <p:cNvSpPr/>
          <p:nvPr/>
        </p:nvSpPr>
        <p:spPr>
          <a:xfrm>
            <a:off x="548640" y="5760720"/>
            <a:ext cx="5486400" cy="640080"/>
          </a:xfrm>
          <a:prstGeom prst="rect">
            <a:avLst/>
          </a:prstGeom>
          <a:solidFill>
            <a:srgbClr val="F1F5F9"/>
          </a:solidFill>
          <a:ln w="12700">
            <a:solidFill>
              <a:srgbClr val="E2E8F0"/>
            </a:solidFill>
            <a:prstDash val="solid"/>
          </a:ln>
        </p:spPr>
      </p:sp>
      <p:sp>
        <p:nvSpPr>
          <p:cNvPr id="8" name="Shape 5"/>
          <p:cNvSpPr/>
          <p:nvPr/>
        </p:nvSpPr>
        <p:spPr>
          <a:xfrm>
            <a:off x="548640" y="5760720"/>
            <a:ext cx="137160" cy="640080"/>
          </a:xfrm>
          <a:prstGeom prst="rect">
            <a:avLst/>
          </a:prstGeom>
          <a:solidFill>
            <a:srgbClr val="10B981"/>
          </a:solidFill>
          <a:ln w="12700">
            <a:solidFill>
              <a:srgbClr val="10B981"/>
            </a:solidFill>
            <a:prstDash val="solid"/>
          </a:ln>
        </p:spPr>
      </p:sp>
      <p:sp>
        <p:nvSpPr>
          <p:cNvPr id="9" name="Text 6"/>
          <p:cNvSpPr/>
          <p:nvPr/>
        </p:nvSpPr>
        <p:spPr>
          <a:xfrm>
            <a:off x="777240" y="5779008"/>
            <a:ext cx="5166360" cy="594360"/>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Castigator: XGBoost  </a:t>
            </a:r>
            <a:pPr indent="0" marL="0">
              <a:buNone/>
            </a:pPr>
            <a:r>
              <a:rPr lang="en-US" sz="1300" dirty="0">
                <a:solidFill>
                  <a:srgbClr val="334155"/>
                </a:solidFill>
                <a:latin typeface="Calibri" pitchFamily="34" charset="0"/>
                <a:ea typeface="Calibri" pitchFamily="34" charset="-122"/>
                <a:cs typeface="Calibri" pitchFamily="34" charset="-120"/>
              </a:rPr>
              <a:t>R² = 0.968,  RMSE = 2.07 EUR/MWh</a:t>
            </a:r>
            <a:endParaRPr lang="en-US" sz="1600" dirty="0"/>
          </a:p>
        </p:txBody>
      </p:sp>
      <p:sp>
        <p:nvSpPr>
          <p:cNvPr id="10" name="Shape 7"/>
          <p:cNvSpPr/>
          <p:nvPr/>
        </p:nvSpPr>
        <p:spPr>
          <a:xfrm>
            <a:off x="6126480" y="5760720"/>
            <a:ext cx="5486400" cy="640080"/>
          </a:xfrm>
          <a:prstGeom prst="rect">
            <a:avLst/>
          </a:prstGeom>
          <a:solidFill>
            <a:srgbClr val="F1F5F9"/>
          </a:solidFill>
          <a:ln w="12700">
            <a:solidFill>
              <a:srgbClr val="E2E8F0"/>
            </a:solidFill>
            <a:prstDash val="solid"/>
          </a:ln>
        </p:spPr>
      </p:sp>
      <p:sp>
        <p:nvSpPr>
          <p:cNvPr id="11" name="Shape 8"/>
          <p:cNvSpPr/>
          <p:nvPr/>
        </p:nvSpPr>
        <p:spPr>
          <a:xfrm>
            <a:off x="6126480" y="5760720"/>
            <a:ext cx="137160" cy="640080"/>
          </a:xfrm>
          <a:prstGeom prst="rect">
            <a:avLst/>
          </a:prstGeom>
          <a:solidFill>
            <a:srgbClr val="6366F1"/>
          </a:solidFill>
          <a:ln w="12700">
            <a:solidFill>
              <a:srgbClr val="6366F1"/>
            </a:solidFill>
            <a:prstDash val="solid"/>
          </a:ln>
        </p:spPr>
      </p:sp>
      <p:sp>
        <p:nvSpPr>
          <p:cNvPr id="12" name="Text 9"/>
          <p:cNvSpPr/>
          <p:nvPr/>
        </p:nvSpPr>
        <p:spPr>
          <a:xfrm>
            <a:off x="6355080" y="5779008"/>
            <a:ext cx="5166360" cy="594360"/>
          </a:xfrm>
          <a:prstGeom prst="rect">
            <a:avLst/>
          </a:prstGeom>
          <a:noFill/>
          <a:ln/>
        </p:spPr>
        <p:txBody>
          <a:bodyPr wrap="square" rtlCol="0" anchor="ctr"/>
          <a:lstStyle/>
          <a:p>
            <a:pPr indent="0" marL="0">
              <a:buNone/>
            </a:pPr>
            <a:r>
              <a:rPr lang="en-US" sz="1600" b="1" dirty="0">
                <a:solidFill>
                  <a:srgbClr val="6366F1"/>
                </a:solidFill>
                <a:latin typeface="Calibri" pitchFamily="34" charset="0"/>
                <a:ea typeface="Calibri" pitchFamily="34" charset="-122"/>
                <a:cs typeface="Calibri" pitchFamily="34" charset="-120"/>
              </a:rPr>
              <a:t>Insight cheie:  </a:t>
            </a:r>
            <a:pPr indent="0" marL="0">
              <a:buNone/>
            </a:pPr>
            <a:r>
              <a:rPr lang="en-US" sz="1300" dirty="0">
                <a:solidFill>
                  <a:srgbClr val="334155"/>
                </a:solidFill>
                <a:latin typeface="Calibri" pitchFamily="34" charset="0"/>
                <a:ea typeface="Calibri" pitchFamily="34" charset="-122"/>
                <a:cs typeface="Calibri" pitchFamily="34" charset="-120"/>
              </a:rPr>
              <a:t>toate modelele clasice au R² peste 0.94 - calitatea features-urilor a contat.</a:t>
            </a:r>
            <a:endParaRPr lang="en-US" sz="1600" dirty="0"/>
          </a:p>
        </p:txBody>
      </p:sp>
      <p:sp>
        <p:nvSpPr>
          <p:cNvPr id="13" name="Text 10"/>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4" name="Text 11"/>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19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LECTII INVATATE</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Concluzii (1/2)</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548640" y="1828800"/>
            <a:ext cx="11064240" cy="2011680"/>
          </a:xfrm>
          <a:prstGeom prst="rect">
            <a:avLst/>
          </a:prstGeom>
          <a:solidFill>
            <a:srgbClr val="F1F5F9"/>
          </a:solidFill>
          <a:ln w="12700">
            <a:solidFill>
              <a:srgbClr val="E2E8F0"/>
            </a:solidFill>
            <a:prstDash val="solid"/>
          </a:ln>
        </p:spPr>
      </p:sp>
      <p:sp>
        <p:nvSpPr>
          <p:cNvPr id="7" name="Shape 5"/>
          <p:cNvSpPr/>
          <p:nvPr/>
        </p:nvSpPr>
        <p:spPr>
          <a:xfrm>
            <a:off x="548640" y="1828800"/>
            <a:ext cx="137160" cy="2011680"/>
          </a:xfrm>
          <a:prstGeom prst="rect">
            <a:avLst/>
          </a:prstGeom>
          <a:solidFill>
            <a:srgbClr val="6366F1"/>
          </a:solidFill>
          <a:ln w="12700">
            <a:solidFill>
              <a:srgbClr val="6366F1"/>
            </a:solidFill>
            <a:prstDash val="solid"/>
          </a:ln>
        </p:spPr>
      </p:sp>
      <p:sp>
        <p:nvSpPr>
          <p:cNvPr id="8" name="Shape 6"/>
          <p:cNvSpPr/>
          <p:nvPr/>
        </p:nvSpPr>
        <p:spPr>
          <a:xfrm>
            <a:off x="914400" y="2286000"/>
            <a:ext cx="1097280" cy="1097280"/>
          </a:xfrm>
          <a:prstGeom prst="ellipse">
            <a:avLst/>
          </a:prstGeom>
          <a:solidFill>
            <a:srgbClr val="6366F1"/>
          </a:solidFill>
          <a:ln w="12700">
            <a:solidFill>
              <a:srgbClr val="6366F1"/>
            </a:solidFill>
            <a:prstDash val="solid"/>
          </a:ln>
        </p:spPr>
      </p:sp>
      <p:sp>
        <p:nvSpPr>
          <p:cNvPr id="9" name="Text 7"/>
          <p:cNvSpPr/>
          <p:nvPr/>
        </p:nvSpPr>
        <p:spPr>
          <a:xfrm>
            <a:off x="914400" y="2286000"/>
            <a:ext cx="1097280" cy="109728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1</a:t>
            </a:r>
            <a:endParaRPr lang="en-US" sz="4800" dirty="0"/>
          </a:p>
        </p:txBody>
      </p:sp>
      <p:sp>
        <p:nvSpPr>
          <p:cNvPr id="10" name="Text 8"/>
          <p:cNvSpPr/>
          <p:nvPr/>
        </p:nvSpPr>
        <p:spPr>
          <a:xfrm>
            <a:off x="2377440" y="2103120"/>
            <a:ext cx="9052560" cy="548640"/>
          </a:xfrm>
          <a:prstGeom prst="rect">
            <a:avLst/>
          </a:prstGeom>
          <a:noFill/>
          <a:ln/>
        </p:spPr>
        <p:txBody>
          <a:bodyPr wrap="square" rtlCol="0" anchor="ctr"/>
          <a:lstStyle/>
          <a:p>
            <a:pPr indent="0" marL="0">
              <a:buNone/>
            </a:pPr>
            <a:r>
              <a:rPr lang="en-US" sz="2200" b="1" dirty="0">
                <a:solidFill>
                  <a:srgbClr val="6366F1"/>
                </a:solidFill>
                <a:latin typeface="Calibri" pitchFamily="34" charset="0"/>
                <a:ea typeface="Calibri" pitchFamily="34" charset="-122"/>
                <a:cs typeface="Calibri" pitchFamily="34" charset="-120"/>
              </a:rPr>
              <a:t>Feature engineering &gt; selectia modelului</a:t>
            </a:r>
            <a:endParaRPr lang="en-US" sz="2200" dirty="0"/>
          </a:p>
        </p:txBody>
      </p:sp>
      <p:sp>
        <p:nvSpPr>
          <p:cNvPr id="11" name="Text 9"/>
          <p:cNvSpPr/>
          <p:nvPr/>
        </p:nvSpPr>
        <p:spPr>
          <a:xfrm>
            <a:off x="2377440" y="2697480"/>
            <a:ext cx="9052560" cy="1097280"/>
          </a:xfrm>
          <a:prstGeom prst="rect">
            <a:avLst/>
          </a:prstGeom>
          <a:noFill/>
          <a:ln/>
        </p:spPr>
        <p:txBody>
          <a:bodyPr wrap="square" rtlCol="0" anchor="ctr"/>
          <a:lstStyle/>
          <a:p>
            <a:pPr indent="0" marL="0">
              <a:lnSpc>
                <a:spcPct val="130000"/>
              </a:lnSpc>
              <a:buNone/>
            </a:pPr>
            <a:r>
              <a:rPr lang="en-US" sz="1500" dirty="0">
                <a:solidFill>
                  <a:srgbClr val="334155"/>
                </a:solidFill>
                <a:latin typeface="Calibri" pitchFamily="34" charset="0"/>
                <a:ea typeface="Calibri" pitchFamily="34" charset="-122"/>
                <a:cs typeface="Calibri" pitchFamily="34" charset="-120"/>
              </a:rPr>
              <a:t>Pe time series, calitatea features-urilor face mai mult decat alegerea fina a modelului. Pe pretul Spania, toate cele 6 modele clasice au obtinut R² intre 0.947 si 0.968 - diferenta minima. Ce a contat au fost cele 3 tehnici. Pentru orice profesionist Data Science, asta este un principiu de baza.</a:t>
            </a:r>
            <a:endParaRPr lang="en-US" sz="1500" dirty="0"/>
          </a:p>
        </p:txBody>
      </p:sp>
      <p:sp>
        <p:nvSpPr>
          <p:cNvPr id="12" name="Shape 10"/>
          <p:cNvSpPr/>
          <p:nvPr/>
        </p:nvSpPr>
        <p:spPr>
          <a:xfrm>
            <a:off x="548640" y="4023360"/>
            <a:ext cx="11064240" cy="2011680"/>
          </a:xfrm>
          <a:prstGeom prst="rect">
            <a:avLst/>
          </a:prstGeom>
          <a:solidFill>
            <a:srgbClr val="F1F5F9"/>
          </a:solidFill>
          <a:ln w="12700">
            <a:solidFill>
              <a:srgbClr val="E2E8F0"/>
            </a:solidFill>
            <a:prstDash val="solid"/>
          </a:ln>
        </p:spPr>
      </p:sp>
      <p:sp>
        <p:nvSpPr>
          <p:cNvPr id="13" name="Shape 11"/>
          <p:cNvSpPr/>
          <p:nvPr/>
        </p:nvSpPr>
        <p:spPr>
          <a:xfrm>
            <a:off x="548640" y="4023360"/>
            <a:ext cx="137160" cy="2011680"/>
          </a:xfrm>
          <a:prstGeom prst="rect">
            <a:avLst/>
          </a:prstGeom>
          <a:solidFill>
            <a:srgbClr val="EC4899"/>
          </a:solidFill>
          <a:ln w="12700">
            <a:solidFill>
              <a:srgbClr val="EC4899"/>
            </a:solidFill>
            <a:prstDash val="solid"/>
          </a:ln>
        </p:spPr>
      </p:sp>
      <p:sp>
        <p:nvSpPr>
          <p:cNvPr id="14" name="Shape 12"/>
          <p:cNvSpPr/>
          <p:nvPr/>
        </p:nvSpPr>
        <p:spPr>
          <a:xfrm>
            <a:off x="914400" y="4480560"/>
            <a:ext cx="1097280" cy="1097280"/>
          </a:xfrm>
          <a:prstGeom prst="ellipse">
            <a:avLst/>
          </a:prstGeom>
          <a:solidFill>
            <a:srgbClr val="EC4899"/>
          </a:solidFill>
          <a:ln w="12700">
            <a:solidFill>
              <a:srgbClr val="EC4899"/>
            </a:solidFill>
            <a:prstDash val="solid"/>
          </a:ln>
        </p:spPr>
      </p:sp>
      <p:sp>
        <p:nvSpPr>
          <p:cNvPr id="15" name="Text 13"/>
          <p:cNvSpPr/>
          <p:nvPr/>
        </p:nvSpPr>
        <p:spPr>
          <a:xfrm>
            <a:off x="914400" y="4480560"/>
            <a:ext cx="1097280" cy="109728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2</a:t>
            </a:r>
            <a:endParaRPr lang="en-US" sz="4800" dirty="0"/>
          </a:p>
        </p:txBody>
      </p:sp>
      <p:sp>
        <p:nvSpPr>
          <p:cNvPr id="16" name="Text 14"/>
          <p:cNvSpPr/>
          <p:nvPr/>
        </p:nvSpPr>
        <p:spPr>
          <a:xfrm>
            <a:off x="2377440" y="4297680"/>
            <a:ext cx="9052560" cy="548640"/>
          </a:xfrm>
          <a:prstGeom prst="rect">
            <a:avLst/>
          </a:prstGeom>
          <a:noFill/>
          <a:ln/>
        </p:spPr>
        <p:txBody>
          <a:bodyPr wrap="square" rtlCol="0" anchor="ctr"/>
          <a:lstStyle/>
          <a:p>
            <a:pPr indent="0" marL="0">
              <a:buNone/>
            </a:pPr>
            <a:r>
              <a:rPr lang="en-US" sz="2200" b="1" dirty="0">
                <a:solidFill>
                  <a:srgbClr val="EC4899"/>
                </a:solidFill>
                <a:latin typeface="Calibri" pitchFamily="34" charset="0"/>
                <a:ea typeface="Calibri" pitchFamily="34" charset="-122"/>
                <a:cs typeface="Calibri" pitchFamily="34" charset="-120"/>
              </a:rPr>
              <a:t>Detaliile tehnice decid intre cinstit si fals</a:t>
            </a:r>
            <a:endParaRPr lang="en-US" sz="2200" dirty="0"/>
          </a:p>
        </p:txBody>
      </p:sp>
      <p:sp>
        <p:nvSpPr>
          <p:cNvPr id="17" name="Text 15"/>
          <p:cNvSpPr/>
          <p:nvPr/>
        </p:nvSpPr>
        <p:spPr>
          <a:xfrm>
            <a:off x="2377440" y="4892040"/>
            <a:ext cx="9052560" cy="1097280"/>
          </a:xfrm>
          <a:prstGeom prst="rect">
            <a:avLst/>
          </a:prstGeom>
          <a:noFill/>
          <a:ln/>
        </p:spPr>
        <p:txBody>
          <a:bodyPr wrap="square" rtlCol="0" anchor="ctr"/>
          <a:lstStyle/>
          <a:p>
            <a:pPr indent="0" marL="0">
              <a:lnSpc>
                <a:spcPct val="130000"/>
              </a:lnSpc>
              <a:buNone/>
            </a:pPr>
            <a:r>
              <a:rPr lang="en-US" sz="1500" dirty="0">
                <a:solidFill>
                  <a:srgbClr val="334155"/>
                </a:solidFill>
                <a:latin typeface="Calibri" pitchFamily="34" charset="0"/>
                <a:ea typeface="Calibri" pitchFamily="34" charset="-122"/>
                <a:cs typeface="Calibri" pitchFamily="34" charset="-120"/>
              </a:rPr>
              <a:t>Un simplu .shift(1) inainte de rolling este diferenta intre un model care arata bine pe test si esueaza in productie, si un model care performeaza consistent. Aceasta capcana este subestimata in tutoriale - dar fundamentala in practica.</a:t>
            </a:r>
            <a:endParaRPr lang="en-US" sz="1500" dirty="0"/>
          </a:p>
        </p:txBody>
      </p:sp>
      <p:sp>
        <p:nvSpPr>
          <p:cNvPr id="18" name="Text 16"/>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9" name="Text 17"/>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20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6366F1"/>
          </a:solidFill>
          <a:ln w="12700">
            <a:solidFill>
              <a:srgbClr val="6366F1"/>
            </a:solidFill>
            <a:prstDash val="solid"/>
          </a:ln>
        </p:spPr>
      </p:sp>
      <p:sp>
        <p:nvSpPr>
          <p:cNvPr id="3" name="Text 1"/>
          <p:cNvSpPr/>
          <p:nvPr/>
        </p:nvSpPr>
        <p:spPr>
          <a:xfrm>
            <a:off x="548640" y="365760"/>
            <a:ext cx="11064240" cy="365760"/>
          </a:xfrm>
          <a:prstGeom prst="rect">
            <a:avLst/>
          </a:prstGeom>
          <a:noFill/>
          <a:ln/>
        </p:spPr>
        <p:txBody>
          <a:bodyPr wrap="square" lIns="0" tIns="0" rIns="0" bIns="0" rtlCol="0" anchor="ctr"/>
          <a:lstStyle/>
          <a:p>
            <a:pPr indent="0" marL="0">
              <a:buNone/>
            </a:pPr>
            <a:r>
              <a:rPr lang="en-US" sz="1400" b="1" spc="800" kern="0" dirty="0">
                <a:solidFill>
                  <a:srgbClr val="EC4899"/>
                </a:solidFill>
                <a:latin typeface="Calibri" pitchFamily="34" charset="0"/>
                <a:ea typeface="Calibri" pitchFamily="34" charset="-122"/>
                <a:cs typeface="Calibri" pitchFamily="34" charset="-120"/>
              </a:rPr>
              <a:t>APLICABILITATE VIITOARE</a:t>
            </a:r>
            <a:endParaRPr lang="en-US" sz="1400" dirty="0"/>
          </a:p>
        </p:txBody>
      </p:sp>
      <p:sp>
        <p:nvSpPr>
          <p:cNvPr id="4" name="Text 2"/>
          <p:cNvSpPr/>
          <p:nvPr/>
        </p:nvSpPr>
        <p:spPr>
          <a:xfrm>
            <a:off x="548640" y="777240"/>
            <a:ext cx="11064240" cy="777240"/>
          </a:xfrm>
          <a:prstGeom prst="rect">
            <a:avLst/>
          </a:prstGeom>
          <a:noFill/>
          <a:ln/>
        </p:spPr>
        <p:txBody>
          <a:bodyPr wrap="square" lIns="0" tIns="0" rIns="0" bIns="0" rtlCol="0" anchor="t"/>
          <a:lstStyle/>
          <a:p>
            <a:pPr indent="0" marL="0">
              <a:buNone/>
            </a:pPr>
            <a:r>
              <a:rPr lang="en-US" sz="3600" b="1" dirty="0">
                <a:solidFill>
                  <a:srgbClr val="0F172A"/>
                </a:solidFill>
                <a:latin typeface="Calibri" pitchFamily="34" charset="0"/>
                <a:ea typeface="Calibri" pitchFamily="34" charset="-122"/>
                <a:cs typeface="Calibri" pitchFamily="34" charset="-120"/>
              </a:rPr>
              <a:t>Concluzii (2/2)</a:t>
            </a:r>
            <a:endParaRPr lang="en-US" sz="3600" dirty="0"/>
          </a:p>
        </p:txBody>
      </p:sp>
      <p:sp>
        <p:nvSpPr>
          <p:cNvPr id="5" name="Shape 3"/>
          <p:cNvSpPr/>
          <p:nvPr/>
        </p:nvSpPr>
        <p:spPr>
          <a:xfrm>
            <a:off x="548640" y="1554480"/>
            <a:ext cx="1371600" cy="54864"/>
          </a:xfrm>
          <a:prstGeom prst="rect">
            <a:avLst/>
          </a:prstGeom>
          <a:solidFill>
            <a:srgbClr val="EC4899"/>
          </a:solidFill>
          <a:ln w="12700">
            <a:solidFill>
              <a:srgbClr val="EC4899"/>
            </a:solidFill>
            <a:prstDash val="solid"/>
          </a:ln>
        </p:spPr>
      </p:sp>
      <p:sp>
        <p:nvSpPr>
          <p:cNvPr id="6" name="Shape 4"/>
          <p:cNvSpPr/>
          <p:nvPr/>
        </p:nvSpPr>
        <p:spPr>
          <a:xfrm>
            <a:off x="548640" y="1828800"/>
            <a:ext cx="11064240" cy="2011680"/>
          </a:xfrm>
          <a:prstGeom prst="rect">
            <a:avLst/>
          </a:prstGeom>
          <a:solidFill>
            <a:srgbClr val="F1F5F9"/>
          </a:solidFill>
          <a:ln w="12700">
            <a:solidFill>
              <a:srgbClr val="E2E8F0"/>
            </a:solidFill>
            <a:prstDash val="solid"/>
          </a:ln>
        </p:spPr>
      </p:sp>
      <p:sp>
        <p:nvSpPr>
          <p:cNvPr id="7" name="Shape 5"/>
          <p:cNvSpPr/>
          <p:nvPr/>
        </p:nvSpPr>
        <p:spPr>
          <a:xfrm>
            <a:off x="548640" y="1828800"/>
            <a:ext cx="137160" cy="2011680"/>
          </a:xfrm>
          <a:prstGeom prst="rect">
            <a:avLst/>
          </a:prstGeom>
          <a:solidFill>
            <a:srgbClr val="FBBF24"/>
          </a:solidFill>
          <a:ln w="12700">
            <a:solidFill>
              <a:srgbClr val="FBBF24"/>
            </a:solidFill>
            <a:prstDash val="solid"/>
          </a:ln>
        </p:spPr>
      </p:sp>
      <p:sp>
        <p:nvSpPr>
          <p:cNvPr id="8" name="Shape 6"/>
          <p:cNvSpPr/>
          <p:nvPr/>
        </p:nvSpPr>
        <p:spPr>
          <a:xfrm>
            <a:off x="914400" y="2286000"/>
            <a:ext cx="1097280" cy="1097280"/>
          </a:xfrm>
          <a:prstGeom prst="ellipse">
            <a:avLst/>
          </a:prstGeom>
          <a:solidFill>
            <a:srgbClr val="FBBF24"/>
          </a:solidFill>
          <a:ln w="12700">
            <a:solidFill>
              <a:srgbClr val="FBBF24"/>
            </a:solidFill>
            <a:prstDash val="solid"/>
          </a:ln>
        </p:spPr>
      </p:sp>
      <p:sp>
        <p:nvSpPr>
          <p:cNvPr id="9" name="Text 7"/>
          <p:cNvSpPr/>
          <p:nvPr/>
        </p:nvSpPr>
        <p:spPr>
          <a:xfrm>
            <a:off x="914400" y="2286000"/>
            <a:ext cx="1097280" cy="109728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3</a:t>
            </a:r>
            <a:endParaRPr lang="en-US" sz="4800" dirty="0"/>
          </a:p>
        </p:txBody>
      </p:sp>
      <p:sp>
        <p:nvSpPr>
          <p:cNvPr id="10" name="Text 8"/>
          <p:cNvSpPr/>
          <p:nvPr/>
        </p:nvSpPr>
        <p:spPr>
          <a:xfrm>
            <a:off x="2377440" y="2103120"/>
            <a:ext cx="9052560" cy="548640"/>
          </a:xfrm>
          <a:prstGeom prst="rect">
            <a:avLst/>
          </a:prstGeom>
          <a:noFill/>
          <a:ln/>
        </p:spPr>
        <p:txBody>
          <a:bodyPr wrap="square" rtlCol="0" anchor="ctr"/>
          <a:lstStyle/>
          <a:p>
            <a:pPr indent="0" marL="0">
              <a:buNone/>
            </a:pPr>
            <a:r>
              <a:rPr lang="en-US" sz="2200" b="1" dirty="0">
                <a:solidFill>
                  <a:srgbClr val="FBBF24"/>
                </a:solidFill>
                <a:latin typeface="Calibri" pitchFamily="34" charset="0"/>
                <a:ea typeface="Calibri" pitchFamily="34" charset="-122"/>
                <a:cs typeface="Calibri" pitchFamily="34" charset="-120"/>
              </a:rPr>
              <a:t>Tehnicile sunt universale - aplicabile pe orice serie temporala</a:t>
            </a:r>
            <a:endParaRPr lang="en-US" sz="2200" dirty="0"/>
          </a:p>
        </p:txBody>
      </p:sp>
      <p:sp>
        <p:nvSpPr>
          <p:cNvPr id="11" name="Text 9"/>
          <p:cNvSpPr/>
          <p:nvPr/>
        </p:nvSpPr>
        <p:spPr>
          <a:xfrm>
            <a:off x="2377440" y="2697480"/>
            <a:ext cx="9052560" cy="1097280"/>
          </a:xfrm>
          <a:prstGeom prst="rect">
            <a:avLst/>
          </a:prstGeom>
          <a:noFill/>
          <a:ln/>
        </p:spPr>
        <p:txBody>
          <a:bodyPr wrap="square" rtlCol="0" anchor="ctr"/>
          <a:lstStyle/>
          <a:p>
            <a:pPr indent="0" marL="0">
              <a:lnSpc>
                <a:spcPct val="130000"/>
              </a:lnSpc>
              <a:buNone/>
            </a:pPr>
            <a:r>
              <a:rPr lang="en-US" sz="1500" dirty="0">
                <a:solidFill>
                  <a:srgbClr val="334155"/>
                </a:solidFill>
                <a:latin typeface="Calibri" pitchFamily="34" charset="0"/>
                <a:ea typeface="Calibri" pitchFamily="34" charset="-122"/>
                <a:cs typeface="Calibri" pitchFamily="34" charset="-120"/>
              </a:rPr>
              <a:t>Encoding ciclic, lag features si rolling features functioneaza la fel pe toate cele 3 seturi (consum, pret, productie). Sunt un fundament metodologic care se transfera intre domenii.</a:t>
            </a:r>
            <a:endParaRPr lang="en-US" sz="1500" dirty="0"/>
          </a:p>
        </p:txBody>
      </p:sp>
      <p:sp>
        <p:nvSpPr>
          <p:cNvPr id="12" name="Text 10"/>
          <p:cNvSpPr/>
          <p:nvPr/>
        </p:nvSpPr>
        <p:spPr>
          <a:xfrm>
            <a:off x="548640" y="4114800"/>
            <a:ext cx="11064240" cy="457200"/>
          </a:xfrm>
          <a:prstGeom prst="rect">
            <a:avLst/>
          </a:prstGeom>
          <a:noFill/>
          <a:ln/>
        </p:spPr>
        <p:txBody>
          <a:bodyPr wrap="square" rtlCol="0" anchor="ctr"/>
          <a:lstStyle/>
          <a:p>
            <a:pPr indent="0" marL="0">
              <a:buNone/>
            </a:pPr>
            <a:r>
              <a:rPr lang="en-US" sz="1800" b="1" dirty="0">
                <a:solidFill>
                  <a:srgbClr val="6366F1"/>
                </a:solidFill>
                <a:latin typeface="Calibri" pitchFamily="34" charset="0"/>
                <a:ea typeface="Calibri" pitchFamily="34" charset="-122"/>
                <a:cs typeface="Calibri" pitchFamily="34" charset="-120"/>
              </a:rPr>
              <a:t>Pasii urmatori in lucrarea de disertatie:</a:t>
            </a:r>
            <a:endParaRPr lang="en-US" sz="1800" dirty="0"/>
          </a:p>
        </p:txBody>
      </p:sp>
      <p:sp>
        <p:nvSpPr>
          <p:cNvPr id="13" name="Text 11"/>
          <p:cNvSpPr/>
          <p:nvPr/>
        </p:nvSpPr>
        <p:spPr>
          <a:xfrm>
            <a:off x="914400" y="4663440"/>
            <a:ext cx="10698480" cy="365760"/>
          </a:xfrm>
          <a:prstGeom prst="rect">
            <a:avLst/>
          </a:prstGeom>
          <a:noFill/>
          <a:ln/>
        </p:spPr>
        <p:txBody>
          <a:bodyPr wrap="square" rtlCol="0" anchor="ctr"/>
          <a:lstStyle/>
          <a:p>
            <a:pPr indent="0" marL="0">
              <a:buNone/>
            </a:pPr>
            <a:r>
              <a:rPr lang="en-US" sz="1800" b="1" dirty="0">
                <a:solidFill>
                  <a:srgbClr val="EC4899"/>
                </a:solidFill>
                <a:latin typeface="Calibri" pitchFamily="34" charset="0"/>
                <a:ea typeface="Calibri" pitchFamily="34" charset="-122"/>
                <a:cs typeface="Calibri" pitchFamily="34" charset="-120"/>
              </a:rPr>
              <a:t>→  </a:t>
            </a:r>
            <a:pPr indent="0" marL="0">
              <a:buNone/>
            </a:pPr>
            <a:r>
              <a:rPr lang="en-US" sz="1500" dirty="0">
                <a:solidFill>
                  <a:srgbClr val="334155"/>
                </a:solidFill>
                <a:latin typeface="Calibri" pitchFamily="34" charset="0"/>
                <a:ea typeface="Calibri" pitchFamily="34" charset="-122"/>
                <a:cs typeface="Calibri" pitchFamily="34" charset="-120"/>
              </a:rPr>
              <a:t>Aplicarea acelorasi tehnici pe setul 3 (productie solara India)</a:t>
            </a:r>
            <a:endParaRPr lang="en-US" sz="1800" dirty="0"/>
          </a:p>
        </p:txBody>
      </p:sp>
      <p:sp>
        <p:nvSpPr>
          <p:cNvPr id="14" name="Text 12"/>
          <p:cNvSpPr/>
          <p:nvPr/>
        </p:nvSpPr>
        <p:spPr>
          <a:xfrm>
            <a:off x="914400" y="5029200"/>
            <a:ext cx="10698480" cy="365760"/>
          </a:xfrm>
          <a:prstGeom prst="rect">
            <a:avLst/>
          </a:prstGeom>
          <a:noFill/>
          <a:ln/>
        </p:spPr>
        <p:txBody>
          <a:bodyPr wrap="square" rtlCol="0" anchor="ctr"/>
          <a:lstStyle/>
          <a:p>
            <a:pPr indent="0" marL="0">
              <a:buNone/>
            </a:pPr>
            <a:r>
              <a:rPr lang="en-US" sz="1800" b="1" dirty="0">
                <a:solidFill>
                  <a:srgbClr val="EC4899"/>
                </a:solidFill>
                <a:latin typeface="Calibri" pitchFamily="34" charset="0"/>
                <a:ea typeface="Calibri" pitchFamily="34" charset="-122"/>
                <a:cs typeface="Calibri" pitchFamily="34" charset="-120"/>
              </a:rPr>
              <a:t>→  </a:t>
            </a:r>
            <a:pPr indent="0" marL="0">
              <a:buNone/>
            </a:pPr>
            <a:r>
              <a:rPr lang="en-US" sz="1500" dirty="0">
                <a:solidFill>
                  <a:srgbClr val="334155"/>
                </a:solidFill>
                <a:latin typeface="Calibri" pitchFamily="34" charset="0"/>
                <a:ea typeface="Calibri" pitchFamily="34" charset="-122"/>
                <a:cs typeface="Calibri" pitchFamily="34" charset="-120"/>
              </a:rPr>
              <a:t>Integrarea optimizarii neliniare pentru recomandari prescriptive</a:t>
            </a:r>
            <a:endParaRPr lang="en-US" sz="1800" dirty="0"/>
          </a:p>
        </p:txBody>
      </p:sp>
      <p:sp>
        <p:nvSpPr>
          <p:cNvPr id="15" name="Text 13"/>
          <p:cNvSpPr/>
          <p:nvPr/>
        </p:nvSpPr>
        <p:spPr>
          <a:xfrm>
            <a:off x="914400" y="5394960"/>
            <a:ext cx="10698480" cy="365760"/>
          </a:xfrm>
          <a:prstGeom prst="rect">
            <a:avLst/>
          </a:prstGeom>
          <a:noFill/>
          <a:ln/>
        </p:spPr>
        <p:txBody>
          <a:bodyPr wrap="square" rtlCol="0" anchor="ctr"/>
          <a:lstStyle/>
          <a:p>
            <a:pPr indent="0" marL="0">
              <a:buNone/>
            </a:pPr>
            <a:r>
              <a:rPr lang="en-US" sz="1800" b="1" dirty="0">
                <a:solidFill>
                  <a:srgbClr val="EC4899"/>
                </a:solidFill>
                <a:latin typeface="Calibri" pitchFamily="34" charset="0"/>
                <a:ea typeface="Calibri" pitchFamily="34" charset="-122"/>
                <a:cs typeface="Calibri" pitchFamily="34" charset="-120"/>
              </a:rPr>
              <a:t>→  </a:t>
            </a:r>
            <a:pPr indent="0" marL="0">
              <a:buNone/>
            </a:pPr>
            <a:r>
              <a:rPr lang="en-US" sz="1500" dirty="0">
                <a:solidFill>
                  <a:srgbClr val="334155"/>
                </a:solidFill>
                <a:latin typeface="Calibri" pitchFamily="34" charset="0"/>
                <a:ea typeface="Calibri" pitchFamily="34" charset="-122"/>
                <a:cs typeface="Calibri" pitchFamily="34" charset="-120"/>
              </a:rPr>
              <a:t>Componenta LLM care transforma rezultatele in explicatii naturale</a:t>
            </a:r>
            <a:endParaRPr lang="en-US" sz="1800" dirty="0"/>
          </a:p>
        </p:txBody>
      </p:sp>
      <p:sp>
        <p:nvSpPr>
          <p:cNvPr id="16" name="Text 14"/>
          <p:cNvSpPr/>
          <p:nvPr/>
        </p:nvSpPr>
        <p:spPr>
          <a:xfrm>
            <a:off x="914400" y="5760720"/>
            <a:ext cx="10698480" cy="365760"/>
          </a:xfrm>
          <a:prstGeom prst="rect">
            <a:avLst/>
          </a:prstGeom>
          <a:noFill/>
          <a:ln/>
        </p:spPr>
        <p:txBody>
          <a:bodyPr wrap="square" rtlCol="0" anchor="ctr"/>
          <a:lstStyle/>
          <a:p>
            <a:pPr indent="0" marL="0">
              <a:buNone/>
            </a:pPr>
            <a:r>
              <a:rPr lang="en-US" sz="1800" b="1" dirty="0">
                <a:solidFill>
                  <a:srgbClr val="EC4899"/>
                </a:solidFill>
                <a:latin typeface="Calibri" pitchFamily="34" charset="0"/>
                <a:ea typeface="Calibri" pitchFamily="34" charset="-122"/>
                <a:cs typeface="Calibri" pitchFamily="34" charset="-120"/>
              </a:rPr>
              <a:t>→  </a:t>
            </a:r>
            <a:pPr indent="0" marL="0">
              <a:buNone/>
            </a:pPr>
            <a:r>
              <a:rPr lang="en-US" sz="1500" dirty="0">
                <a:solidFill>
                  <a:srgbClr val="334155"/>
                </a:solidFill>
                <a:latin typeface="Calibri" pitchFamily="34" charset="0"/>
                <a:ea typeface="Calibri" pitchFamily="34" charset="-122"/>
                <a:cs typeface="Calibri" pitchFamily="34" charset="-120"/>
              </a:rPr>
              <a:t>Deployment in cloud cu Streamlit pentru o aplicatie completa</a:t>
            </a:r>
            <a:endParaRPr lang="en-US" sz="1800" dirty="0"/>
          </a:p>
        </p:txBody>
      </p:sp>
      <p:sp>
        <p:nvSpPr>
          <p:cNvPr id="17" name="Text 15"/>
          <p:cNvSpPr/>
          <p:nvPr/>
        </p:nvSpPr>
        <p:spPr>
          <a:xfrm>
            <a:off x="548640" y="6355080"/>
            <a:ext cx="9601200" cy="411480"/>
          </a:xfrm>
          <a:prstGeom prst="rect">
            <a:avLst/>
          </a:prstGeom>
          <a:noFill/>
          <a:ln/>
        </p:spPr>
        <p:txBody>
          <a:bodyPr wrap="square"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Sesiune Comunicari Stiintifice Mai 2026</a:t>
            </a:r>
            <a:endParaRPr lang="en-US" sz="1000" dirty="0"/>
          </a:p>
          <a:p>
            <a:pPr indent="0" marL="0">
              <a:buNone/>
            </a:pPr>
            <a:r>
              <a:rPr lang="en-US" sz="1000" i="1" dirty="0">
                <a:solidFill>
                  <a:srgbClr val="64748B"/>
                </a:solidFill>
                <a:latin typeface="Calibri" pitchFamily="34" charset="0"/>
                <a:ea typeface="Calibri" pitchFamily="34" charset="-122"/>
                <a:cs typeface="Calibri" pitchFamily="34" charset="-120"/>
              </a:rPr>
              <a:t>Tehnici de feature engineering pentru serii temporale, cu aplicatii in domeniul energetic</a:t>
            </a:r>
            <a:endParaRPr lang="en-US" sz="1000" dirty="0"/>
          </a:p>
        </p:txBody>
      </p:sp>
      <p:sp>
        <p:nvSpPr>
          <p:cNvPr id="18" name="Text 16"/>
          <p:cNvSpPr/>
          <p:nvPr/>
        </p:nvSpPr>
        <p:spPr>
          <a:xfrm>
            <a:off x="10698480" y="6400800"/>
            <a:ext cx="914400" cy="32004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21 / 22</a:t>
            </a:r>
            <a:endParaRPr lang="en-US" sz="1100" dirty="0"/>
          </a:p>
        </p:txBody>
      </p:sp>
    </p:spTree>
  </p:cSld>
  <p:transition xmlns:p="http://schemas.openxmlformats.org/presentationml/2006/mai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1828800" y="-1828800"/>
            <a:ext cx="4114800" cy="4114800"/>
          </a:xfrm>
          <a:prstGeom prst="ellipse">
            <a:avLst/>
          </a:prstGeom>
          <a:solidFill>
            <a:srgbClr val="4338CA">
              <a:alpha val="50000"/>
            </a:srgbClr>
          </a:solidFill>
          <a:ln w="12700">
            <a:solidFill>
              <a:srgbClr val="4338CA"/>
            </a:solidFill>
            <a:prstDash val="solid"/>
          </a:ln>
        </p:spPr>
      </p:sp>
      <p:sp>
        <p:nvSpPr>
          <p:cNvPr id="3" name="Shape 1"/>
          <p:cNvSpPr/>
          <p:nvPr/>
        </p:nvSpPr>
        <p:spPr>
          <a:xfrm>
            <a:off x="9418320" y="4114800"/>
            <a:ext cx="4572000" cy="4572000"/>
          </a:xfrm>
          <a:prstGeom prst="ellipse">
            <a:avLst/>
          </a:prstGeom>
          <a:solidFill>
            <a:srgbClr val="EC4899">
              <a:alpha val="30000"/>
            </a:srgbClr>
          </a:solidFill>
          <a:ln w="12700">
            <a:solidFill>
              <a:srgbClr val="EC4899">
                <a:alpha val="30000"/>
              </a:srgbClr>
            </a:solidFill>
            <a:prstDash val="solid"/>
          </a:ln>
        </p:spPr>
      </p:sp>
      <p:sp>
        <p:nvSpPr>
          <p:cNvPr id="4" name="Shape 2"/>
          <p:cNvSpPr/>
          <p:nvPr/>
        </p:nvSpPr>
        <p:spPr>
          <a:xfrm>
            <a:off x="0" y="0"/>
            <a:ext cx="274320" cy="6858000"/>
          </a:xfrm>
          <a:prstGeom prst="rect">
            <a:avLst/>
          </a:prstGeom>
          <a:solidFill>
            <a:srgbClr val="FBBF24"/>
          </a:solidFill>
          <a:ln w="12700">
            <a:solidFill>
              <a:srgbClr val="FBBF24"/>
            </a:solidFill>
            <a:prstDash val="solid"/>
          </a:ln>
        </p:spPr>
      </p:sp>
      <p:sp>
        <p:nvSpPr>
          <p:cNvPr id="5" name="Text 3"/>
          <p:cNvSpPr/>
          <p:nvPr/>
        </p:nvSpPr>
        <p:spPr>
          <a:xfrm>
            <a:off x="822960" y="914400"/>
            <a:ext cx="10515600" cy="457200"/>
          </a:xfrm>
          <a:prstGeom prst="rect">
            <a:avLst/>
          </a:prstGeom>
          <a:noFill/>
          <a:ln/>
        </p:spPr>
        <p:txBody>
          <a:bodyPr wrap="square" rtlCol="0" anchor="ctr"/>
          <a:lstStyle/>
          <a:p>
            <a:pPr indent="0" marL="0">
              <a:buNone/>
            </a:pPr>
            <a:r>
              <a:rPr lang="en-US" sz="1600" b="1" spc="1000" kern="0" dirty="0">
                <a:solidFill>
                  <a:srgbClr val="FBBF24"/>
                </a:solidFill>
                <a:latin typeface="Calibri" pitchFamily="34" charset="0"/>
                <a:ea typeface="Calibri" pitchFamily="34" charset="-122"/>
                <a:cs typeface="Calibri" pitchFamily="34" charset="-120"/>
              </a:rPr>
              <a:t>MULTUMESC PENTRU ATENTIE</a:t>
            </a:r>
            <a:endParaRPr lang="en-US" sz="1600" dirty="0"/>
          </a:p>
        </p:txBody>
      </p:sp>
      <p:sp>
        <p:nvSpPr>
          <p:cNvPr id="6" name="Text 4"/>
          <p:cNvSpPr/>
          <p:nvPr/>
        </p:nvSpPr>
        <p:spPr>
          <a:xfrm>
            <a:off x="822960" y="1554480"/>
            <a:ext cx="10515600" cy="109728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Astept intrebarile dumneavoastra</a:t>
            </a:r>
            <a:endParaRPr lang="en-US" sz="4200" dirty="0"/>
          </a:p>
        </p:txBody>
      </p:sp>
      <p:sp>
        <p:nvSpPr>
          <p:cNvPr id="7" name="Shape 5"/>
          <p:cNvSpPr/>
          <p:nvPr/>
        </p:nvSpPr>
        <p:spPr>
          <a:xfrm>
            <a:off x="822960" y="3108960"/>
            <a:ext cx="10515600" cy="2377440"/>
          </a:xfrm>
          <a:prstGeom prst="rect">
            <a:avLst/>
          </a:prstGeom>
          <a:solidFill>
            <a:srgbClr val="1F2A4D"/>
          </a:solidFill>
          <a:ln w="12700">
            <a:solidFill>
              <a:srgbClr val="1F2A4D"/>
            </a:solidFill>
            <a:prstDash val="solid"/>
          </a:ln>
        </p:spPr>
      </p:sp>
      <p:sp>
        <p:nvSpPr>
          <p:cNvPr id="8" name="Text 6"/>
          <p:cNvSpPr/>
          <p:nvPr/>
        </p:nvSpPr>
        <p:spPr>
          <a:xfrm>
            <a:off x="1097280" y="3246120"/>
            <a:ext cx="10058400" cy="411480"/>
          </a:xfrm>
          <a:prstGeom prst="rect">
            <a:avLst/>
          </a:prstGeom>
          <a:noFill/>
          <a:ln/>
        </p:spPr>
        <p:txBody>
          <a:bodyPr wrap="square" rtlCol="0" anchor="ctr"/>
          <a:lstStyle/>
          <a:p>
            <a:pPr indent="0" marL="0">
              <a:buNone/>
            </a:pPr>
            <a:r>
              <a:rPr lang="en-US" sz="1400" b="1" spc="600" kern="0" dirty="0">
                <a:solidFill>
                  <a:srgbClr val="FBBF24"/>
                </a:solidFill>
                <a:latin typeface="Calibri" pitchFamily="34" charset="0"/>
                <a:ea typeface="Calibri" pitchFamily="34" charset="-122"/>
                <a:cs typeface="Calibri" pitchFamily="34" charset="-120"/>
              </a:rPr>
              <a:t>TREI IDEI DE RETINUT</a:t>
            </a:r>
            <a:endParaRPr lang="en-US" sz="1400" dirty="0"/>
          </a:p>
        </p:txBody>
      </p:sp>
      <p:sp>
        <p:nvSpPr>
          <p:cNvPr id="9" name="Text 7"/>
          <p:cNvSpPr/>
          <p:nvPr/>
        </p:nvSpPr>
        <p:spPr>
          <a:xfrm>
            <a:off x="1097280" y="3749040"/>
            <a:ext cx="10058400" cy="4572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1. Encoding ciclic transforma orele liniare in pozitii pe cerc — 23 si 0 redevin vecine.</a:t>
            </a:r>
            <a:endParaRPr lang="en-US" sz="1600" dirty="0"/>
          </a:p>
        </p:txBody>
      </p:sp>
      <p:sp>
        <p:nvSpPr>
          <p:cNvPr id="10" name="Text 8"/>
          <p:cNvSpPr/>
          <p:nvPr/>
        </p:nvSpPr>
        <p:spPr>
          <a:xfrm>
            <a:off x="1097280" y="4251960"/>
            <a:ext cx="10058400" cy="4572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2. Lag features dau modelului memorie scurta — lag_1 explica peste 90% pe consum.</a:t>
            </a:r>
            <a:endParaRPr lang="en-US" sz="1600" dirty="0"/>
          </a:p>
        </p:txBody>
      </p:sp>
      <p:sp>
        <p:nvSpPr>
          <p:cNvPr id="11" name="Text 9"/>
          <p:cNvSpPr/>
          <p:nvPr/>
        </p:nvSpPr>
        <p:spPr>
          <a:xfrm>
            <a:off x="1097280" y="4754880"/>
            <a:ext cx="10058400" cy="4572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3. Rolling features cu .shift(1) sunt diferenta intre cinstit si fals.</a:t>
            </a:r>
            <a:endParaRPr lang="en-US" sz="1600" dirty="0"/>
          </a:p>
        </p:txBody>
      </p:sp>
      <p:sp>
        <p:nvSpPr>
          <p:cNvPr id="12" name="Text 10"/>
          <p:cNvSpPr/>
          <p:nvPr/>
        </p:nvSpPr>
        <p:spPr>
          <a:xfrm>
            <a:off x="822960" y="5943600"/>
            <a:ext cx="10515600" cy="365760"/>
          </a:xfrm>
          <a:prstGeom prst="rect">
            <a:avLst/>
          </a:prstGeom>
          <a:noFill/>
          <a:ln/>
        </p:spPr>
        <p:txBody>
          <a:bodyPr wrap="square" rtlCol="0" anchor="ctr"/>
          <a:lstStyle/>
          <a:p>
            <a:pPr algn="ctr" indent="0" marL="0">
              <a:buNone/>
            </a:pPr>
            <a:r>
              <a:rPr lang="en-US" sz="1300" dirty="0">
                <a:solidFill>
                  <a:srgbClr val="A5B4FC"/>
                </a:solidFill>
                <a:latin typeface="Calibri" pitchFamily="34" charset="0"/>
                <a:ea typeface="Calibri" pitchFamily="34" charset="-122"/>
                <a:cs typeface="Calibri" pitchFamily="34" charset="-120"/>
              </a:rPr>
              <a:t>Diana Nenu  ·  </a:t>
            </a:r>
            <a:pPr algn="ctr" indent="0" marL="0">
              <a:buNone/>
            </a:pPr>
            <a:r>
              <a:rPr lang="en-US" sz="1300" dirty="0">
                <a:solidFill>
                  <a:srgbClr val="A5B4FC"/>
                </a:solidFill>
                <a:latin typeface="Calibri" pitchFamily="34" charset="0"/>
                <a:ea typeface="Calibri" pitchFamily="34" charset="-122"/>
                <a:cs typeface="Calibri" pitchFamily="34" charset="-120"/>
              </a:rPr>
              <a:t>diana_nenu@yahoo.com  ·  </a:t>
            </a:r>
            <a:pPr algn="ctr" indent="0" marL="0">
              <a:buNone/>
            </a:pPr>
            <a:r>
              <a:rPr lang="en-US" sz="1300" i="1" dirty="0">
                <a:solidFill>
                  <a:srgbClr val="A5B4FC"/>
                </a:solidFill>
                <a:latin typeface="Calibri" pitchFamily="34" charset="0"/>
                <a:ea typeface="Calibri" pitchFamily="34" charset="-122"/>
                <a:cs typeface="Calibri" pitchFamily="34" charset="-120"/>
              </a:rPr>
              <a:t>Universitatea Titu Maiorescu - Master DSAI</a:t>
            </a:r>
            <a:endParaRPr lang="en-US" sz="1300" dirty="0"/>
          </a:p>
        </p:txBody>
      </p:sp>
      <p:sp>
        <p:nvSpPr>
          <p:cNvPr id="13" name="Text 11"/>
          <p:cNvSpPr/>
          <p:nvPr/>
        </p:nvSpPr>
        <p:spPr>
          <a:xfrm>
            <a:off x="10607040" y="6446520"/>
            <a:ext cx="914400" cy="274320"/>
          </a:xfrm>
          <a:prstGeom prst="rect">
            <a:avLst/>
          </a:prstGeom>
          <a:noFill/>
          <a:ln/>
        </p:spPr>
        <p:txBody>
          <a:bodyPr wrap="square" rtlCol="0" anchor="ctr"/>
          <a:lstStyle/>
          <a:p>
            <a:pPr algn="r" indent="0" marL="0">
              <a:buNone/>
            </a:pPr>
            <a:r>
              <a:rPr lang="en-US" sz="1100" dirty="0">
                <a:solidFill>
                  <a:srgbClr val="A5B4FC"/>
                </a:solidFill>
                <a:latin typeface="Calibri" pitchFamily="34" charset="0"/>
                <a:ea typeface="Calibri" pitchFamily="34" charset="-122"/>
                <a:cs typeface="Calibri" pitchFamily="34" charset="-120"/>
              </a:rPr>
              <a:t>22 / 22</a:t>
            </a:r>
            <a:endParaRPr lang="en-US" sz="1100" dirty="0"/>
          </a:p>
        </p:txBody>
      </p:sp>
    </p:spTree>
  </p:cSld>
  <p:transition xmlns:p="http://schemas.openxmlformats.org/presentationml/2006/main" spd="med">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Tehnici de feature engineering pentru serii temporale, cu aplicatii in domeniul energetic - SCSS 2026</dc:title>
  <dc:subject>PptxGenJS Presentation</dc:subject>
  <dc:creator>Diana Nenu</dc:creator>
  <cp:lastModifiedBy>Diana Nenu</cp:lastModifiedBy>
  <cp:revision>1</cp:revision>
  <dcterms:created xsi:type="dcterms:W3CDTF">2026-05-15T20:40:33Z</dcterms:created>
  <dcterms:modified xsi:type="dcterms:W3CDTF">2026-05-15T20:40:33Z</dcterms:modified>
</cp:coreProperties>
</file>